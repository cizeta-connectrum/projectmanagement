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キックオフの冒頭で: 本日は制度の共通理解、要件当てはめの合意、宿題の割当の3点がゴール。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8304E"/>
        </a:solidFill>
      </p:bgPr>
    </p:bg>
    <p:spTree>
      <p:nvGrpSpPr>
        <p:cNvPr id="1" name=""/>
        <p:cNvGrpSpPr/>
        <p:nvPr/>
      </p:nvGrpSpPr>
      <p:grpSpPr>
        <a:xfrm>
          <a:off x="0" y="0"/>
          <a:ext cx="0" cy="0"/>
          <a:chOff x="0" y="0"/>
          <a:chExt cx="0" cy="0"/>
        </a:xfrm>
      </p:grpSpPr>
      <p:sp>
        <p:nvSpPr>
          <p:cNvPr id="2" name="Text 0"/>
          <p:cNvSpPr txBox="1"/>
          <p:nvPr/>
        </p:nvSpPr>
        <p:spPr>
          <a:xfrm>
            <a:off x="822960" y="1371600"/>
            <a:ext cx="10515600" cy="365760"/>
          </a:xfrm>
          <a:prstGeom prst="rect">
            <a:avLst/>
          </a:prstGeom>
          <a:noFill/>
          <a:ln/>
        </p:spPr>
        <p:txBody>
          <a:bodyPr wrap="square" lIns="0" tIns="0" rIns="0" bIns="0" rtlCol="0" anchor="ctr"/>
          <a:lstStyle/>
          <a:p>
            <a:pPr indent="0" marL="0">
              <a:buNone/>
            </a:pPr>
            <a:r>
              <a:rPr lang="en-US" sz="1400" b="1" spc="400" kern="0" dirty="0">
                <a:solidFill>
                  <a:srgbClr val="9DB8DA"/>
                </a:solidFill>
                <a:latin typeface="Yu Gothic" pitchFamily="34" charset="0"/>
                <a:ea typeface="Yu Gothic" pitchFamily="34" charset="-122"/>
                <a:cs typeface="Yu Gothic" pitchFamily="34" charset="-120"/>
              </a:rPr>
              <a:t>PaTaKaRUSH 薬事戦略プロジェクト</a:t>
            </a:r>
            <a:endParaRPr lang="en-US" sz="1400" dirty="0"/>
          </a:p>
        </p:txBody>
      </p:sp>
      <p:sp>
        <p:nvSpPr>
          <p:cNvPr id="3" name="Text 1"/>
          <p:cNvSpPr txBox="1"/>
          <p:nvPr/>
        </p:nvSpPr>
        <p:spPr>
          <a:xfrm>
            <a:off x="822960" y="1874520"/>
            <a:ext cx="10515600" cy="1920240"/>
          </a:xfrm>
          <a:prstGeom prst="rect">
            <a:avLst/>
          </a:prstGeom>
          <a:noFill/>
          <a:ln/>
        </p:spPr>
        <p:txBody>
          <a:bodyPr wrap="square" lIns="0" tIns="0" rIns="0" bIns="0" rtlCol="0" anchor="ctr"/>
          <a:lstStyle/>
          <a:p>
            <a:pPr indent="0" marL="0">
              <a:lnSpc>
                <a:spcPct val="120000"/>
              </a:lnSpc>
              <a:buNone/>
            </a:pPr>
            <a:r>
              <a:rPr lang="en-US" sz="4000" b="1" dirty="0">
                <a:solidFill>
                  <a:srgbClr val="FFFFFF"/>
                </a:solidFill>
                <a:latin typeface="Yu Mincho" pitchFamily="34" charset="0"/>
                <a:ea typeface="Yu Mincho" pitchFamily="34" charset="-122"/>
                <a:cs typeface="Yu Mincho" pitchFamily="34" charset="-120"/>
              </a:rPr>
              <a:t>プログラム医療機器</a:t>
            </a:r>
            <a:endParaRPr lang="en-US" sz="4000" dirty="0"/>
          </a:p>
          <a:p>
            <a:pPr indent="0" marL="0">
              <a:lnSpc>
                <a:spcPct val="120000"/>
              </a:lnSpc>
              <a:buNone/>
            </a:pPr>
            <a:r>
              <a:rPr lang="en-US" sz="4000" b="1" dirty="0">
                <a:solidFill>
                  <a:srgbClr val="FFFFFF"/>
                </a:solidFill>
                <a:latin typeface="Yu Mincho" pitchFamily="34" charset="0"/>
                <a:ea typeface="Yu Mincho" pitchFamily="34" charset="-122"/>
                <a:cs typeface="Yu Mincho" pitchFamily="34" charset="-120"/>
              </a:rPr>
              <a:t>優先審査指定制度への挑戦</a:t>
            </a:r>
            <a:endParaRPr lang="en-US" sz="4000" dirty="0"/>
          </a:p>
        </p:txBody>
      </p:sp>
      <p:sp>
        <p:nvSpPr>
          <p:cNvPr id="4" name="Text 2"/>
          <p:cNvSpPr txBox="1"/>
          <p:nvPr/>
        </p:nvSpPr>
        <p:spPr>
          <a:xfrm>
            <a:off x="822960" y="3886200"/>
            <a:ext cx="10515600" cy="457200"/>
          </a:xfrm>
          <a:prstGeom prst="rect">
            <a:avLst/>
          </a:prstGeom>
          <a:noFill/>
          <a:ln/>
        </p:spPr>
        <p:txBody>
          <a:bodyPr wrap="square" lIns="0" tIns="0" rIns="0" bIns="0" rtlCol="0" anchor="ctr"/>
          <a:lstStyle/>
          <a:p>
            <a:pPr indent="0" marL="0">
              <a:buNone/>
            </a:pPr>
            <a:r>
              <a:rPr lang="en-US" sz="1600" dirty="0">
                <a:solidFill>
                  <a:srgbClr val="CADCFC"/>
                </a:solidFill>
                <a:latin typeface="Yu Gothic" pitchFamily="34" charset="0"/>
                <a:ea typeface="Yu Gothic" pitchFamily="34" charset="-122"/>
                <a:cs typeface="Yu Gothic" pitchFamily="34" charset="-120"/>
              </a:rPr>
              <a:t>キックオフミーティング — 制度の全体像・指定要件の当てはめ・本日決めること</a:t>
            </a:r>
            <a:endParaRPr lang="en-US" sz="1600" dirty="0"/>
          </a:p>
        </p:txBody>
      </p:sp>
      <p:sp>
        <p:nvSpPr>
          <p:cNvPr id="5" name="Shape 3"/>
          <p:cNvSpPr/>
          <p:nvPr/>
        </p:nvSpPr>
        <p:spPr>
          <a:xfrm>
            <a:off x="822960" y="4892040"/>
            <a:ext cx="10515600" cy="0"/>
          </a:xfrm>
          <a:prstGeom prst="line">
            <a:avLst/>
          </a:prstGeom>
          <a:noFill/>
          <a:ln w="12700">
            <a:solidFill>
              <a:srgbClr val="3D5173"/>
            </a:solidFill>
            <a:prstDash val="solid"/>
          </a:ln>
        </p:spPr>
      </p:sp>
      <p:sp>
        <p:nvSpPr>
          <p:cNvPr id="6" name="Text 4"/>
          <p:cNvSpPr txBox="1"/>
          <p:nvPr/>
        </p:nvSpPr>
        <p:spPr>
          <a:xfrm>
            <a:off x="822960" y="5120640"/>
            <a:ext cx="1371600" cy="320040"/>
          </a:xfrm>
          <a:prstGeom prst="rect">
            <a:avLst/>
          </a:prstGeom>
          <a:noFill/>
          <a:ln/>
        </p:spPr>
        <p:txBody>
          <a:bodyPr wrap="square" lIns="0" tIns="0" rIns="0" bIns="0" rtlCol="0" anchor="ctr"/>
          <a:lstStyle/>
          <a:p>
            <a:pPr indent="0" marL="0">
              <a:buNone/>
            </a:pPr>
            <a:r>
              <a:rPr lang="en-US" sz="1100" dirty="0">
                <a:solidFill>
                  <a:srgbClr val="8FA9CC"/>
                </a:solidFill>
                <a:latin typeface="Yu Gothic" pitchFamily="34" charset="0"/>
                <a:ea typeface="Yu Gothic" pitchFamily="34" charset="-122"/>
                <a:cs typeface="Yu Gothic" pitchFamily="34" charset="-120"/>
              </a:rPr>
              <a:t>対象通知</a:t>
            </a:r>
            <a:endParaRPr lang="en-US" sz="1100" dirty="0"/>
          </a:p>
        </p:txBody>
      </p:sp>
      <p:sp>
        <p:nvSpPr>
          <p:cNvPr id="7" name="Text 5"/>
          <p:cNvSpPr txBox="1"/>
          <p:nvPr/>
        </p:nvSpPr>
        <p:spPr>
          <a:xfrm>
            <a:off x="2286000" y="5120640"/>
            <a:ext cx="9052560" cy="320040"/>
          </a:xfrm>
          <a:prstGeom prst="rect">
            <a:avLst/>
          </a:prstGeom>
          <a:noFill/>
          <a:ln/>
        </p:spPr>
        <p:txBody>
          <a:bodyPr wrap="square" lIns="0" tIns="0" rIns="0" bIns="0" rtlCol="0" anchor="ctr"/>
          <a:lstStyle/>
          <a:p>
            <a:pPr indent="0" marL="0">
              <a:buNone/>
            </a:pPr>
            <a:r>
              <a:rPr lang="en-US" sz="1200" dirty="0">
                <a:solidFill>
                  <a:srgbClr val="E8ECF4"/>
                </a:solidFill>
                <a:latin typeface="Yu Gothic" pitchFamily="34" charset="0"/>
                <a:ea typeface="Yu Gothic" pitchFamily="34" charset="-122"/>
                <a:cs typeface="Yu Gothic" pitchFamily="34" charset="-120"/>
              </a:rPr>
              <a:t>医薬機審発0615第1号（令和8年6月15日）</a:t>
            </a:r>
            <a:endParaRPr lang="en-US" sz="1200" dirty="0"/>
          </a:p>
        </p:txBody>
      </p:sp>
      <p:sp>
        <p:nvSpPr>
          <p:cNvPr id="8" name="Text 6"/>
          <p:cNvSpPr txBox="1"/>
          <p:nvPr/>
        </p:nvSpPr>
        <p:spPr>
          <a:xfrm>
            <a:off x="822960" y="5504688"/>
            <a:ext cx="1371600" cy="320040"/>
          </a:xfrm>
          <a:prstGeom prst="rect">
            <a:avLst/>
          </a:prstGeom>
          <a:noFill/>
          <a:ln/>
        </p:spPr>
        <p:txBody>
          <a:bodyPr wrap="square" lIns="0" tIns="0" rIns="0" bIns="0" rtlCol="0" anchor="ctr"/>
          <a:lstStyle/>
          <a:p>
            <a:pPr indent="0" marL="0">
              <a:buNone/>
            </a:pPr>
            <a:r>
              <a:rPr lang="en-US" sz="1100" dirty="0">
                <a:solidFill>
                  <a:srgbClr val="8FA9CC"/>
                </a:solidFill>
                <a:latin typeface="Yu Gothic" pitchFamily="34" charset="0"/>
                <a:ea typeface="Yu Gothic" pitchFamily="34" charset="-122"/>
                <a:cs typeface="Yu Gothic" pitchFamily="34" charset="-120"/>
              </a:rPr>
              <a:t>通知名</a:t>
            </a:r>
            <a:endParaRPr lang="en-US" sz="1100" dirty="0"/>
          </a:p>
        </p:txBody>
      </p:sp>
      <p:sp>
        <p:nvSpPr>
          <p:cNvPr id="9" name="Text 7"/>
          <p:cNvSpPr txBox="1"/>
          <p:nvPr/>
        </p:nvSpPr>
        <p:spPr>
          <a:xfrm>
            <a:off x="2286000" y="5504688"/>
            <a:ext cx="9052560" cy="320040"/>
          </a:xfrm>
          <a:prstGeom prst="rect">
            <a:avLst/>
          </a:prstGeom>
          <a:noFill/>
          <a:ln/>
        </p:spPr>
        <p:txBody>
          <a:bodyPr wrap="square" lIns="0" tIns="0" rIns="0" bIns="0" rtlCol="0" anchor="ctr"/>
          <a:lstStyle/>
          <a:p>
            <a:pPr indent="0" marL="0">
              <a:buNone/>
            </a:pPr>
            <a:r>
              <a:rPr lang="en-US" sz="1200" dirty="0">
                <a:solidFill>
                  <a:srgbClr val="E8ECF4"/>
                </a:solidFill>
                <a:latin typeface="Yu Gothic" pitchFamily="34" charset="0"/>
                <a:ea typeface="Yu Gothic" pitchFamily="34" charset="-122"/>
                <a:cs typeface="Yu Gothic" pitchFamily="34" charset="-120"/>
              </a:rPr>
              <a:t>プログラム医療機器等に係る優先的な審査等の試行的実施について</a:t>
            </a:r>
            <a:endParaRPr lang="en-US" sz="1200" dirty="0"/>
          </a:p>
        </p:txBody>
      </p:sp>
      <p:sp>
        <p:nvSpPr>
          <p:cNvPr id="10" name="Text 8"/>
          <p:cNvSpPr txBox="1"/>
          <p:nvPr/>
        </p:nvSpPr>
        <p:spPr>
          <a:xfrm>
            <a:off x="822960" y="5888736"/>
            <a:ext cx="1371600" cy="320040"/>
          </a:xfrm>
          <a:prstGeom prst="rect">
            <a:avLst/>
          </a:prstGeom>
          <a:noFill/>
          <a:ln/>
        </p:spPr>
        <p:txBody>
          <a:bodyPr wrap="square" lIns="0" tIns="0" rIns="0" bIns="0" rtlCol="0" anchor="ctr"/>
          <a:lstStyle/>
          <a:p>
            <a:pPr indent="0" marL="0">
              <a:buNone/>
            </a:pPr>
            <a:r>
              <a:rPr lang="en-US" sz="1100" dirty="0">
                <a:solidFill>
                  <a:srgbClr val="8FA9CC"/>
                </a:solidFill>
                <a:latin typeface="Yu Gothic" pitchFamily="34" charset="0"/>
                <a:ea typeface="Yu Gothic" pitchFamily="34" charset="-122"/>
                <a:cs typeface="Yu Gothic" pitchFamily="34" charset="-120"/>
              </a:rPr>
              <a:t>作成日</a:t>
            </a:r>
            <a:endParaRPr lang="en-US" sz="1100" dirty="0"/>
          </a:p>
        </p:txBody>
      </p:sp>
      <p:sp>
        <p:nvSpPr>
          <p:cNvPr id="11" name="Text 9"/>
          <p:cNvSpPr txBox="1"/>
          <p:nvPr/>
        </p:nvSpPr>
        <p:spPr>
          <a:xfrm>
            <a:off x="2286000" y="5888736"/>
            <a:ext cx="9052560" cy="320040"/>
          </a:xfrm>
          <a:prstGeom prst="rect">
            <a:avLst/>
          </a:prstGeom>
          <a:noFill/>
          <a:ln/>
        </p:spPr>
        <p:txBody>
          <a:bodyPr wrap="square" lIns="0" tIns="0" rIns="0" bIns="0" rtlCol="0" anchor="ctr"/>
          <a:lstStyle/>
          <a:p>
            <a:pPr indent="0" marL="0">
              <a:buNone/>
            </a:pPr>
            <a:r>
              <a:rPr lang="en-US" sz="1200" dirty="0">
                <a:solidFill>
                  <a:srgbClr val="E8ECF4"/>
                </a:solidFill>
                <a:latin typeface="Yu Gothic" pitchFamily="34" charset="0"/>
                <a:ea typeface="Yu Gothic" pitchFamily="34" charset="-122"/>
                <a:cs typeface="Yu Gothic" pitchFamily="34" charset="-120"/>
              </a:rPr>
              <a:t>2026年8月31日</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1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本日のゴール</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Text 3"/>
          <p:cNvSpPr txBox="1"/>
          <p:nvPr/>
        </p:nvSpPr>
        <p:spPr>
          <a:xfrm>
            <a:off x="548640" y="1600200"/>
            <a:ext cx="10972800" cy="365760"/>
          </a:xfrm>
          <a:prstGeom prst="rect">
            <a:avLst/>
          </a:prstGeom>
          <a:noFill/>
          <a:ln/>
        </p:spPr>
        <p:txBody>
          <a:bodyPr wrap="square" lIns="0" tIns="0" rIns="0" bIns="0" rtlCol="0" anchor="ctr"/>
          <a:lstStyle/>
          <a:p>
            <a:pPr indent="0" marL="0">
              <a:buNone/>
            </a:pPr>
            <a:r>
              <a:rPr lang="en-US" sz="1500" dirty="0">
                <a:solidFill>
                  <a:srgbClr val="22252B"/>
                </a:solidFill>
                <a:latin typeface="Yu Gothic" pitchFamily="34" charset="0"/>
                <a:ea typeface="Yu Gothic" pitchFamily="34" charset="-122"/>
                <a:cs typeface="Yu Gothic" pitchFamily="34" charset="-120"/>
              </a:rPr>
              <a:t>このミーティングで、次の3点を持ち帰れる状態にします。</a:t>
            </a:r>
            <a:endParaRPr lang="en-US" sz="1500" dirty="0"/>
          </a:p>
        </p:txBody>
      </p:sp>
      <p:sp>
        <p:nvSpPr>
          <p:cNvPr id="6" name="Shape 4"/>
          <p:cNvSpPr/>
          <p:nvPr/>
        </p:nvSpPr>
        <p:spPr>
          <a:xfrm>
            <a:off x="548640" y="2286000"/>
            <a:ext cx="3529584" cy="3108960"/>
          </a:xfrm>
          <a:prstGeom prst="roundRect">
            <a:avLst>
              <a:gd name="adj" fmla="val 2353"/>
            </a:avLst>
          </a:prstGeom>
          <a:solidFill>
            <a:srgbClr val="EAF0F7"/>
          </a:solidFill>
          <a:ln w="12700">
            <a:solidFill>
              <a:srgbClr val="B9C9DE"/>
            </a:solidFill>
            <a:prstDash val="solid"/>
          </a:ln>
        </p:spPr>
      </p:sp>
      <p:sp>
        <p:nvSpPr>
          <p:cNvPr id="7" name="Shape 5"/>
          <p:cNvSpPr/>
          <p:nvPr/>
        </p:nvSpPr>
        <p:spPr>
          <a:xfrm>
            <a:off x="868680" y="2651760"/>
            <a:ext cx="502920" cy="502920"/>
          </a:xfrm>
          <a:prstGeom prst="ellipse">
            <a:avLst/>
          </a:prstGeom>
          <a:solidFill>
            <a:srgbClr val="22456E"/>
          </a:solidFill>
          <a:ln/>
        </p:spPr>
      </p:sp>
      <p:sp>
        <p:nvSpPr>
          <p:cNvPr id="8" name="Text 6"/>
          <p:cNvSpPr txBox="1"/>
          <p:nvPr/>
        </p:nvSpPr>
        <p:spPr>
          <a:xfrm>
            <a:off x="868680" y="2642616"/>
            <a:ext cx="502920" cy="52120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1</a:t>
            </a:r>
            <a:endParaRPr lang="en-US" sz="1600" dirty="0"/>
          </a:p>
        </p:txBody>
      </p:sp>
      <p:sp>
        <p:nvSpPr>
          <p:cNvPr id="9" name="Text 7"/>
          <p:cNvSpPr txBox="1"/>
          <p:nvPr/>
        </p:nvSpPr>
        <p:spPr>
          <a:xfrm>
            <a:off x="868680" y="3429000"/>
            <a:ext cx="2926080" cy="457200"/>
          </a:xfrm>
          <a:prstGeom prst="rect">
            <a:avLst/>
          </a:prstGeom>
          <a:noFill/>
          <a:ln/>
        </p:spPr>
        <p:txBody>
          <a:bodyPr wrap="square" lIns="0" tIns="0" rIns="0" bIns="0" rtlCol="0" anchor="ctr"/>
          <a:lstStyle/>
          <a:p>
            <a:pPr indent="0" marL="0">
              <a:buNone/>
            </a:pPr>
            <a:r>
              <a:rPr lang="en-US" sz="1800" b="1" dirty="0">
                <a:solidFill>
                  <a:srgbClr val="22456E"/>
                </a:solidFill>
                <a:latin typeface="Yu Mincho" pitchFamily="34" charset="0"/>
                <a:ea typeface="Yu Mincho" pitchFamily="34" charset="-122"/>
                <a:cs typeface="Yu Mincho" pitchFamily="34" charset="-120"/>
              </a:rPr>
              <a:t>制度理解の共有</a:t>
            </a:r>
            <a:endParaRPr lang="en-US" sz="1800" dirty="0"/>
          </a:p>
        </p:txBody>
      </p:sp>
      <p:sp>
        <p:nvSpPr>
          <p:cNvPr id="10" name="Text 8"/>
          <p:cNvSpPr txBox="1"/>
          <p:nvPr/>
        </p:nvSpPr>
        <p:spPr>
          <a:xfrm>
            <a:off x="868680" y="3977640"/>
            <a:ext cx="2926080" cy="1280160"/>
          </a:xfrm>
          <a:prstGeom prst="rect">
            <a:avLst/>
          </a:prstGeom>
          <a:noFill/>
          <a:ln/>
        </p:spPr>
        <p:txBody>
          <a:bodyPr wrap="square" lIns="0" tIns="0" rIns="0" bIns="0" rtlCol="0" anchor="ctr"/>
          <a:lstStyle/>
          <a:p>
            <a:pPr indent="0" marL="0">
              <a:lnSpc>
                <a:spcPct val="135000"/>
              </a:lnSpc>
              <a:buNone/>
            </a:pPr>
            <a:r>
              <a:rPr lang="en-US" sz="1300" dirty="0">
                <a:solidFill>
                  <a:srgbClr val="22252B"/>
                </a:solidFill>
                <a:latin typeface="Yu Gothic" pitchFamily="34" charset="0"/>
                <a:ea typeface="Yu Gothic" pitchFamily="34" charset="-122"/>
                <a:cs typeface="Yu Gothic" pitchFamily="34" charset="-120"/>
              </a:rPr>
              <a:t>優先審査指定制度が「何をくれて、何を要求するか」を全員が同じ解像度で把握する</a:t>
            </a:r>
            <a:endParaRPr lang="en-US" sz="1300" dirty="0"/>
          </a:p>
        </p:txBody>
      </p:sp>
      <p:sp>
        <p:nvSpPr>
          <p:cNvPr id="11" name="Shape 9"/>
          <p:cNvSpPr/>
          <p:nvPr/>
        </p:nvSpPr>
        <p:spPr>
          <a:xfrm>
            <a:off x="4370832" y="2286000"/>
            <a:ext cx="3529584" cy="3108960"/>
          </a:xfrm>
          <a:prstGeom prst="roundRect">
            <a:avLst>
              <a:gd name="adj" fmla="val 2353"/>
            </a:avLst>
          </a:prstGeom>
          <a:solidFill>
            <a:srgbClr val="EAF0F7"/>
          </a:solidFill>
          <a:ln w="12700">
            <a:solidFill>
              <a:srgbClr val="B9C9DE"/>
            </a:solidFill>
            <a:prstDash val="solid"/>
          </a:ln>
        </p:spPr>
      </p:sp>
      <p:sp>
        <p:nvSpPr>
          <p:cNvPr id="12" name="Shape 10"/>
          <p:cNvSpPr/>
          <p:nvPr/>
        </p:nvSpPr>
        <p:spPr>
          <a:xfrm>
            <a:off x="4690872" y="2651760"/>
            <a:ext cx="502920" cy="502920"/>
          </a:xfrm>
          <a:prstGeom prst="ellipse">
            <a:avLst/>
          </a:prstGeom>
          <a:solidFill>
            <a:srgbClr val="22456E"/>
          </a:solidFill>
          <a:ln/>
        </p:spPr>
      </p:sp>
      <p:sp>
        <p:nvSpPr>
          <p:cNvPr id="13" name="Text 11"/>
          <p:cNvSpPr txBox="1"/>
          <p:nvPr/>
        </p:nvSpPr>
        <p:spPr>
          <a:xfrm>
            <a:off x="4690872" y="2642616"/>
            <a:ext cx="502920" cy="52120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2</a:t>
            </a:r>
            <a:endParaRPr lang="en-US" sz="1600" dirty="0"/>
          </a:p>
        </p:txBody>
      </p:sp>
      <p:sp>
        <p:nvSpPr>
          <p:cNvPr id="14" name="Text 12"/>
          <p:cNvSpPr txBox="1"/>
          <p:nvPr/>
        </p:nvSpPr>
        <p:spPr>
          <a:xfrm>
            <a:off x="4690872" y="3429000"/>
            <a:ext cx="2926080" cy="457200"/>
          </a:xfrm>
          <a:prstGeom prst="rect">
            <a:avLst/>
          </a:prstGeom>
          <a:noFill/>
          <a:ln/>
        </p:spPr>
        <p:txBody>
          <a:bodyPr wrap="square" lIns="0" tIns="0" rIns="0" bIns="0" rtlCol="0" anchor="ctr"/>
          <a:lstStyle/>
          <a:p>
            <a:pPr indent="0" marL="0">
              <a:buNone/>
            </a:pPr>
            <a:r>
              <a:rPr lang="en-US" sz="1800" b="1" dirty="0">
                <a:solidFill>
                  <a:srgbClr val="22456E"/>
                </a:solidFill>
                <a:latin typeface="Yu Mincho" pitchFamily="34" charset="0"/>
                <a:ea typeface="Yu Mincho" pitchFamily="34" charset="-122"/>
                <a:cs typeface="Yu Mincho" pitchFamily="34" charset="-120"/>
              </a:rPr>
              <a:t>当てはめ評価の合意</a:t>
            </a:r>
            <a:endParaRPr lang="en-US" sz="1800" dirty="0"/>
          </a:p>
        </p:txBody>
      </p:sp>
      <p:sp>
        <p:nvSpPr>
          <p:cNvPr id="15" name="Text 13"/>
          <p:cNvSpPr txBox="1"/>
          <p:nvPr/>
        </p:nvSpPr>
        <p:spPr>
          <a:xfrm>
            <a:off x="4690872" y="3977640"/>
            <a:ext cx="2926080" cy="1280160"/>
          </a:xfrm>
          <a:prstGeom prst="rect">
            <a:avLst/>
          </a:prstGeom>
          <a:noFill/>
          <a:ln/>
        </p:spPr>
        <p:txBody>
          <a:bodyPr wrap="square" lIns="0" tIns="0" rIns="0" bIns="0" rtlCol="0" anchor="ctr"/>
          <a:lstStyle/>
          <a:p>
            <a:pPr indent="0" marL="0">
              <a:lnSpc>
                <a:spcPct val="135000"/>
              </a:lnSpc>
              <a:buNone/>
            </a:pPr>
            <a:r>
              <a:rPr lang="en-US" sz="1300" dirty="0">
                <a:solidFill>
                  <a:srgbClr val="22252B"/>
                </a:solidFill>
                <a:latin typeface="Yu Gothic" pitchFamily="34" charset="0"/>
                <a:ea typeface="Yu Gothic" pitchFamily="34" charset="-122"/>
                <a:cs typeface="Yu Gothic" pitchFamily="34" charset="-120"/>
              </a:rPr>
              <a:t>PaTaKaRUSHが3つの指定要件をどこまで満たせるか、現状評価（第3部）に合意する</a:t>
            </a:r>
            <a:endParaRPr lang="en-US" sz="1300" dirty="0"/>
          </a:p>
        </p:txBody>
      </p:sp>
      <p:sp>
        <p:nvSpPr>
          <p:cNvPr id="16" name="Shape 14"/>
          <p:cNvSpPr/>
          <p:nvPr/>
        </p:nvSpPr>
        <p:spPr>
          <a:xfrm>
            <a:off x="8193024" y="2286000"/>
            <a:ext cx="3529584" cy="3108960"/>
          </a:xfrm>
          <a:prstGeom prst="roundRect">
            <a:avLst>
              <a:gd name="adj" fmla="val 2353"/>
            </a:avLst>
          </a:prstGeom>
          <a:solidFill>
            <a:srgbClr val="EAF0F7"/>
          </a:solidFill>
          <a:ln w="12700">
            <a:solidFill>
              <a:srgbClr val="B9C9DE"/>
            </a:solidFill>
            <a:prstDash val="solid"/>
          </a:ln>
        </p:spPr>
      </p:sp>
      <p:sp>
        <p:nvSpPr>
          <p:cNvPr id="17" name="Shape 15"/>
          <p:cNvSpPr/>
          <p:nvPr/>
        </p:nvSpPr>
        <p:spPr>
          <a:xfrm>
            <a:off x="8513064" y="2651760"/>
            <a:ext cx="502920" cy="502920"/>
          </a:xfrm>
          <a:prstGeom prst="ellipse">
            <a:avLst/>
          </a:prstGeom>
          <a:solidFill>
            <a:srgbClr val="22456E"/>
          </a:solidFill>
          <a:ln/>
        </p:spPr>
      </p:sp>
      <p:sp>
        <p:nvSpPr>
          <p:cNvPr id="18" name="Text 16"/>
          <p:cNvSpPr txBox="1"/>
          <p:nvPr/>
        </p:nvSpPr>
        <p:spPr>
          <a:xfrm>
            <a:off x="8513064" y="2642616"/>
            <a:ext cx="502920" cy="52120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3</a:t>
            </a:r>
            <a:endParaRPr lang="en-US" sz="1600" dirty="0"/>
          </a:p>
        </p:txBody>
      </p:sp>
      <p:sp>
        <p:nvSpPr>
          <p:cNvPr id="19" name="Text 17"/>
          <p:cNvSpPr txBox="1"/>
          <p:nvPr/>
        </p:nvSpPr>
        <p:spPr>
          <a:xfrm>
            <a:off x="8513064" y="3429000"/>
            <a:ext cx="2926080" cy="457200"/>
          </a:xfrm>
          <a:prstGeom prst="rect">
            <a:avLst/>
          </a:prstGeom>
          <a:noFill/>
          <a:ln/>
        </p:spPr>
        <p:txBody>
          <a:bodyPr wrap="square" lIns="0" tIns="0" rIns="0" bIns="0" rtlCol="0" anchor="ctr"/>
          <a:lstStyle/>
          <a:p>
            <a:pPr indent="0" marL="0">
              <a:buNone/>
            </a:pPr>
            <a:r>
              <a:rPr lang="en-US" sz="1800" b="1" dirty="0">
                <a:solidFill>
                  <a:srgbClr val="22456E"/>
                </a:solidFill>
                <a:latin typeface="Yu Mincho" pitchFamily="34" charset="0"/>
                <a:ea typeface="Yu Mincho" pitchFamily="34" charset="-122"/>
                <a:cs typeface="Yu Mincho" pitchFamily="34" charset="-120"/>
              </a:rPr>
              <a:t>宿題の割当</a:t>
            </a:r>
            <a:endParaRPr lang="en-US" sz="1800" dirty="0"/>
          </a:p>
        </p:txBody>
      </p:sp>
      <p:sp>
        <p:nvSpPr>
          <p:cNvPr id="20" name="Text 18"/>
          <p:cNvSpPr txBox="1"/>
          <p:nvPr/>
        </p:nvSpPr>
        <p:spPr>
          <a:xfrm>
            <a:off x="8513064" y="3977640"/>
            <a:ext cx="2926080" cy="1280160"/>
          </a:xfrm>
          <a:prstGeom prst="rect">
            <a:avLst/>
          </a:prstGeom>
          <a:noFill/>
          <a:ln/>
        </p:spPr>
        <p:txBody>
          <a:bodyPr wrap="square" lIns="0" tIns="0" rIns="0" bIns="0" rtlCol="0" anchor="ctr"/>
          <a:lstStyle/>
          <a:p>
            <a:pPr indent="0" marL="0">
              <a:lnSpc>
                <a:spcPct val="135000"/>
              </a:lnSpc>
              <a:buNone/>
            </a:pPr>
            <a:r>
              <a:rPr lang="en-US" sz="1300" dirty="0">
                <a:solidFill>
                  <a:srgbClr val="22252B"/>
                </a:solidFill>
                <a:latin typeface="Yu Gothic" pitchFamily="34" charset="0"/>
                <a:ea typeface="Yu Gothic" pitchFamily="34" charset="-122"/>
                <a:cs typeface="Yu Gothic" pitchFamily="34" charset="-120"/>
              </a:rPr>
              <a:t>第6部の意思決定事項と準備タスクに、担当と期限を付ける</a:t>
            </a:r>
            <a:endParaRPr lang="en-US" sz="1300" dirty="0"/>
          </a:p>
        </p:txBody>
      </p:sp>
      <p:sp>
        <p:nvSpPr>
          <p:cNvPr id="21" name="Text 19"/>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2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制度とは — 指定されると何が変わるか</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Text 3"/>
          <p:cNvSpPr txBox="1"/>
          <p:nvPr/>
        </p:nvSpPr>
        <p:spPr>
          <a:xfrm>
            <a:off x="548640" y="1554480"/>
            <a:ext cx="11064240" cy="777240"/>
          </a:xfrm>
          <a:prstGeom prst="rect">
            <a:avLst/>
          </a:prstGeom>
          <a:noFill/>
          <a:ln/>
        </p:spPr>
        <p:txBody>
          <a:bodyPr wrap="square" lIns="0" tIns="0" rIns="0" bIns="0" rtlCol="0" anchor="ctr"/>
          <a:lstStyle/>
          <a:p>
            <a:pPr indent="0" marL="0">
              <a:lnSpc>
                <a:spcPct val="130000"/>
              </a:lnSpc>
              <a:buNone/>
            </a:pPr>
            <a:r>
              <a:rPr lang="en-US" sz="1400" dirty="0">
                <a:solidFill>
                  <a:srgbClr val="22252B"/>
                </a:solidFill>
                <a:latin typeface="Yu Gothic" pitchFamily="34" charset="0"/>
                <a:ea typeface="Yu Gothic" pitchFamily="34" charset="-122"/>
                <a:cs typeface="Yu Gothic" pitchFamily="34" charset="-120"/>
              </a:rPr>
              <a:t>革新的なSaMDを国が指定し、相談・審査を優先的に扱う試行制度。令和4年度からの回次公募が、現行通知で</a:t>
            </a:r>
            <a:pPr indent="0" marL="0">
              <a:lnSpc>
                <a:spcPct val="130000"/>
              </a:lnSpc>
              <a:buNone/>
            </a:pPr>
            <a:r>
              <a:rPr lang="en-US" sz="1400" b="1" dirty="0">
                <a:solidFill>
                  <a:srgbClr val="22456E"/>
                </a:solidFill>
                <a:latin typeface="Yu Gothic" pitchFamily="34" charset="0"/>
                <a:ea typeface="Yu Gothic" pitchFamily="34" charset="-122"/>
                <a:cs typeface="Yu Gothic" pitchFamily="34" charset="-120"/>
              </a:rPr>
              <a:t>随時募集</a:t>
            </a:r>
            <a:pPr indent="0" marL="0">
              <a:lnSpc>
                <a:spcPct val="130000"/>
              </a:lnSpc>
              <a:buNone/>
            </a:pPr>
            <a:r>
              <a:rPr lang="en-US" sz="1400" dirty="0">
                <a:solidFill>
                  <a:srgbClr val="22252B"/>
                </a:solidFill>
                <a:latin typeface="Yu Gothic" pitchFamily="34" charset="0"/>
                <a:ea typeface="Yu Gothic" pitchFamily="34" charset="-122"/>
                <a:cs typeface="Yu Gothic" pitchFamily="34" charset="-120"/>
              </a:rPr>
              <a:t>に移行。</a:t>
            </a:r>
            <a:pPr indent="0" marL="0">
              <a:lnSpc>
                <a:spcPct val="130000"/>
              </a:lnSpc>
              <a:buNone/>
            </a:pPr>
            <a:r>
              <a:rPr lang="en-US" sz="1400" b="1" dirty="0">
                <a:solidFill>
                  <a:srgbClr val="22252B"/>
                </a:solidFill>
                <a:latin typeface="Yu Gothic" pitchFamily="34" charset="0"/>
                <a:ea typeface="Yu Gothic" pitchFamily="34" charset="-122"/>
                <a:cs typeface="Yu Gothic" pitchFamily="34" charset="-120"/>
              </a:rPr>
              <a:t>指定は「承認」ではなく、効果は“速く・手厚くなる”こと。</a:t>
            </a:r>
            <a:pPr indent="0" marL="0">
              <a:lnSpc>
                <a:spcPct val="130000"/>
              </a:lnSpc>
              <a:buNone/>
            </a:pPr>
            <a:r>
              <a:rPr lang="en-US" sz="1400" dirty="0">
                <a:solidFill>
                  <a:srgbClr val="22252B"/>
                </a:solidFill>
                <a:latin typeface="Yu Gothic" pitchFamily="34" charset="0"/>
                <a:ea typeface="Yu Gothic" pitchFamily="34" charset="-122"/>
                <a:cs typeface="Yu Gothic" pitchFamily="34" charset="-120"/>
              </a:rPr>
              <a:t>承認申請の中身（臨床試験・QMS・業許可）は通常どおり必要。</a:t>
            </a:r>
            <a:endParaRPr lang="en-US" sz="1400" dirty="0"/>
          </a:p>
        </p:txBody>
      </p:sp>
      <p:sp>
        <p:nvSpPr>
          <p:cNvPr id="6" name="Shape 4"/>
          <p:cNvSpPr/>
          <p:nvPr/>
        </p:nvSpPr>
        <p:spPr>
          <a:xfrm>
            <a:off x="548640" y="2514600"/>
            <a:ext cx="5440680" cy="1737360"/>
          </a:xfrm>
          <a:prstGeom prst="roundRect">
            <a:avLst>
              <a:gd name="adj" fmla="val 3684"/>
            </a:avLst>
          </a:prstGeom>
          <a:solidFill>
            <a:srgbClr val="FFFFFF"/>
          </a:solidFill>
          <a:ln w="12700">
            <a:solidFill>
              <a:srgbClr val="D9DCE3"/>
            </a:solidFill>
            <a:prstDash val="solid"/>
          </a:ln>
          <a:effectLst>
            <a:outerShdw sx="100000" sy="100000" kx="0" ky="0" algn="bl" rotWithShape="0" blurRad="76200" dist="25400" dir="5400000">
              <a:srgbClr val="9AA3B0">
                <a:alpha val="25000"/>
              </a:srgbClr>
            </a:outerShdw>
          </a:effectLst>
        </p:spPr>
      </p:sp>
      <p:sp>
        <p:nvSpPr>
          <p:cNvPr id="7" name="Text 5"/>
          <p:cNvSpPr txBox="1"/>
          <p:nvPr/>
        </p:nvSpPr>
        <p:spPr>
          <a:xfrm>
            <a:off x="822960" y="2697480"/>
            <a:ext cx="4937760" cy="365760"/>
          </a:xfrm>
          <a:prstGeom prst="rect">
            <a:avLst/>
          </a:prstGeom>
          <a:noFill/>
          <a:ln/>
        </p:spPr>
        <p:txBody>
          <a:bodyPr wrap="square" lIns="0" tIns="0" rIns="0" bIns="0" rtlCol="0" anchor="ctr"/>
          <a:lstStyle/>
          <a:p>
            <a:pPr indent="0" marL="0">
              <a:buNone/>
            </a:pPr>
            <a:r>
              <a:rPr lang="en-US" sz="1500" b="1" dirty="0">
                <a:solidFill>
                  <a:srgbClr val="22456E"/>
                </a:solidFill>
                <a:latin typeface="Yu Gothic" pitchFamily="34" charset="0"/>
                <a:ea typeface="Yu Gothic" pitchFamily="34" charset="-122"/>
                <a:cs typeface="Yu Gothic" pitchFamily="34" charset="-120"/>
              </a:rPr>
              <a:t>優先審査・事前評価</a:t>
            </a:r>
            <a:endParaRPr lang="en-US" sz="1500" dirty="0"/>
          </a:p>
        </p:txBody>
      </p:sp>
      <p:sp>
        <p:nvSpPr>
          <p:cNvPr id="8" name="Text 6"/>
          <p:cNvSpPr txBox="1"/>
          <p:nvPr/>
        </p:nvSpPr>
        <p:spPr>
          <a:xfrm>
            <a:off x="822960" y="3081528"/>
            <a:ext cx="4937760" cy="548640"/>
          </a:xfrm>
          <a:prstGeom prst="rect">
            <a:avLst/>
          </a:prstGeom>
          <a:noFill/>
          <a:ln/>
        </p:spPr>
        <p:txBody>
          <a:bodyPr wrap="square" lIns="0" tIns="0" rIns="0" bIns="0" rtlCol="0" anchor="ctr"/>
          <a:lstStyle/>
          <a:p>
            <a:pPr indent="0" marL="0">
              <a:buNone/>
            </a:pPr>
            <a:r>
              <a:rPr lang="en-US" sz="1200" dirty="0">
                <a:solidFill>
                  <a:srgbClr val="5A5F6A"/>
                </a:solidFill>
              </a:rPr>
              <a:t>承認申請 → 承認まで  </a:t>
            </a:r>
            <a:pPr indent="0" marL="0">
              <a:buNone/>
            </a:pPr>
            <a:r>
              <a:rPr lang="en-US" sz="2400" b="1" dirty="0">
                <a:solidFill>
                  <a:srgbClr val="22252B"/>
                </a:solidFill>
                <a:latin typeface="Yu Mincho" pitchFamily="34" charset="0"/>
                <a:ea typeface="Yu Mincho" pitchFamily="34" charset="-122"/>
                <a:cs typeface="Yu Mincho" pitchFamily="34" charset="-120"/>
              </a:rPr>
              <a:t>6か月以内</a:t>
            </a:r>
            <a:endParaRPr lang="en-US" sz="1200" dirty="0"/>
          </a:p>
        </p:txBody>
      </p:sp>
      <p:sp>
        <p:nvSpPr>
          <p:cNvPr id="9" name="Text 7"/>
          <p:cNvSpPr txBox="1"/>
          <p:nvPr/>
        </p:nvSpPr>
        <p:spPr>
          <a:xfrm>
            <a:off x="822960" y="3703320"/>
            <a:ext cx="4937760" cy="411480"/>
          </a:xfrm>
          <a:prstGeom prst="rect">
            <a:avLst/>
          </a:prstGeom>
          <a:noFill/>
          <a:ln/>
        </p:spPr>
        <p:txBody>
          <a:bodyPr wrap="square" lIns="0" tIns="0" rIns="0" bIns="0" rtlCol="0" anchor="ctr"/>
          <a:lstStyle/>
          <a:p>
            <a:pPr indent="0" marL="0">
              <a:buNone/>
            </a:pPr>
            <a:r>
              <a:rPr lang="en-US" sz="1100" dirty="0">
                <a:solidFill>
                  <a:srgbClr val="5A5F6A"/>
                </a:solidFill>
                <a:latin typeface="Yu Gothic" pitchFamily="34" charset="0"/>
                <a:ea typeface="Yu Gothic" pitchFamily="34" charset="-122"/>
                <a:cs typeface="Yu Gothic" pitchFamily="34" charset="-120"/>
              </a:rPr>
              <a:t>全申請区分。先駆け総合評価相談の活用が前提</a:t>
            </a:r>
            <a:endParaRPr lang="en-US" sz="1100" dirty="0"/>
          </a:p>
        </p:txBody>
      </p:sp>
      <p:sp>
        <p:nvSpPr>
          <p:cNvPr id="10" name="Shape 8"/>
          <p:cNvSpPr/>
          <p:nvPr/>
        </p:nvSpPr>
        <p:spPr>
          <a:xfrm>
            <a:off x="6263640" y="2514600"/>
            <a:ext cx="5440680" cy="1737360"/>
          </a:xfrm>
          <a:prstGeom prst="roundRect">
            <a:avLst>
              <a:gd name="adj" fmla="val 3684"/>
            </a:avLst>
          </a:prstGeom>
          <a:solidFill>
            <a:srgbClr val="FFFFFF"/>
          </a:solidFill>
          <a:ln w="12700">
            <a:solidFill>
              <a:srgbClr val="D9DCE3"/>
            </a:solidFill>
            <a:prstDash val="solid"/>
          </a:ln>
          <a:effectLst>
            <a:outerShdw sx="100000" sy="100000" kx="0" ky="0" algn="bl" rotWithShape="0" blurRad="76200" dist="25400" dir="5400000">
              <a:srgbClr val="9AA3B0">
                <a:alpha val="25000"/>
              </a:srgbClr>
            </a:outerShdw>
          </a:effectLst>
        </p:spPr>
      </p:sp>
      <p:sp>
        <p:nvSpPr>
          <p:cNvPr id="11" name="Text 9"/>
          <p:cNvSpPr txBox="1"/>
          <p:nvPr/>
        </p:nvSpPr>
        <p:spPr>
          <a:xfrm>
            <a:off x="6537960" y="2697480"/>
            <a:ext cx="4937760" cy="365760"/>
          </a:xfrm>
          <a:prstGeom prst="rect">
            <a:avLst/>
          </a:prstGeom>
          <a:noFill/>
          <a:ln/>
        </p:spPr>
        <p:txBody>
          <a:bodyPr wrap="square" lIns="0" tIns="0" rIns="0" bIns="0" rtlCol="0" anchor="ctr"/>
          <a:lstStyle/>
          <a:p>
            <a:pPr indent="0" marL="0">
              <a:buNone/>
            </a:pPr>
            <a:r>
              <a:rPr lang="en-US" sz="1500" b="1" dirty="0">
                <a:solidFill>
                  <a:srgbClr val="22456E"/>
                </a:solidFill>
                <a:latin typeface="Yu Gothic" pitchFamily="34" charset="0"/>
                <a:ea typeface="Yu Gothic" pitchFamily="34" charset="-122"/>
                <a:cs typeface="Yu Gothic" pitchFamily="34" charset="-120"/>
              </a:rPr>
              <a:t>優先相談</a:t>
            </a:r>
            <a:endParaRPr lang="en-US" sz="1500" dirty="0"/>
          </a:p>
        </p:txBody>
      </p:sp>
      <p:sp>
        <p:nvSpPr>
          <p:cNvPr id="12" name="Text 10"/>
          <p:cNvSpPr txBox="1"/>
          <p:nvPr/>
        </p:nvSpPr>
        <p:spPr>
          <a:xfrm>
            <a:off x="6537960" y="3081528"/>
            <a:ext cx="4937760" cy="548640"/>
          </a:xfrm>
          <a:prstGeom prst="rect">
            <a:avLst/>
          </a:prstGeom>
          <a:noFill/>
          <a:ln/>
        </p:spPr>
        <p:txBody>
          <a:bodyPr wrap="square" lIns="0" tIns="0" rIns="0" bIns="0" rtlCol="0" anchor="ctr"/>
          <a:lstStyle/>
          <a:p>
            <a:pPr indent="0" marL="0">
              <a:buNone/>
            </a:pPr>
            <a:r>
              <a:rPr lang="en-US" sz="1200" dirty="0">
                <a:solidFill>
                  <a:srgbClr val="5A5F6A"/>
                </a:solidFill>
              </a:rPr>
              <a:t>PMDA対面助言等で  </a:t>
            </a:r>
            <a:pPr indent="0" marL="0">
              <a:buNone/>
            </a:pPr>
            <a:r>
              <a:rPr lang="en-US" sz="2400" b="1" dirty="0">
                <a:solidFill>
                  <a:srgbClr val="22252B"/>
                </a:solidFill>
                <a:latin typeface="Yu Mincho" pitchFamily="34" charset="0"/>
                <a:ea typeface="Yu Mincho" pitchFamily="34" charset="-122"/>
                <a:cs typeface="Yu Mincho" pitchFamily="34" charset="-120"/>
              </a:rPr>
              <a:t>優先扱い</a:t>
            </a:r>
            <a:endParaRPr lang="en-US" sz="1200" dirty="0"/>
          </a:p>
        </p:txBody>
      </p:sp>
      <p:sp>
        <p:nvSpPr>
          <p:cNvPr id="13" name="Text 11"/>
          <p:cNvSpPr txBox="1"/>
          <p:nvPr/>
        </p:nvSpPr>
        <p:spPr>
          <a:xfrm>
            <a:off x="6537960" y="3703320"/>
            <a:ext cx="4937760" cy="411480"/>
          </a:xfrm>
          <a:prstGeom prst="rect">
            <a:avLst/>
          </a:prstGeom>
          <a:noFill/>
          <a:ln/>
        </p:spPr>
        <p:txBody>
          <a:bodyPr wrap="square" lIns="0" tIns="0" rIns="0" bIns="0" rtlCol="0" anchor="ctr"/>
          <a:lstStyle/>
          <a:p>
            <a:pPr indent="0" marL="0">
              <a:buNone/>
            </a:pPr>
            <a:r>
              <a:rPr lang="en-US" sz="1100" dirty="0">
                <a:solidFill>
                  <a:srgbClr val="5A5F6A"/>
                </a:solidFill>
                <a:latin typeface="Yu Gothic" pitchFamily="34" charset="0"/>
                <a:ea typeface="Yu Gothic" pitchFamily="34" charset="-122"/>
                <a:cs typeface="Yu Gothic" pitchFamily="34" charset="-120"/>
              </a:rPr>
              <a:t>他機器に優先。相談待ちの行列に並ばない</a:t>
            </a:r>
            <a:endParaRPr lang="en-US" sz="1100" dirty="0"/>
          </a:p>
        </p:txBody>
      </p:sp>
      <p:sp>
        <p:nvSpPr>
          <p:cNvPr id="14" name="Shape 12"/>
          <p:cNvSpPr/>
          <p:nvPr/>
        </p:nvSpPr>
        <p:spPr>
          <a:xfrm>
            <a:off x="548640" y="4434840"/>
            <a:ext cx="5440680" cy="1737360"/>
          </a:xfrm>
          <a:prstGeom prst="roundRect">
            <a:avLst>
              <a:gd name="adj" fmla="val 3684"/>
            </a:avLst>
          </a:prstGeom>
          <a:solidFill>
            <a:srgbClr val="FFFFFF"/>
          </a:solidFill>
          <a:ln w="12700">
            <a:solidFill>
              <a:srgbClr val="D9DCE3"/>
            </a:solidFill>
            <a:prstDash val="solid"/>
          </a:ln>
          <a:effectLst>
            <a:outerShdw sx="100000" sy="100000" kx="0" ky="0" algn="bl" rotWithShape="0" blurRad="76200" dist="25400" dir="5400000">
              <a:srgbClr val="9AA3B0">
                <a:alpha val="25000"/>
              </a:srgbClr>
            </a:outerShdw>
          </a:effectLst>
        </p:spPr>
      </p:sp>
      <p:sp>
        <p:nvSpPr>
          <p:cNvPr id="15" name="Text 13"/>
          <p:cNvSpPr txBox="1"/>
          <p:nvPr/>
        </p:nvSpPr>
        <p:spPr>
          <a:xfrm>
            <a:off x="822960" y="4617720"/>
            <a:ext cx="4937760" cy="365760"/>
          </a:xfrm>
          <a:prstGeom prst="rect">
            <a:avLst/>
          </a:prstGeom>
          <a:noFill/>
          <a:ln/>
        </p:spPr>
        <p:txBody>
          <a:bodyPr wrap="square" lIns="0" tIns="0" rIns="0" bIns="0" rtlCol="0" anchor="ctr"/>
          <a:lstStyle/>
          <a:p>
            <a:pPr indent="0" marL="0">
              <a:buNone/>
            </a:pPr>
            <a:r>
              <a:rPr lang="en-US" sz="1500" b="1" dirty="0">
                <a:solidFill>
                  <a:srgbClr val="22456E"/>
                </a:solidFill>
                <a:latin typeface="Yu Gothic" pitchFamily="34" charset="0"/>
                <a:ea typeface="Yu Gothic" pitchFamily="34" charset="-122"/>
                <a:cs typeface="Yu Gothic" pitchFamily="34" charset="-120"/>
              </a:rPr>
              <a:t>コンシェルジュ</a:t>
            </a:r>
            <a:endParaRPr lang="en-US" sz="1500" dirty="0"/>
          </a:p>
        </p:txBody>
      </p:sp>
      <p:sp>
        <p:nvSpPr>
          <p:cNvPr id="16" name="Text 14"/>
          <p:cNvSpPr txBox="1"/>
          <p:nvPr/>
        </p:nvSpPr>
        <p:spPr>
          <a:xfrm>
            <a:off x="822960" y="5001768"/>
            <a:ext cx="4937760" cy="548640"/>
          </a:xfrm>
          <a:prstGeom prst="rect">
            <a:avLst/>
          </a:prstGeom>
          <a:noFill/>
          <a:ln/>
        </p:spPr>
        <p:txBody>
          <a:bodyPr wrap="square" lIns="0" tIns="0" rIns="0" bIns="0" rtlCol="0" anchor="ctr"/>
          <a:lstStyle/>
          <a:p>
            <a:pPr indent="0" marL="0">
              <a:buNone/>
            </a:pPr>
            <a:r>
              <a:rPr lang="en-US" sz="1200" dirty="0">
                <a:solidFill>
                  <a:srgbClr val="5A5F6A"/>
                </a:solidFill>
              </a:rPr>
              <a:t>PMDA指名の担当者が  </a:t>
            </a:r>
            <a:pPr indent="0" marL="0">
              <a:buNone/>
            </a:pPr>
            <a:r>
              <a:rPr lang="en-US" sz="2400" b="1" dirty="0">
                <a:solidFill>
                  <a:srgbClr val="22252B"/>
                </a:solidFill>
                <a:latin typeface="Yu Mincho" pitchFamily="34" charset="0"/>
                <a:ea typeface="Yu Mincho" pitchFamily="34" charset="-122"/>
                <a:cs typeface="Yu Mincho" pitchFamily="34" charset="-120"/>
              </a:rPr>
              <a:t>伴走支援</a:t>
            </a:r>
            <a:endParaRPr lang="en-US" sz="1200" dirty="0"/>
          </a:p>
        </p:txBody>
      </p:sp>
      <p:sp>
        <p:nvSpPr>
          <p:cNvPr id="17" name="Text 15"/>
          <p:cNvSpPr txBox="1"/>
          <p:nvPr/>
        </p:nvSpPr>
        <p:spPr>
          <a:xfrm>
            <a:off x="822960" y="5623560"/>
            <a:ext cx="4937760" cy="411480"/>
          </a:xfrm>
          <a:prstGeom prst="rect">
            <a:avLst/>
          </a:prstGeom>
          <a:noFill/>
          <a:ln/>
        </p:spPr>
        <p:txBody>
          <a:bodyPr wrap="square" lIns="0" tIns="0" rIns="0" bIns="0" rtlCol="0" anchor="ctr"/>
          <a:lstStyle/>
          <a:p>
            <a:pPr indent="0" marL="0">
              <a:buNone/>
            </a:pPr>
            <a:r>
              <a:rPr lang="en-US" sz="1100" dirty="0">
                <a:solidFill>
                  <a:srgbClr val="5A5F6A"/>
                </a:solidFill>
                <a:latin typeface="Yu Gothic" pitchFamily="34" charset="0"/>
                <a:ea typeface="Yu Gothic" pitchFamily="34" charset="-122"/>
                <a:cs typeface="Yu Gothic" pitchFamily="34" charset="-120"/>
              </a:rPr>
              <a:t>開発進捗管理・厚労省/審査部署との調整</a:t>
            </a:r>
            <a:endParaRPr lang="en-US" sz="1100" dirty="0"/>
          </a:p>
        </p:txBody>
      </p:sp>
      <p:sp>
        <p:nvSpPr>
          <p:cNvPr id="18" name="Shape 16"/>
          <p:cNvSpPr/>
          <p:nvPr/>
        </p:nvSpPr>
        <p:spPr>
          <a:xfrm>
            <a:off x="6263640" y="4434840"/>
            <a:ext cx="5440680" cy="1737360"/>
          </a:xfrm>
          <a:prstGeom prst="roundRect">
            <a:avLst>
              <a:gd name="adj" fmla="val 3684"/>
            </a:avLst>
          </a:prstGeom>
          <a:solidFill>
            <a:srgbClr val="FFFFFF"/>
          </a:solidFill>
          <a:ln w="12700">
            <a:solidFill>
              <a:srgbClr val="D9DCE3"/>
            </a:solidFill>
            <a:prstDash val="solid"/>
          </a:ln>
          <a:effectLst>
            <a:outerShdw sx="100000" sy="100000" kx="0" ky="0" algn="bl" rotWithShape="0" blurRad="76200" dist="25400" dir="5400000">
              <a:srgbClr val="9AA3B0">
                <a:alpha val="25000"/>
              </a:srgbClr>
            </a:outerShdw>
          </a:effectLst>
        </p:spPr>
      </p:sp>
      <p:sp>
        <p:nvSpPr>
          <p:cNvPr id="19" name="Text 17"/>
          <p:cNvSpPr txBox="1"/>
          <p:nvPr/>
        </p:nvSpPr>
        <p:spPr>
          <a:xfrm>
            <a:off x="6537960" y="4617720"/>
            <a:ext cx="4937760" cy="365760"/>
          </a:xfrm>
          <a:prstGeom prst="rect">
            <a:avLst/>
          </a:prstGeom>
          <a:noFill/>
          <a:ln/>
        </p:spPr>
        <p:txBody>
          <a:bodyPr wrap="square" lIns="0" tIns="0" rIns="0" bIns="0" rtlCol="0" anchor="ctr"/>
          <a:lstStyle/>
          <a:p>
            <a:pPr indent="0" marL="0">
              <a:buNone/>
            </a:pPr>
            <a:r>
              <a:rPr lang="en-US" sz="1500" b="1" dirty="0">
                <a:solidFill>
                  <a:srgbClr val="22456E"/>
                </a:solidFill>
                <a:latin typeface="Yu Gothic" pitchFamily="34" charset="0"/>
                <a:ea typeface="Yu Gothic" pitchFamily="34" charset="-122"/>
                <a:cs typeface="Yu Gothic" pitchFamily="34" charset="-120"/>
              </a:rPr>
              <a:t>費用支援</a:t>
            </a:r>
            <a:endParaRPr lang="en-US" sz="1500" dirty="0"/>
          </a:p>
        </p:txBody>
      </p:sp>
      <p:sp>
        <p:nvSpPr>
          <p:cNvPr id="20" name="Text 18"/>
          <p:cNvSpPr txBox="1"/>
          <p:nvPr/>
        </p:nvSpPr>
        <p:spPr>
          <a:xfrm>
            <a:off x="6537960" y="5001768"/>
            <a:ext cx="4937760" cy="548640"/>
          </a:xfrm>
          <a:prstGeom prst="rect">
            <a:avLst/>
          </a:prstGeom>
          <a:noFill/>
          <a:ln/>
        </p:spPr>
        <p:txBody>
          <a:bodyPr wrap="square" lIns="0" tIns="0" rIns="0" bIns="0" rtlCol="0" anchor="ctr"/>
          <a:lstStyle/>
          <a:p>
            <a:pPr indent="0" marL="0">
              <a:buNone/>
            </a:pPr>
            <a:r>
              <a:rPr lang="en-US" sz="1200" dirty="0">
                <a:solidFill>
                  <a:srgbClr val="5A5F6A"/>
                </a:solidFill>
              </a:rPr>
              <a:t>相談承認申請支援事業の  </a:t>
            </a:r>
            <a:pPr indent="0" marL="0">
              <a:buNone/>
            </a:pPr>
            <a:r>
              <a:rPr lang="en-US" sz="2400" b="1" dirty="0">
                <a:solidFill>
                  <a:srgbClr val="22252B"/>
                </a:solidFill>
                <a:latin typeface="Yu Mincho" pitchFamily="34" charset="0"/>
                <a:ea typeface="Yu Mincho" pitchFamily="34" charset="-122"/>
                <a:cs typeface="Yu Mincho" pitchFamily="34" charset="-120"/>
              </a:rPr>
              <a:t>対象品目</a:t>
            </a:r>
            <a:endParaRPr lang="en-US" sz="1200" dirty="0"/>
          </a:p>
        </p:txBody>
      </p:sp>
      <p:sp>
        <p:nvSpPr>
          <p:cNvPr id="21" name="Text 19"/>
          <p:cNvSpPr txBox="1"/>
          <p:nvPr/>
        </p:nvSpPr>
        <p:spPr>
          <a:xfrm>
            <a:off x="6537960" y="5623560"/>
            <a:ext cx="4937760" cy="411480"/>
          </a:xfrm>
          <a:prstGeom prst="rect">
            <a:avLst/>
          </a:prstGeom>
          <a:noFill/>
          <a:ln/>
        </p:spPr>
        <p:txBody>
          <a:bodyPr wrap="square" lIns="0" tIns="0" rIns="0" bIns="0" rtlCol="0" anchor="ctr"/>
          <a:lstStyle/>
          <a:p>
            <a:pPr indent="0" marL="0">
              <a:buNone/>
            </a:pPr>
            <a:r>
              <a:rPr lang="en-US" sz="1100" dirty="0">
                <a:solidFill>
                  <a:srgbClr val="5A5F6A"/>
                </a:solidFill>
                <a:latin typeface="Yu Gothic" pitchFamily="34" charset="0"/>
                <a:ea typeface="Yu Gothic" pitchFamily="34" charset="-122"/>
                <a:cs typeface="Yu Gothic" pitchFamily="34" charset="-120"/>
              </a:rPr>
              <a:t>革新的医療機器等相談承認申請支援事業</a:t>
            </a:r>
            <a:endParaRPr lang="en-US" sz="1100" dirty="0"/>
          </a:p>
        </p:txBody>
      </p:sp>
      <p:sp>
        <p:nvSpPr>
          <p:cNvPr id="22" name="Text 20"/>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3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指定の3要件 — すべての充足が必要</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Shape 3"/>
          <p:cNvSpPr/>
          <p:nvPr/>
        </p:nvSpPr>
        <p:spPr>
          <a:xfrm>
            <a:off x="548640" y="1691640"/>
            <a:ext cx="11064240" cy="914400"/>
          </a:xfrm>
          <a:prstGeom prst="roundRect">
            <a:avLst>
              <a:gd name="adj" fmla="val 6000"/>
            </a:avLst>
          </a:prstGeom>
          <a:solidFill>
            <a:srgbClr val="FFFFFF"/>
          </a:solidFill>
          <a:ln w="12700">
            <a:solidFill>
              <a:srgbClr val="D9DCE3"/>
            </a:solidFill>
            <a:prstDash val="solid"/>
          </a:ln>
        </p:spPr>
      </p:sp>
      <p:sp>
        <p:nvSpPr>
          <p:cNvPr id="6" name="Text 4"/>
          <p:cNvSpPr txBox="1"/>
          <p:nvPr/>
        </p:nvSpPr>
        <p:spPr>
          <a:xfrm>
            <a:off x="822960" y="1801368"/>
            <a:ext cx="1005840" cy="694944"/>
          </a:xfrm>
          <a:prstGeom prst="rect">
            <a:avLst/>
          </a:prstGeom>
          <a:noFill/>
          <a:ln/>
        </p:spPr>
        <p:txBody>
          <a:bodyPr wrap="square" lIns="0" tIns="0" rIns="0" bIns="0" rtlCol="0" anchor="ctr"/>
          <a:lstStyle/>
          <a:p>
            <a:pPr indent="0" marL="0">
              <a:buNone/>
            </a:pPr>
            <a:r>
              <a:rPr lang="en-US" sz="1700" b="1" dirty="0">
                <a:solidFill>
                  <a:srgbClr val="22456E"/>
                </a:solidFill>
                <a:latin typeface="Yu Mincho" pitchFamily="34" charset="0"/>
                <a:ea typeface="Yu Mincho" pitchFamily="34" charset="-122"/>
                <a:cs typeface="Yu Mincho" pitchFamily="34" charset="-120"/>
              </a:rPr>
              <a:t>要件1</a:t>
            </a:r>
            <a:endParaRPr lang="en-US" sz="1700" dirty="0"/>
          </a:p>
        </p:txBody>
      </p:sp>
      <p:sp>
        <p:nvSpPr>
          <p:cNvPr id="7" name="Text 5"/>
          <p:cNvSpPr txBox="1"/>
          <p:nvPr/>
        </p:nvSpPr>
        <p:spPr>
          <a:xfrm>
            <a:off x="1874520" y="1801368"/>
            <a:ext cx="4206240" cy="694944"/>
          </a:xfrm>
          <a:prstGeom prst="rect">
            <a:avLst/>
          </a:prstGeom>
          <a:noFill/>
          <a:ln/>
        </p:spPr>
        <p:txBody>
          <a:bodyPr wrap="square" lIns="0" tIns="0" rIns="0" bIns="0" rtlCol="0" anchor="ctr"/>
          <a:lstStyle/>
          <a:p>
            <a:pPr indent="0" marL="0">
              <a:lnSpc>
                <a:spcPct val="115000"/>
              </a:lnSpc>
              <a:buNone/>
            </a:pPr>
            <a:r>
              <a:rPr lang="en-US" sz="1450" b="1" dirty="0">
                <a:solidFill>
                  <a:srgbClr val="22252B"/>
                </a:solidFill>
                <a:latin typeface="Yu Gothic" pitchFamily="34" charset="0"/>
                <a:ea typeface="Yu Gothic" pitchFamily="34" charset="-122"/>
                <a:cs typeface="Yu Gothic" pitchFamily="34" charset="-120"/>
              </a:rPr>
              <a:t>治療法・診断法・予防法の画期性</a:t>
            </a:r>
            <a:endParaRPr lang="en-US" sz="1450" dirty="0"/>
          </a:p>
        </p:txBody>
      </p:sp>
      <p:sp>
        <p:nvSpPr>
          <p:cNvPr id="8" name="Text 6"/>
          <p:cNvSpPr txBox="1"/>
          <p:nvPr/>
        </p:nvSpPr>
        <p:spPr>
          <a:xfrm>
            <a:off x="6172200" y="1801368"/>
            <a:ext cx="3749040" cy="694944"/>
          </a:xfrm>
          <a:prstGeom prst="rect">
            <a:avLst/>
          </a:prstGeom>
          <a:noFill/>
          <a:ln/>
        </p:spPr>
        <p:txBody>
          <a:bodyPr wrap="square" lIns="0" tIns="0" rIns="0" bIns="0" rtlCol="0" anchor="ctr"/>
          <a:lstStyle/>
          <a:p>
            <a:pPr indent="0" marL="0">
              <a:lnSpc>
                <a:spcPct val="120000"/>
              </a:lnSpc>
              <a:buNone/>
            </a:pPr>
            <a:r>
              <a:rPr lang="en-US" sz="1150" dirty="0">
                <a:solidFill>
                  <a:srgbClr val="5A5F6A"/>
                </a:solidFill>
                <a:latin typeface="Yu Gothic" pitchFamily="34" charset="0"/>
                <a:ea typeface="Yu Gothic" pitchFamily="34" charset="-122"/>
                <a:cs typeface="Yu Gothic" pitchFamily="34" charset="-120"/>
              </a:rPr>
              <a:t>原理が既存の機器・標準的治療と「明らかに異なる」こと</a:t>
            </a:r>
            <a:endParaRPr lang="en-US" sz="1150" dirty="0"/>
          </a:p>
        </p:txBody>
      </p:sp>
      <p:sp>
        <p:nvSpPr>
          <p:cNvPr id="9" name="Shape 7"/>
          <p:cNvSpPr/>
          <p:nvPr/>
        </p:nvSpPr>
        <p:spPr>
          <a:xfrm>
            <a:off x="10012680" y="1993392"/>
            <a:ext cx="1417320" cy="310896"/>
          </a:xfrm>
          <a:prstGeom prst="roundRect">
            <a:avLst>
              <a:gd name="adj" fmla="val 50000"/>
            </a:avLst>
          </a:prstGeom>
          <a:solidFill>
            <a:srgbClr val="F9ECEC"/>
          </a:solidFill>
          <a:ln w="12700">
            <a:solidFill>
              <a:srgbClr val="B3383E"/>
            </a:solidFill>
            <a:prstDash val="solid"/>
          </a:ln>
        </p:spPr>
      </p:sp>
      <p:sp>
        <p:nvSpPr>
          <p:cNvPr id="10" name="Text 8"/>
          <p:cNvSpPr txBox="1"/>
          <p:nvPr/>
        </p:nvSpPr>
        <p:spPr>
          <a:xfrm>
            <a:off x="10012680" y="1986077"/>
            <a:ext cx="1417320" cy="329184"/>
          </a:xfrm>
          <a:prstGeom prst="rect">
            <a:avLst/>
          </a:prstGeom>
          <a:noFill/>
          <a:ln/>
        </p:spPr>
        <p:txBody>
          <a:bodyPr wrap="square" lIns="0" tIns="0" rIns="0" bIns="0" rtlCol="0" anchor="ctr"/>
          <a:lstStyle/>
          <a:p>
            <a:pPr algn="ctr" indent="0" marL="0">
              <a:buNone/>
            </a:pPr>
            <a:r>
              <a:rPr lang="en-US" sz="1100" b="1" dirty="0">
                <a:solidFill>
                  <a:srgbClr val="B3383E"/>
                </a:solidFill>
                <a:latin typeface="Yu Gothic" pitchFamily="34" charset="0"/>
                <a:ea typeface="Yu Gothic" pitchFamily="34" charset="-122"/>
                <a:cs typeface="Yu Gothic" pitchFamily="34" charset="-120"/>
              </a:rPr>
              <a:t>最大の関門</a:t>
            </a:r>
            <a:endParaRPr lang="en-US" sz="1100" dirty="0"/>
          </a:p>
        </p:txBody>
      </p:sp>
      <p:sp>
        <p:nvSpPr>
          <p:cNvPr id="11" name="Shape 9"/>
          <p:cNvSpPr/>
          <p:nvPr/>
        </p:nvSpPr>
        <p:spPr>
          <a:xfrm>
            <a:off x="548640" y="2752344"/>
            <a:ext cx="11064240" cy="914400"/>
          </a:xfrm>
          <a:prstGeom prst="roundRect">
            <a:avLst>
              <a:gd name="adj" fmla="val 6000"/>
            </a:avLst>
          </a:prstGeom>
          <a:solidFill>
            <a:srgbClr val="FFFFFF"/>
          </a:solidFill>
          <a:ln w="12700">
            <a:solidFill>
              <a:srgbClr val="D9DCE3"/>
            </a:solidFill>
            <a:prstDash val="solid"/>
          </a:ln>
        </p:spPr>
      </p:sp>
      <p:sp>
        <p:nvSpPr>
          <p:cNvPr id="12" name="Text 10"/>
          <p:cNvSpPr txBox="1"/>
          <p:nvPr/>
        </p:nvSpPr>
        <p:spPr>
          <a:xfrm>
            <a:off x="822960" y="2862072"/>
            <a:ext cx="1005840" cy="694944"/>
          </a:xfrm>
          <a:prstGeom prst="rect">
            <a:avLst/>
          </a:prstGeom>
          <a:noFill/>
          <a:ln/>
        </p:spPr>
        <p:txBody>
          <a:bodyPr wrap="square" lIns="0" tIns="0" rIns="0" bIns="0" rtlCol="0" anchor="ctr"/>
          <a:lstStyle/>
          <a:p>
            <a:pPr indent="0" marL="0">
              <a:buNone/>
            </a:pPr>
            <a:r>
              <a:rPr lang="en-US" sz="1700" b="1" dirty="0">
                <a:solidFill>
                  <a:srgbClr val="22456E"/>
                </a:solidFill>
                <a:latin typeface="Yu Mincho" pitchFamily="34" charset="0"/>
                <a:ea typeface="Yu Mincho" pitchFamily="34" charset="-122"/>
                <a:cs typeface="Yu Mincho" pitchFamily="34" charset="-120"/>
              </a:rPr>
              <a:t>要件2</a:t>
            </a:r>
            <a:endParaRPr lang="en-US" sz="1700" dirty="0"/>
          </a:p>
        </p:txBody>
      </p:sp>
      <p:sp>
        <p:nvSpPr>
          <p:cNvPr id="13" name="Text 11"/>
          <p:cNvSpPr txBox="1"/>
          <p:nvPr/>
        </p:nvSpPr>
        <p:spPr>
          <a:xfrm>
            <a:off x="1874520" y="2862072"/>
            <a:ext cx="4206240" cy="694944"/>
          </a:xfrm>
          <a:prstGeom prst="rect">
            <a:avLst/>
          </a:prstGeom>
          <a:noFill/>
          <a:ln/>
        </p:spPr>
        <p:txBody>
          <a:bodyPr wrap="square" lIns="0" tIns="0" rIns="0" bIns="0" rtlCol="0" anchor="ctr"/>
          <a:lstStyle/>
          <a:p>
            <a:pPr indent="0" marL="0">
              <a:lnSpc>
                <a:spcPct val="115000"/>
              </a:lnSpc>
              <a:buNone/>
            </a:pPr>
            <a:r>
              <a:rPr lang="en-US" sz="1450" b="1" dirty="0">
                <a:solidFill>
                  <a:srgbClr val="22252B"/>
                </a:solidFill>
                <a:latin typeface="Yu Gothic" pitchFamily="34" charset="0"/>
                <a:ea typeface="Yu Gothic" pitchFamily="34" charset="-122"/>
                <a:cs typeface="Yu Gothic" pitchFamily="34" charset="-120"/>
              </a:rPr>
              <a:t>対象疾患に係る医療上の有用性</a:t>
            </a:r>
            <a:endParaRPr lang="en-US" sz="1450" dirty="0"/>
          </a:p>
        </p:txBody>
      </p:sp>
      <p:sp>
        <p:nvSpPr>
          <p:cNvPr id="14" name="Text 12"/>
          <p:cNvSpPr txBox="1"/>
          <p:nvPr/>
        </p:nvSpPr>
        <p:spPr>
          <a:xfrm>
            <a:off x="6172200" y="2862072"/>
            <a:ext cx="3749040" cy="694944"/>
          </a:xfrm>
          <a:prstGeom prst="rect">
            <a:avLst/>
          </a:prstGeom>
          <a:noFill/>
          <a:ln/>
        </p:spPr>
        <p:txBody>
          <a:bodyPr wrap="square" lIns="0" tIns="0" rIns="0" bIns="0" rtlCol="0" anchor="ctr"/>
          <a:lstStyle/>
          <a:p>
            <a:pPr indent="0" marL="0">
              <a:lnSpc>
                <a:spcPct val="120000"/>
              </a:lnSpc>
              <a:buNone/>
            </a:pPr>
            <a:r>
              <a:rPr lang="en-US" sz="1150" dirty="0">
                <a:solidFill>
                  <a:srgbClr val="5A5F6A"/>
                </a:solidFill>
                <a:latin typeface="Yu Gothic" pitchFamily="34" charset="0"/>
                <a:ea typeface="Yu Gothic" pitchFamily="34" charset="-122"/>
                <a:cs typeface="Yu Gothic" pitchFamily="34" charset="-120"/>
              </a:rPr>
              <a:t>臨床試験等において高い有効性・安全性等が見込まれること</a:t>
            </a:r>
            <a:endParaRPr lang="en-US" sz="1150" dirty="0"/>
          </a:p>
        </p:txBody>
      </p:sp>
      <p:sp>
        <p:nvSpPr>
          <p:cNvPr id="15" name="Shape 13"/>
          <p:cNvSpPr/>
          <p:nvPr/>
        </p:nvSpPr>
        <p:spPr>
          <a:xfrm>
            <a:off x="10012680" y="3054096"/>
            <a:ext cx="1417320" cy="310896"/>
          </a:xfrm>
          <a:prstGeom prst="roundRect">
            <a:avLst>
              <a:gd name="adj" fmla="val 50000"/>
            </a:avLst>
          </a:prstGeom>
          <a:solidFill>
            <a:srgbClr val="F7F0DC"/>
          </a:solidFill>
          <a:ln w="12700">
            <a:solidFill>
              <a:srgbClr val="9A6B00"/>
            </a:solidFill>
            <a:prstDash val="solid"/>
          </a:ln>
        </p:spPr>
      </p:sp>
      <p:sp>
        <p:nvSpPr>
          <p:cNvPr id="16" name="Text 14"/>
          <p:cNvSpPr txBox="1"/>
          <p:nvPr/>
        </p:nvSpPr>
        <p:spPr>
          <a:xfrm>
            <a:off x="10012680" y="3046781"/>
            <a:ext cx="1417320" cy="329184"/>
          </a:xfrm>
          <a:prstGeom prst="rect">
            <a:avLst/>
          </a:prstGeom>
          <a:noFill/>
          <a:ln/>
        </p:spPr>
        <p:txBody>
          <a:bodyPr wrap="square" lIns="0" tIns="0" rIns="0" bIns="0" rtlCol="0" anchor="ctr"/>
          <a:lstStyle/>
          <a:p>
            <a:pPr algn="ctr" indent="0" marL="0">
              <a:buNone/>
            </a:pPr>
            <a:r>
              <a:rPr lang="en-US" sz="1100" b="1" dirty="0">
                <a:solidFill>
                  <a:srgbClr val="9A6B00"/>
                </a:solidFill>
                <a:latin typeface="Yu Gothic" pitchFamily="34" charset="0"/>
                <a:ea typeface="Yu Gothic" pitchFamily="34" charset="-122"/>
                <a:cs typeface="Yu Gothic" pitchFamily="34" charset="-120"/>
              </a:rPr>
              <a:t>臨床データが前提</a:t>
            </a:r>
            <a:endParaRPr lang="en-US" sz="1100" dirty="0"/>
          </a:p>
        </p:txBody>
      </p:sp>
      <p:sp>
        <p:nvSpPr>
          <p:cNvPr id="17" name="Shape 15"/>
          <p:cNvSpPr/>
          <p:nvPr/>
        </p:nvSpPr>
        <p:spPr>
          <a:xfrm>
            <a:off x="548640" y="3813048"/>
            <a:ext cx="11064240" cy="914400"/>
          </a:xfrm>
          <a:prstGeom prst="roundRect">
            <a:avLst>
              <a:gd name="adj" fmla="val 6000"/>
            </a:avLst>
          </a:prstGeom>
          <a:solidFill>
            <a:srgbClr val="FFFFFF"/>
          </a:solidFill>
          <a:ln w="12700">
            <a:solidFill>
              <a:srgbClr val="D9DCE3"/>
            </a:solidFill>
            <a:prstDash val="solid"/>
          </a:ln>
        </p:spPr>
      </p:sp>
      <p:sp>
        <p:nvSpPr>
          <p:cNvPr id="18" name="Text 16"/>
          <p:cNvSpPr txBox="1"/>
          <p:nvPr/>
        </p:nvSpPr>
        <p:spPr>
          <a:xfrm>
            <a:off x="822960" y="3922776"/>
            <a:ext cx="1005840" cy="694944"/>
          </a:xfrm>
          <a:prstGeom prst="rect">
            <a:avLst/>
          </a:prstGeom>
          <a:noFill/>
          <a:ln/>
        </p:spPr>
        <p:txBody>
          <a:bodyPr wrap="square" lIns="0" tIns="0" rIns="0" bIns="0" rtlCol="0" anchor="ctr"/>
          <a:lstStyle/>
          <a:p>
            <a:pPr indent="0" marL="0">
              <a:buNone/>
            </a:pPr>
            <a:r>
              <a:rPr lang="en-US" sz="1700" b="1" dirty="0">
                <a:solidFill>
                  <a:srgbClr val="22456E"/>
                </a:solidFill>
                <a:latin typeface="Yu Mincho" pitchFamily="34" charset="0"/>
                <a:ea typeface="Yu Mincho" pitchFamily="34" charset="-122"/>
                <a:cs typeface="Yu Mincho" pitchFamily="34" charset="-120"/>
              </a:rPr>
              <a:t>要件3</a:t>
            </a:r>
            <a:endParaRPr lang="en-US" sz="1700" dirty="0"/>
          </a:p>
        </p:txBody>
      </p:sp>
      <p:sp>
        <p:nvSpPr>
          <p:cNvPr id="19" name="Text 17"/>
          <p:cNvSpPr txBox="1"/>
          <p:nvPr/>
        </p:nvSpPr>
        <p:spPr>
          <a:xfrm>
            <a:off x="1874520" y="3922776"/>
            <a:ext cx="4206240" cy="694944"/>
          </a:xfrm>
          <a:prstGeom prst="rect">
            <a:avLst/>
          </a:prstGeom>
          <a:noFill/>
          <a:ln/>
        </p:spPr>
        <p:txBody>
          <a:bodyPr wrap="square" lIns="0" tIns="0" rIns="0" bIns="0" rtlCol="0" anchor="ctr"/>
          <a:lstStyle/>
          <a:p>
            <a:pPr indent="0" marL="0">
              <a:lnSpc>
                <a:spcPct val="115000"/>
              </a:lnSpc>
              <a:buNone/>
            </a:pPr>
            <a:r>
              <a:rPr lang="en-US" sz="1450" b="1" dirty="0">
                <a:solidFill>
                  <a:srgbClr val="22252B"/>
                </a:solidFill>
                <a:latin typeface="Yu Gothic" pitchFamily="34" charset="0"/>
                <a:ea typeface="Yu Gothic" pitchFamily="34" charset="-122"/>
                <a:cs typeface="Yu Gothic" pitchFamily="34" charset="-120"/>
              </a:rPr>
              <a:t>世界に先駆けた日本での開発・申請</a:t>
            </a:r>
            <a:endParaRPr lang="en-US" sz="1450" dirty="0"/>
          </a:p>
        </p:txBody>
      </p:sp>
      <p:sp>
        <p:nvSpPr>
          <p:cNvPr id="20" name="Text 18"/>
          <p:cNvSpPr txBox="1"/>
          <p:nvPr/>
        </p:nvSpPr>
        <p:spPr>
          <a:xfrm>
            <a:off x="6172200" y="3922776"/>
            <a:ext cx="3749040" cy="694944"/>
          </a:xfrm>
          <a:prstGeom prst="rect">
            <a:avLst/>
          </a:prstGeom>
          <a:noFill/>
          <a:ln/>
        </p:spPr>
        <p:txBody>
          <a:bodyPr wrap="square" lIns="0" tIns="0" rIns="0" bIns="0" rtlCol="0" anchor="ctr"/>
          <a:lstStyle/>
          <a:p>
            <a:pPr indent="0" marL="0">
              <a:lnSpc>
                <a:spcPct val="120000"/>
              </a:lnSpc>
              <a:buNone/>
            </a:pPr>
            <a:r>
              <a:rPr lang="en-US" sz="1150" dirty="0">
                <a:solidFill>
                  <a:srgbClr val="5A5F6A"/>
                </a:solidFill>
                <a:latin typeface="Yu Gothic" pitchFamily="34" charset="0"/>
                <a:ea typeface="Yu Gothic" pitchFamily="34" charset="-122"/>
                <a:cs typeface="Yu Gothic" pitchFamily="34" charset="-120"/>
              </a:rPr>
              <a:t>日本先行（又は同時）申請の意思と、迅速審査に対応できる体制</a:t>
            </a:r>
            <a:endParaRPr lang="en-US" sz="1150" dirty="0"/>
          </a:p>
        </p:txBody>
      </p:sp>
      <p:sp>
        <p:nvSpPr>
          <p:cNvPr id="21" name="Shape 19"/>
          <p:cNvSpPr/>
          <p:nvPr/>
        </p:nvSpPr>
        <p:spPr>
          <a:xfrm>
            <a:off x="10012680" y="4114800"/>
            <a:ext cx="1417320" cy="310896"/>
          </a:xfrm>
          <a:prstGeom prst="roundRect">
            <a:avLst>
              <a:gd name="adj" fmla="val 50000"/>
            </a:avLst>
          </a:prstGeom>
          <a:solidFill>
            <a:srgbClr val="E7F1EA"/>
          </a:solidFill>
          <a:ln w="12700">
            <a:solidFill>
              <a:srgbClr val="2E6E4E"/>
            </a:solidFill>
            <a:prstDash val="solid"/>
          </a:ln>
        </p:spPr>
      </p:sp>
      <p:sp>
        <p:nvSpPr>
          <p:cNvPr id="22" name="Text 20"/>
          <p:cNvSpPr txBox="1"/>
          <p:nvPr/>
        </p:nvSpPr>
        <p:spPr>
          <a:xfrm>
            <a:off x="10012680" y="4107485"/>
            <a:ext cx="1417320" cy="329184"/>
          </a:xfrm>
          <a:prstGeom prst="rect">
            <a:avLst/>
          </a:prstGeom>
          <a:noFill/>
          <a:ln/>
        </p:spPr>
        <p:txBody>
          <a:bodyPr wrap="square" lIns="0" tIns="0" rIns="0" bIns="0" rtlCol="0" anchor="ctr"/>
          <a:lstStyle/>
          <a:p>
            <a:pPr algn="ctr" indent="0" marL="0">
              <a:buNone/>
            </a:pPr>
            <a:r>
              <a:rPr lang="en-US" sz="1100" b="1" dirty="0">
                <a:solidFill>
                  <a:srgbClr val="2E6E4E"/>
                </a:solidFill>
                <a:latin typeface="Yu Gothic" pitchFamily="34" charset="0"/>
                <a:ea typeface="Yu Gothic" pitchFamily="34" charset="-122"/>
                <a:cs typeface="Yu Gothic" pitchFamily="34" charset="-120"/>
              </a:rPr>
              <a:t>主張しやすい</a:t>
            </a:r>
            <a:endParaRPr lang="en-US" sz="1100" dirty="0"/>
          </a:p>
        </p:txBody>
      </p:sp>
      <p:sp>
        <p:nvSpPr>
          <p:cNvPr id="23" name="Shape 21"/>
          <p:cNvSpPr/>
          <p:nvPr/>
        </p:nvSpPr>
        <p:spPr>
          <a:xfrm>
            <a:off x="548640" y="5029200"/>
            <a:ext cx="11064240" cy="1298448"/>
          </a:xfrm>
          <a:prstGeom prst="roundRect">
            <a:avLst>
              <a:gd name="adj" fmla="val 4225"/>
            </a:avLst>
          </a:prstGeom>
          <a:solidFill>
            <a:srgbClr val="F5F3EA"/>
          </a:solidFill>
          <a:ln w="9525">
            <a:solidFill>
              <a:srgbClr val="E0DBC8"/>
            </a:solidFill>
            <a:prstDash val="solid"/>
          </a:ln>
        </p:spPr>
      </p:sp>
      <p:sp>
        <p:nvSpPr>
          <p:cNvPr id="24" name="Text 22"/>
          <p:cNvSpPr txBox="1"/>
          <p:nvPr/>
        </p:nvSpPr>
        <p:spPr>
          <a:xfrm>
            <a:off x="777240" y="5157216"/>
            <a:ext cx="2011680" cy="256032"/>
          </a:xfrm>
          <a:prstGeom prst="rect">
            <a:avLst/>
          </a:prstGeom>
          <a:noFill/>
          <a:ln/>
        </p:spPr>
        <p:txBody>
          <a:bodyPr wrap="square" lIns="0" tIns="0" rIns="0" bIns="0" rtlCol="0" anchor="ctr"/>
          <a:lstStyle/>
          <a:p>
            <a:pPr indent="0" marL="0">
              <a:buNone/>
            </a:pPr>
            <a:r>
              <a:rPr lang="en-US" sz="1000" b="1" spc="200" kern="0" dirty="0">
                <a:solidFill>
                  <a:srgbClr val="8A7B4E"/>
                </a:solidFill>
                <a:latin typeface="Yu Gothic" pitchFamily="34" charset="0"/>
                <a:ea typeface="Yu Gothic" pitchFamily="34" charset="-122"/>
                <a:cs typeface="Yu Gothic" pitchFamily="34" charset="-120"/>
              </a:rPr>
              <a:t>原 文 抜 粋</a:t>
            </a:r>
            <a:endParaRPr lang="en-US" sz="1000" dirty="0"/>
          </a:p>
        </p:txBody>
      </p:sp>
      <p:sp>
        <p:nvSpPr>
          <p:cNvPr id="25" name="Text 23"/>
          <p:cNvSpPr txBox="1"/>
          <p:nvPr/>
        </p:nvSpPr>
        <p:spPr>
          <a:xfrm>
            <a:off x="777240" y="5431536"/>
            <a:ext cx="10607040" cy="521208"/>
          </a:xfrm>
          <a:prstGeom prst="rect">
            <a:avLst/>
          </a:prstGeom>
          <a:noFill/>
          <a:ln/>
        </p:spPr>
        <p:txBody>
          <a:bodyPr wrap="square" lIns="0" tIns="0" rIns="0" bIns="0" rtlCol="0" anchor="t"/>
          <a:lstStyle/>
          <a:p>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３つのすべての要件を満たす場合であっても、当該医療機器と</a:t>
            </a:r>
            <a:pPr indent="0" marL="0">
              <a:lnSpc>
                <a:spcPct val="125000"/>
              </a:lnSpc>
              <a:buNone/>
            </a:pPr>
            <a:r>
              <a:rPr lang="en-US" sz="1200" b="1" dirty="0">
                <a:solidFill>
                  <a:srgbClr val="B3383E"/>
                </a:solidFill>
                <a:latin typeface="Yu Mincho" pitchFamily="34" charset="0"/>
                <a:ea typeface="Yu Mincho" pitchFamily="34" charset="-122"/>
                <a:cs typeface="Yu Mincho" pitchFamily="34" charset="-120"/>
              </a:rPr>
              <a:t>同等の原理に基づく使用目的又は効果を有する他の医療機器が既に承認されている場合には原則として指定しない</a:t>
            </a:r>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a:t>
            </a:r>
            <a:endParaRPr lang="en-US" sz="1200" dirty="0"/>
          </a:p>
        </p:txBody>
      </p:sp>
      <p:sp>
        <p:nvSpPr>
          <p:cNvPr id="26" name="Text 24"/>
          <p:cNvSpPr txBox="1"/>
          <p:nvPr/>
        </p:nvSpPr>
        <p:spPr>
          <a:xfrm>
            <a:off x="777240" y="5961888"/>
            <a:ext cx="10607040" cy="274320"/>
          </a:xfrm>
          <a:prstGeom prst="rect">
            <a:avLst/>
          </a:prstGeom>
          <a:noFill/>
          <a:ln/>
        </p:spPr>
        <p:txBody>
          <a:bodyPr wrap="square" lIns="0" tIns="0" rIns="0" bIns="0" rtlCol="0" anchor="ctr"/>
          <a:lstStyle/>
          <a:p>
            <a:pPr algn="r" indent="0" marL="0">
              <a:buNone/>
            </a:pPr>
            <a:r>
              <a:rPr lang="en-US" sz="950" dirty="0">
                <a:solidFill>
                  <a:srgbClr val="5A5F6A"/>
                </a:solidFill>
                <a:latin typeface="Yu Gothic" pitchFamily="34" charset="0"/>
                <a:ea typeface="Yu Gothic" pitchFamily="34" charset="-122"/>
                <a:cs typeface="Yu Gothic" pitchFamily="34" charset="-120"/>
              </a:rPr>
              <a:t>— 通知 2. 指定の要件（大前提）</a:t>
            </a:r>
            <a:endParaRPr lang="en-US" sz="950" dirty="0"/>
          </a:p>
        </p:txBody>
      </p:sp>
      <p:sp>
        <p:nvSpPr>
          <p:cNvPr id="27" name="Text 25"/>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3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要件1　治療法・診断法・予防法の画期性</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Shape 3"/>
          <p:cNvSpPr/>
          <p:nvPr/>
        </p:nvSpPr>
        <p:spPr>
          <a:xfrm>
            <a:off x="9966960" y="786384"/>
            <a:ext cx="1645920" cy="310896"/>
          </a:xfrm>
          <a:prstGeom prst="roundRect">
            <a:avLst>
              <a:gd name="adj" fmla="val 50000"/>
            </a:avLst>
          </a:prstGeom>
          <a:solidFill>
            <a:srgbClr val="F9ECEC"/>
          </a:solidFill>
          <a:ln w="12700">
            <a:solidFill>
              <a:srgbClr val="B3383E"/>
            </a:solidFill>
            <a:prstDash val="solid"/>
          </a:ln>
        </p:spPr>
      </p:sp>
      <p:sp>
        <p:nvSpPr>
          <p:cNvPr id="6" name="Text 4"/>
          <p:cNvSpPr txBox="1"/>
          <p:nvPr/>
        </p:nvSpPr>
        <p:spPr>
          <a:xfrm>
            <a:off x="9966960" y="779069"/>
            <a:ext cx="1645920" cy="329184"/>
          </a:xfrm>
          <a:prstGeom prst="rect">
            <a:avLst/>
          </a:prstGeom>
          <a:noFill/>
          <a:ln/>
        </p:spPr>
        <p:txBody>
          <a:bodyPr wrap="square" lIns="0" tIns="0" rIns="0" bIns="0" rtlCol="0" anchor="ctr"/>
          <a:lstStyle/>
          <a:p>
            <a:pPr algn="ctr" indent="0" marL="0">
              <a:buNone/>
            </a:pPr>
            <a:r>
              <a:rPr lang="en-US" sz="1100" b="1" dirty="0">
                <a:solidFill>
                  <a:srgbClr val="B3383E"/>
                </a:solidFill>
                <a:latin typeface="Yu Gothic" pitchFamily="34" charset="0"/>
                <a:ea typeface="Yu Gothic" pitchFamily="34" charset="-122"/>
                <a:cs typeface="Yu Gothic" pitchFamily="34" charset="-120"/>
              </a:rPr>
              <a:t>最大の関門</a:t>
            </a:r>
            <a:endParaRPr lang="en-US" sz="1100" dirty="0"/>
          </a:p>
        </p:txBody>
      </p:sp>
      <p:sp>
        <p:nvSpPr>
          <p:cNvPr id="7" name="Shape 5"/>
          <p:cNvSpPr/>
          <p:nvPr/>
        </p:nvSpPr>
        <p:spPr>
          <a:xfrm>
            <a:off x="548640" y="1600200"/>
            <a:ext cx="11064240" cy="2331720"/>
          </a:xfrm>
          <a:prstGeom prst="roundRect">
            <a:avLst>
              <a:gd name="adj" fmla="val 2353"/>
            </a:avLst>
          </a:prstGeom>
          <a:solidFill>
            <a:srgbClr val="F5F3EA"/>
          </a:solidFill>
          <a:ln w="9525">
            <a:solidFill>
              <a:srgbClr val="E0DBC8"/>
            </a:solidFill>
            <a:prstDash val="solid"/>
          </a:ln>
        </p:spPr>
      </p:sp>
      <p:sp>
        <p:nvSpPr>
          <p:cNvPr id="8" name="Text 6"/>
          <p:cNvSpPr txBox="1"/>
          <p:nvPr/>
        </p:nvSpPr>
        <p:spPr>
          <a:xfrm>
            <a:off x="777240" y="1728216"/>
            <a:ext cx="2011680" cy="256032"/>
          </a:xfrm>
          <a:prstGeom prst="rect">
            <a:avLst/>
          </a:prstGeom>
          <a:noFill/>
          <a:ln/>
        </p:spPr>
        <p:txBody>
          <a:bodyPr wrap="square" lIns="0" tIns="0" rIns="0" bIns="0" rtlCol="0" anchor="ctr"/>
          <a:lstStyle/>
          <a:p>
            <a:pPr indent="0" marL="0">
              <a:buNone/>
            </a:pPr>
            <a:r>
              <a:rPr lang="en-US" sz="1000" b="1" spc="200" kern="0" dirty="0">
                <a:solidFill>
                  <a:srgbClr val="8A7B4E"/>
                </a:solidFill>
                <a:latin typeface="Yu Gothic" pitchFamily="34" charset="0"/>
                <a:ea typeface="Yu Gothic" pitchFamily="34" charset="-122"/>
                <a:cs typeface="Yu Gothic" pitchFamily="34" charset="-120"/>
              </a:rPr>
              <a:t>原 文 抜 粋</a:t>
            </a:r>
            <a:endParaRPr lang="en-US" sz="1000" dirty="0"/>
          </a:p>
        </p:txBody>
      </p:sp>
      <p:sp>
        <p:nvSpPr>
          <p:cNvPr id="9" name="Text 7"/>
          <p:cNvSpPr txBox="1"/>
          <p:nvPr/>
        </p:nvSpPr>
        <p:spPr>
          <a:xfrm>
            <a:off x="777240" y="2002536"/>
            <a:ext cx="10607040" cy="1554480"/>
          </a:xfrm>
          <a:prstGeom prst="rect">
            <a:avLst/>
          </a:prstGeom>
          <a:noFill/>
          <a:ln/>
        </p:spPr>
        <p:txBody>
          <a:bodyPr wrap="square" lIns="0" tIns="0" rIns="0" bIns="0" rtlCol="0" anchor="t"/>
          <a:lstStyle/>
          <a:p>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原則として、プログラム医療機器（中略）の原理が、既存の医療機器（中略）又は標準的な治療法、診断法若しくは予防法と比べて</a:t>
            </a:r>
            <a:pPr indent="0" marL="0">
              <a:lnSpc>
                <a:spcPct val="125000"/>
              </a:lnSpc>
              <a:buNone/>
            </a:pPr>
            <a:r>
              <a:rPr lang="en-US" sz="1200" b="1" dirty="0">
                <a:solidFill>
                  <a:srgbClr val="B3383E"/>
                </a:solidFill>
                <a:latin typeface="Yu Mincho" pitchFamily="34" charset="0"/>
                <a:ea typeface="Yu Mincho" pitchFamily="34" charset="-122"/>
                <a:cs typeface="Yu Mincho" pitchFamily="34" charset="-120"/>
              </a:rPr>
              <a:t>明らかに異なる</a:t>
            </a:r>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ものであり、その治療法、診断法又は予防法が画期的であること。</a:t>
            </a:r>
            <a:endParaRPr lang="en-US" sz="1200" dirty="0"/>
          </a:p>
          <a:p>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なお、</a:t>
            </a:r>
            <a:pPr indent="0" marL="0">
              <a:lnSpc>
                <a:spcPct val="125000"/>
              </a:lnSpc>
              <a:buNone/>
            </a:pPr>
            <a:r>
              <a:rPr lang="en-US" sz="1200" b="1" dirty="0">
                <a:solidFill>
                  <a:srgbClr val="B3383E"/>
                </a:solidFill>
                <a:latin typeface="Yu Mincho" pitchFamily="34" charset="0"/>
                <a:ea typeface="Yu Mincho" pitchFamily="34" charset="-122"/>
                <a:cs typeface="Yu Mincho" pitchFamily="34" charset="-120"/>
              </a:rPr>
              <a:t>医療現場で実施されている患者指導等と同様の内容を提供することで、自宅等における患者自身の行動変容を促すことを意図したプログラム等は、原則、画期性があるとは認められない</a:t>
            </a:r>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a:t>
            </a:r>
            <a:endParaRPr lang="en-US" sz="1200" dirty="0"/>
          </a:p>
        </p:txBody>
      </p:sp>
      <p:sp>
        <p:nvSpPr>
          <p:cNvPr id="10" name="Text 8"/>
          <p:cNvSpPr txBox="1"/>
          <p:nvPr/>
        </p:nvSpPr>
        <p:spPr>
          <a:xfrm>
            <a:off x="777240" y="3566160"/>
            <a:ext cx="10607040" cy="274320"/>
          </a:xfrm>
          <a:prstGeom prst="rect">
            <a:avLst/>
          </a:prstGeom>
          <a:noFill/>
          <a:ln/>
        </p:spPr>
        <p:txBody>
          <a:bodyPr wrap="square" lIns="0" tIns="0" rIns="0" bIns="0" rtlCol="0" anchor="ctr"/>
          <a:lstStyle/>
          <a:p>
            <a:pPr algn="r" indent="0" marL="0">
              <a:buNone/>
            </a:pPr>
            <a:r>
              <a:rPr lang="en-US" sz="950" dirty="0">
                <a:solidFill>
                  <a:srgbClr val="5A5F6A"/>
                </a:solidFill>
                <a:latin typeface="Yu Gothic" pitchFamily="34" charset="0"/>
                <a:ea typeface="Yu Gothic" pitchFamily="34" charset="-122"/>
                <a:cs typeface="Yu Gothic" pitchFamily="34" charset="-120"/>
              </a:rPr>
              <a:t>— 通知 2.（1）指定要件1</a:t>
            </a:r>
            <a:endParaRPr lang="en-US" sz="950" dirty="0"/>
          </a:p>
        </p:txBody>
      </p:sp>
      <p:sp>
        <p:nvSpPr>
          <p:cNvPr id="11" name="Shape 9"/>
          <p:cNvSpPr/>
          <p:nvPr/>
        </p:nvSpPr>
        <p:spPr>
          <a:xfrm>
            <a:off x="548640" y="4069080"/>
            <a:ext cx="11064240" cy="2331720"/>
          </a:xfrm>
          <a:prstGeom prst="roundRect">
            <a:avLst>
              <a:gd name="adj" fmla="val 2353"/>
            </a:avLst>
          </a:prstGeom>
          <a:solidFill>
            <a:srgbClr val="EAF0F7"/>
          </a:solidFill>
          <a:ln w="12700">
            <a:solidFill>
              <a:srgbClr val="B9C9DE"/>
            </a:solidFill>
            <a:prstDash val="solid"/>
          </a:ln>
        </p:spPr>
      </p:sp>
      <p:sp>
        <p:nvSpPr>
          <p:cNvPr id="12" name="Text 10"/>
          <p:cNvSpPr txBox="1"/>
          <p:nvPr/>
        </p:nvSpPr>
        <p:spPr>
          <a:xfrm>
            <a:off x="822960" y="4233672"/>
            <a:ext cx="10515600" cy="320040"/>
          </a:xfrm>
          <a:prstGeom prst="rect">
            <a:avLst/>
          </a:prstGeom>
          <a:noFill/>
          <a:ln/>
        </p:spPr>
        <p:txBody>
          <a:bodyPr wrap="square" lIns="0" tIns="0" rIns="0" bIns="0" rtlCol="0" anchor="ctr"/>
          <a:lstStyle/>
          <a:p>
            <a:pPr indent="0" marL="0">
              <a:buNone/>
            </a:pPr>
            <a:r>
              <a:rPr lang="en-US" sz="1250" b="1" dirty="0">
                <a:solidFill>
                  <a:srgbClr val="22456E"/>
                </a:solidFill>
                <a:latin typeface="Yu Gothic" pitchFamily="34" charset="0"/>
                <a:ea typeface="Yu Gothic" pitchFamily="34" charset="-122"/>
                <a:cs typeface="Yu Gothic" pitchFamily="34" charset="-120"/>
              </a:rPr>
              <a:t>PaTaKaRUSH への当てはめ</a:t>
            </a:r>
            <a:endParaRPr lang="en-US" sz="1250" dirty="0"/>
          </a:p>
        </p:txBody>
      </p:sp>
      <p:sp>
        <p:nvSpPr>
          <p:cNvPr id="13" name="Text 11"/>
          <p:cNvSpPr txBox="1"/>
          <p:nvPr/>
        </p:nvSpPr>
        <p:spPr>
          <a:xfrm>
            <a:off x="822960" y="4599432"/>
            <a:ext cx="10515600" cy="1645920"/>
          </a:xfrm>
          <a:prstGeom prst="rect">
            <a:avLst/>
          </a:prstGeom>
          <a:noFill/>
          <a:ln/>
        </p:spPr>
        <p:txBody>
          <a:bodyPr wrap="square" lIns="0" tIns="0" rIns="0" bIns="0" rtlCol="0" anchor="t"/>
          <a:lstStyle/>
          <a:p>
            <a:pPr indent="0" marL="0">
              <a:lnSpc>
                <a:spcPct val="130000"/>
              </a:lnSpc>
              <a:buNone/>
            </a:pPr>
            <a:r>
              <a:rPr lang="en-US" sz="1250" dirty="0">
                <a:solidFill>
                  <a:srgbClr val="22252B"/>
                </a:solidFill>
                <a:latin typeface="Yu Gothic" pitchFamily="34" charset="0"/>
                <a:ea typeface="Yu Gothic" pitchFamily="34" charset="-122"/>
                <a:cs typeface="Yu Gothic" pitchFamily="34" charset="-120"/>
              </a:rPr>
              <a:t>パタカラ訓練自体は医療・介護現場の標準的指導。「訓練の宿題をゲームで楽しくする」という説明のままでは、但し書きの類型として画期性を否定されるおそれが大きい。</a:t>
            </a:r>
            <a:pPr indent="0" marL="0">
              <a:lnSpc>
                <a:spcPct val="130000"/>
              </a:lnSpc>
              <a:buNone/>
            </a:pPr>
            <a:r>
              <a:rPr lang="en-US" sz="1250" b="1" dirty="0">
                <a:solidFill>
                  <a:srgbClr val="22456E"/>
                </a:solidFill>
                <a:latin typeface="Yu Gothic" pitchFamily="34" charset="0"/>
                <a:ea typeface="Yu Gothic" pitchFamily="34" charset="-122"/>
                <a:cs typeface="Yu Gothic" pitchFamily="34" charset="-120"/>
              </a:rPr>
              <a:t>AI音声認識により患者の発声能力へリアルタイムに難易度・刺激を適応させる閉ループ訓練</a:t>
            </a:r>
            <a:pPr indent="0" marL="0">
              <a:lnSpc>
                <a:spcPct val="130000"/>
              </a:lnSpc>
              <a:buNone/>
            </a:pPr>
            <a:r>
              <a:rPr lang="en-US" sz="1250" dirty="0">
                <a:solidFill>
                  <a:srgbClr val="22252B"/>
                </a:solidFill>
                <a:latin typeface="Yu Gothic" pitchFamily="34" charset="0"/>
                <a:ea typeface="Yu Gothic" pitchFamily="34" charset="-122"/>
                <a:cs typeface="Yu Gothic" pitchFamily="34" charset="-120"/>
              </a:rPr>
              <a:t>など「既存の訓練指導とは原理そのものが異なる」ことを技術的に立証するストーリー（特許・アルゴリズム説明資料）の構築が、指定申請の成否を分ける。</a:t>
            </a:r>
            <a:endParaRPr lang="en-US" sz="1250" dirty="0"/>
          </a:p>
        </p:txBody>
      </p:sp>
      <p:sp>
        <p:nvSpPr>
          <p:cNvPr id="14" name="Text 12"/>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3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要件2　対象疾患に係る医療上の有用性</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Shape 3"/>
          <p:cNvSpPr/>
          <p:nvPr/>
        </p:nvSpPr>
        <p:spPr>
          <a:xfrm>
            <a:off x="9966960" y="786384"/>
            <a:ext cx="1645920" cy="310896"/>
          </a:xfrm>
          <a:prstGeom prst="roundRect">
            <a:avLst>
              <a:gd name="adj" fmla="val 50000"/>
            </a:avLst>
          </a:prstGeom>
          <a:solidFill>
            <a:srgbClr val="F7F0DC"/>
          </a:solidFill>
          <a:ln w="12700">
            <a:solidFill>
              <a:srgbClr val="9A6B00"/>
            </a:solidFill>
            <a:prstDash val="solid"/>
          </a:ln>
        </p:spPr>
      </p:sp>
      <p:sp>
        <p:nvSpPr>
          <p:cNvPr id="6" name="Text 4"/>
          <p:cNvSpPr txBox="1"/>
          <p:nvPr/>
        </p:nvSpPr>
        <p:spPr>
          <a:xfrm>
            <a:off x="9966960" y="779069"/>
            <a:ext cx="1645920" cy="329184"/>
          </a:xfrm>
          <a:prstGeom prst="rect">
            <a:avLst/>
          </a:prstGeom>
          <a:noFill/>
          <a:ln/>
        </p:spPr>
        <p:txBody>
          <a:bodyPr wrap="square" lIns="0" tIns="0" rIns="0" bIns="0" rtlCol="0" anchor="ctr"/>
          <a:lstStyle/>
          <a:p>
            <a:pPr algn="ctr" indent="0" marL="0">
              <a:buNone/>
            </a:pPr>
            <a:r>
              <a:rPr lang="en-US" sz="1100" b="1" dirty="0">
                <a:solidFill>
                  <a:srgbClr val="9A6B00"/>
                </a:solidFill>
                <a:latin typeface="Yu Gothic" pitchFamily="34" charset="0"/>
                <a:ea typeface="Yu Gothic" pitchFamily="34" charset="-122"/>
                <a:cs typeface="Yu Gothic" pitchFamily="34" charset="-120"/>
              </a:rPr>
              <a:t>臨床データが前提</a:t>
            </a:r>
            <a:endParaRPr lang="en-US" sz="1100" dirty="0"/>
          </a:p>
        </p:txBody>
      </p:sp>
      <p:sp>
        <p:nvSpPr>
          <p:cNvPr id="7" name="Shape 5"/>
          <p:cNvSpPr/>
          <p:nvPr/>
        </p:nvSpPr>
        <p:spPr>
          <a:xfrm>
            <a:off x="548640" y="1600200"/>
            <a:ext cx="11064240" cy="2514600"/>
          </a:xfrm>
          <a:prstGeom prst="roundRect">
            <a:avLst>
              <a:gd name="adj" fmla="val 2182"/>
            </a:avLst>
          </a:prstGeom>
          <a:solidFill>
            <a:srgbClr val="F5F3EA"/>
          </a:solidFill>
          <a:ln w="9525">
            <a:solidFill>
              <a:srgbClr val="E0DBC8"/>
            </a:solidFill>
            <a:prstDash val="solid"/>
          </a:ln>
        </p:spPr>
      </p:sp>
      <p:sp>
        <p:nvSpPr>
          <p:cNvPr id="8" name="Text 6"/>
          <p:cNvSpPr txBox="1"/>
          <p:nvPr/>
        </p:nvSpPr>
        <p:spPr>
          <a:xfrm>
            <a:off x="777240" y="1728216"/>
            <a:ext cx="2011680" cy="256032"/>
          </a:xfrm>
          <a:prstGeom prst="rect">
            <a:avLst/>
          </a:prstGeom>
          <a:noFill/>
          <a:ln/>
        </p:spPr>
        <p:txBody>
          <a:bodyPr wrap="square" lIns="0" tIns="0" rIns="0" bIns="0" rtlCol="0" anchor="ctr"/>
          <a:lstStyle/>
          <a:p>
            <a:pPr indent="0" marL="0">
              <a:buNone/>
            </a:pPr>
            <a:r>
              <a:rPr lang="en-US" sz="1000" b="1" spc="200" kern="0" dirty="0">
                <a:solidFill>
                  <a:srgbClr val="8A7B4E"/>
                </a:solidFill>
                <a:latin typeface="Yu Gothic" pitchFamily="34" charset="0"/>
                <a:ea typeface="Yu Gothic" pitchFamily="34" charset="-122"/>
                <a:cs typeface="Yu Gothic" pitchFamily="34" charset="-120"/>
              </a:rPr>
              <a:t>原 文 抜 粋</a:t>
            </a:r>
            <a:endParaRPr lang="en-US" sz="1000" dirty="0"/>
          </a:p>
        </p:txBody>
      </p:sp>
      <p:sp>
        <p:nvSpPr>
          <p:cNvPr id="9" name="Text 7"/>
          <p:cNvSpPr txBox="1"/>
          <p:nvPr/>
        </p:nvSpPr>
        <p:spPr>
          <a:xfrm>
            <a:off x="777240" y="2002536"/>
            <a:ext cx="10607040" cy="1737360"/>
          </a:xfrm>
          <a:prstGeom prst="rect">
            <a:avLst/>
          </a:prstGeom>
          <a:noFill/>
          <a:ln/>
        </p:spPr>
        <p:txBody>
          <a:bodyPr wrap="square" lIns="0" tIns="0" rIns="0" bIns="0" rtlCol="0" anchor="t"/>
          <a:lstStyle/>
          <a:p>
            <a:pPr indent="0" marL="0">
              <a:lnSpc>
                <a:spcPct val="125000"/>
              </a:lnSpc>
              <a:buNone/>
            </a:pPr>
            <a:r>
              <a:rPr lang="en-US" sz="1150" dirty="0">
                <a:solidFill>
                  <a:srgbClr val="22252B"/>
                </a:solidFill>
                <a:latin typeface="Yu Mincho" pitchFamily="34" charset="0"/>
                <a:ea typeface="Yu Mincho" pitchFamily="34" charset="-122"/>
                <a:cs typeface="Yu Mincho" pitchFamily="34" charset="-120"/>
              </a:rPr>
              <a:t>ア　根治療法となり得る既存の治療法がない（中略）疾患において、臨床上の必要性が高く、</a:t>
            </a:r>
            <a:pPr indent="0" marL="0">
              <a:lnSpc>
                <a:spcPct val="125000"/>
              </a:lnSpc>
              <a:buNone/>
            </a:pPr>
            <a:r>
              <a:rPr lang="en-US" sz="1150" b="1" dirty="0">
                <a:solidFill>
                  <a:srgbClr val="B3383E"/>
                </a:solidFill>
                <a:latin typeface="Yu Mincho" pitchFamily="34" charset="0"/>
                <a:ea typeface="Yu Mincho" pitchFamily="34" charset="-122"/>
                <a:cs typeface="Yu Mincho" pitchFamily="34" charset="-120"/>
              </a:rPr>
              <a:t>臨床試験等（公的な競争的資金により実施された臨床研究を含む。）において有効性及び安全性が見込まれる</a:t>
            </a:r>
            <a:pPr indent="0" marL="0">
              <a:lnSpc>
                <a:spcPct val="125000"/>
              </a:lnSpc>
              <a:buNone/>
            </a:pPr>
            <a:r>
              <a:rPr lang="en-US" sz="1150" dirty="0">
                <a:solidFill>
                  <a:srgbClr val="22252B"/>
                </a:solidFill>
                <a:latin typeface="Yu Mincho" pitchFamily="34" charset="0"/>
                <a:ea typeface="Yu Mincho" pitchFamily="34" charset="-122"/>
                <a:cs typeface="Yu Mincho" pitchFamily="34" charset="-120"/>
              </a:rPr>
              <a:t>こと。</a:t>
            </a:r>
            <a:endParaRPr lang="en-US" sz="1150" dirty="0"/>
          </a:p>
          <a:p>
            <a:pPr indent="0" marL="0">
              <a:lnSpc>
                <a:spcPct val="125000"/>
              </a:lnSpc>
              <a:buNone/>
            </a:pPr>
            <a:r>
              <a:rPr lang="en-US" sz="1150" dirty="0">
                <a:solidFill>
                  <a:srgbClr val="22252B"/>
                </a:solidFill>
                <a:latin typeface="Yu Mincho" pitchFamily="34" charset="0"/>
                <a:ea typeface="Yu Mincho" pitchFamily="34" charset="-122"/>
                <a:cs typeface="Yu Mincho" pitchFamily="34" charset="-120"/>
              </a:rPr>
              <a:t>イ　臨床試験等において、既存の治療法（中略）に比べて</a:t>
            </a:r>
            <a:pPr indent="0" marL="0">
              <a:lnSpc>
                <a:spcPct val="125000"/>
              </a:lnSpc>
              <a:buNone/>
            </a:pPr>
            <a:r>
              <a:rPr lang="en-US" sz="1150" b="1" dirty="0">
                <a:solidFill>
                  <a:srgbClr val="B3383E"/>
                </a:solidFill>
                <a:latin typeface="Yu Mincho" pitchFamily="34" charset="0"/>
                <a:ea typeface="Yu Mincho" pitchFamily="34" charset="-122"/>
                <a:cs typeface="Yu Mincho" pitchFamily="34" charset="-120"/>
              </a:rPr>
              <a:t>高い有効性及び安全性が見込まれる</a:t>
            </a:r>
            <a:pPr indent="0" marL="0">
              <a:lnSpc>
                <a:spcPct val="125000"/>
              </a:lnSpc>
              <a:buNone/>
            </a:pPr>
            <a:r>
              <a:rPr lang="en-US" sz="1150" dirty="0">
                <a:solidFill>
                  <a:srgbClr val="22252B"/>
                </a:solidFill>
                <a:latin typeface="Yu Mincho" pitchFamily="34" charset="0"/>
                <a:ea typeface="Yu Mincho" pitchFamily="34" charset="-122"/>
                <a:cs typeface="Yu Mincho" pitchFamily="34" charset="-120"/>
              </a:rPr>
              <a:t>こと。</a:t>
            </a:r>
            <a:endParaRPr lang="en-US" sz="1150" dirty="0"/>
          </a:p>
          <a:p>
            <a:pPr indent="0" marL="0">
              <a:lnSpc>
                <a:spcPct val="125000"/>
              </a:lnSpc>
              <a:buNone/>
            </a:pPr>
            <a:r>
              <a:rPr lang="en-US" sz="1150" dirty="0">
                <a:solidFill>
                  <a:srgbClr val="22252B"/>
                </a:solidFill>
                <a:latin typeface="Yu Mincho" pitchFamily="34" charset="0"/>
                <a:ea typeface="Yu Mincho" pitchFamily="34" charset="-122"/>
                <a:cs typeface="Yu Mincho" pitchFamily="34" charset="-120"/>
              </a:rPr>
              <a:t>ウ　（中略）同等以上の有効性及び安全性が見込まれていることに加え、</a:t>
            </a:r>
            <a:pPr indent="0" marL="0">
              <a:lnSpc>
                <a:spcPct val="125000"/>
              </a:lnSpc>
              <a:buNone/>
            </a:pPr>
            <a:r>
              <a:rPr lang="en-US" sz="1150" b="1" dirty="0">
                <a:solidFill>
                  <a:srgbClr val="B3383E"/>
                </a:solidFill>
                <a:latin typeface="Yu Mincho" pitchFamily="34" charset="0"/>
                <a:ea typeface="Yu Mincho" pitchFamily="34" charset="-122"/>
                <a:cs typeface="Yu Mincho" pitchFamily="34" charset="-120"/>
              </a:rPr>
              <a:t>患者の肉体的・精神的な負担等の観点から（中略）医療上特に有用</a:t>
            </a:r>
            <a:pPr indent="0" marL="0">
              <a:lnSpc>
                <a:spcPct val="125000"/>
              </a:lnSpc>
              <a:buNone/>
            </a:pPr>
            <a:r>
              <a:rPr lang="en-US" sz="1150" dirty="0">
                <a:solidFill>
                  <a:srgbClr val="22252B"/>
                </a:solidFill>
                <a:latin typeface="Yu Mincho" pitchFamily="34" charset="0"/>
                <a:ea typeface="Yu Mincho" pitchFamily="34" charset="-122"/>
                <a:cs typeface="Yu Mincho" pitchFamily="34" charset="-120"/>
              </a:rPr>
              <a:t>であると見込まれること。</a:t>
            </a:r>
            <a:endParaRPr lang="en-US" sz="1150" dirty="0"/>
          </a:p>
        </p:txBody>
      </p:sp>
      <p:sp>
        <p:nvSpPr>
          <p:cNvPr id="10" name="Text 8"/>
          <p:cNvSpPr txBox="1"/>
          <p:nvPr/>
        </p:nvSpPr>
        <p:spPr>
          <a:xfrm>
            <a:off x="777240" y="3749040"/>
            <a:ext cx="10607040" cy="274320"/>
          </a:xfrm>
          <a:prstGeom prst="rect">
            <a:avLst/>
          </a:prstGeom>
          <a:noFill/>
          <a:ln/>
        </p:spPr>
        <p:txBody>
          <a:bodyPr wrap="square" lIns="0" tIns="0" rIns="0" bIns="0" rtlCol="0" anchor="ctr"/>
          <a:lstStyle/>
          <a:p>
            <a:pPr algn="r" indent="0" marL="0">
              <a:buNone/>
            </a:pPr>
            <a:r>
              <a:rPr lang="en-US" sz="950" dirty="0">
                <a:solidFill>
                  <a:srgbClr val="5A5F6A"/>
                </a:solidFill>
                <a:latin typeface="Yu Gothic" pitchFamily="34" charset="0"/>
                <a:ea typeface="Yu Gothic" pitchFamily="34" charset="-122"/>
                <a:cs typeface="Yu Gothic" pitchFamily="34" charset="-120"/>
              </a:rPr>
              <a:t>— 通知 2.（2）指定要件2（ア〜ウのいずれかに該当）</a:t>
            </a:r>
            <a:endParaRPr lang="en-US" sz="950" dirty="0"/>
          </a:p>
        </p:txBody>
      </p:sp>
      <p:sp>
        <p:nvSpPr>
          <p:cNvPr id="11" name="Shape 9"/>
          <p:cNvSpPr/>
          <p:nvPr/>
        </p:nvSpPr>
        <p:spPr>
          <a:xfrm>
            <a:off x="548640" y="4251960"/>
            <a:ext cx="11064240" cy="2148840"/>
          </a:xfrm>
          <a:prstGeom prst="roundRect">
            <a:avLst>
              <a:gd name="adj" fmla="val 2553"/>
            </a:avLst>
          </a:prstGeom>
          <a:solidFill>
            <a:srgbClr val="EAF0F7"/>
          </a:solidFill>
          <a:ln w="12700">
            <a:solidFill>
              <a:srgbClr val="B9C9DE"/>
            </a:solidFill>
            <a:prstDash val="solid"/>
          </a:ln>
        </p:spPr>
      </p:sp>
      <p:sp>
        <p:nvSpPr>
          <p:cNvPr id="12" name="Text 10"/>
          <p:cNvSpPr txBox="1"/>
          <p:nvPr/>
        </p:nvSpPr>
        <p:spPr>
          <a:xfrm>
            <a:off x="822960" y="4416552"/>
            <a:ext cx="10515600" cy="320040"/>
          </a:xfrm>
          <a:prstGeom prst="rect">
            <a:avLst/>
          </a:prstGeom>
          <a:noFill/>
          <a:ln/>
        </p:spPr>
        <p:txBody>
          <a:bodyPr wrap="square" lIns="0" tIns="0" rIns="0" bIns="0" rtlCol="0" anchor="ctr"/>
          <a:lstStyle/>
          <a:p>
            <a:pPr indent="0" marL="0">
              <a:buNone/>
            </a:pPr>
            <a:r>
              <a:rPr lang="en-US" sz="1250" b="1" dirty="0">
                <a:solidFill>
                  <a:srgbClr val="22456E"/>
                </a:solidFill>
                <a:latin typeface="Yu Gothic" pitchFamily="34" charset="0"/>
                <a:ea typeface="Yu Gothic" pitchFamily="34" charset="-122"/>
                <a:cs typeface="Yu Gothic" pitchFamily="34" charset="-120"/>
              </a:rPr>
              <a:t>PaTaKaRUSH への当てはめ</a:t>
            </a:r>
            <a:endParaRPr lang="en-US" sz="1250" dirty="0"/>
          </a:p>
        </p:txBody>
      </p:sp>
      <p:sp>
        <p:nvSpPr>
          <p:cNvPr id="13" name="Text 11"/>
          <p:cNvSpPr txBox="1"/>
          <p:nvPr/>
        </p:nvSpPr>
        <p:spPr>
          <a:xfrm>
            <a:off x="822960" y="4782312"/>
            <a:ext cx="10515600" cy="1463040"/>
          </a:xfrm>
          <a:prstGeom prst="rect">
            <a:avLst/>
          </a:prstGeom>
          <a:noFill/>
          <a:ln/>
        </p:spPr>
        <p:txBody>
          <a:bodyPr wrap="square" lIns="0" tIns="0" rIns="0" bIns="0" rtlCol="0" anchor="t"/>
          <a:lstStyle/>
          <a:p>
            <a:pPr indent="0" marL="0">
              <a:lnSpc>
                <a:spcPct val="130000"/>
              </a:lnSpc>
              <a:buNone/>
            </a:pPr>
            <a:r>
              <a:rPr lang="en-US" sz="1250" dirty="0">
                <a:solidFill>
                  <a:srgbClr val="22252B"/>
                </a:solidFill>
                <a:latin typeface="Yu Gothic" pitchFamily="34" charset="0"/>
                <a:ea typeface="Yu Gothic" pitchFamily="34" charset="-122"/>
                <a:cs typeface="Yu Gothic" pitchFamily="34" charset="-120"/>
              </a:rPr>
              <a:t>いずれの類型も「臨床試験等において見込まれる」ことが前提のため、</a:t>
            </a:r>
            <a:pPr indent="0" marL="0">
              <a:lnSpc>
                <a:spcPct val="130000"/>
              </a:lnSpc>
              <a:buNone/>
            </a:pPr>
            <a:r>
              <a:rPr lang="en-US" sz="1250" b="1" dirty="0">
                <a:solidFill>
                  <a:srgbClr val="B3383E"/>
                </a:solidFill>
                <a:latin typeface="Yu Gothic" pitchFamily="34" charset="0"/>
                <a:ea typeface="Yu Gothic" pitchFamily="34" charset="-122"/>
                <a:cs typeface="Yu Gothic" pitchFamily="34" charset="-120"/>
              </a:rPr>
              <a:t>データゼロでの指定申請は困難</a:t>
            </a:r>
            <a:pPr indent="0" marL="0">
              <a:lnSpc>
                <a:spcPct val="130000"/>
              </a:lnSpc>
              <a:buNone/>
            </a:pPr>
            <a:r>
              <a:rPr lang="en-US" sz="1250" dirty="0">
                <a:solidFill>
                  <a:srgbClr val="22252B"/>
                </a:solidFill>
                <a:latin typeface="Yu Gothic" pitchFamily="34" charset="0"/>
                <a:ea typeface="Yu Gothic" pitchFamily="34" charset="-122"/>
                <a:cs typeface="Yu Gothic" pitchFamily="34" charset="-120"/>
              </a:rPr>
              <a:t>。口腔機能低下症／発達不全症には既存の訓練指導があるため、主張はイ（高い有効性）またはウ（同等以上＋継続率・アドヒアランス向上等の負担軽減）。探索的臨床研究（AMED等の公的競争的資金の活用も通知が明示）を先行させ、その結果を根拠資料とする順序が現実的。</a:t>
            </a:r>
            <a:endParaRPr lang="en-US" sz="1250" dirty="0"/>
          </a:p>
        </p:txBody>
      </p:sp>
      <p:sp>
        <p:nvSpPr>
          <p:cNvPr id="14" name="Text 12"/>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3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要件3　世界に先駆けた日本での開発・申請</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Shape 3"/>
          <p:cNvSpPr/>
          <p:nvPr/>
        </p:nvSpPr>
        <p:spPr>
          <a:xfrm>
            <a:off x="9966960" y="786384"/>
            <a:ext cx="1645920" cy="310896"/>
          </a:xfrm>
          <a:prstGeom prst="roundRect">
            <a:avLst>
              <a:gd name="adj" fmla="val 50000"/>
            </a:avLst>
          </a:prstGeom>
          <a:solidFill>
            <a:srgbClr val="E7F1EA"/>
          </a:solidFill>
          <a:ln w="12700">
            <a:solidFill>
              <a:srgbClr val="2E6E4E"/>
            </a:solidFill>
            <a:prstDash val="solid"/>
          </a:ln>
        </p:spPr>
      </p:sp>
      <p:sp>
        <p:nvSpPr>
          <p:cNvPr id="6" name="Text 4"/>
          <p:cNvSpPr txBox="1"/>
          <p:nvPr/>
        </p:nvSpPr>
        <p:spPr>
          <a:xfrm>
            <a:off x="9966960" y="779069"/>
            <a:ext cx="1645920" cy="329184"/>
          </a:xfrm>
          <a:prstGeom prst="rect">
            <a:avLst/>
          </a:prstGeom>
          <a:noFill/>
          <a:ln/>
        </p:spPr>
        <p:txBody>
          <a:bodyPr wrap="square" lIns="0" tIns="0" rIns="0" bIns="0" rtlCol="0" anchor="ctr"/>
          <a:lstStyle/>
          <a:p>
            <a:pPr algn="ctr" indent="0" marL="0">
              <a:buNone/>
            </a:pPr>
            <a:r>
              <a:rPr lang="en-US" sz="1100" b="1" dirty="0">
                <a:solidFill>
                  <a:srgbClr val="2E6E4E"/>
                </a:solidFill>
                <a:latin typeface="Yu Gothic" pitchFamily="34" charset="0"/>
                <a:ea typeface="Yu Gothic" pitchFamily="34" charset="-122"/>
                <a:cs typeface="Yu Gothic" pitchFamily="34" charset="-120"/>
              </a:rPr>
              <a:t>主張しやすい</a:t>
            </a:r>
            <a:endParaRPr lang="en-US" sz="1100" dirty="0"/>
          </a:p>
        </p:txBody>
      </p:sp>
      <p:sp>
        <p:nvSpPr>
          <p:cNvPr id="7" name="Shape 5"/>
          <p:cNvSpPr/>
          <p:nvPr/>
        </p:nvSpPr>
        <p:spPr>
          <a:xfrm>
            <a:off x="548640" y="1600200"/>
            <a:ext cx="11064240" cy="2331720"/>
          </a:xfrm>
          <a:prstGeom prst="roundRect">
            <a:avLst>
              <a:gd name="adj" fmla="val 2353"/>
            </a:avLst>
          </a:prstGeom>
          <a:solidFill>
            <a:srgbClr val="F5F3EA"/>
          </a:solidFill>
          <a:ln w="9525">
            <a:solidFill>
              <a:srgbClr val="E0DBC8"/>
            </a:solidFill>
            <a:prstDash val="solid"/>
          </a:ln>
        </p:spPr>
      </p:sp>
      <p:sp>
        <p:nvSpPr>
          <p:cNvPr id="8" name="Text 6"/>
          <p:cNvSpPr txBox="1"/>
          <p:nvPr/>
        </p:nvSpPr>
        <p:spPr>
          <a:xfrm>
            <a:off x="777240" y="1728216"/>
            <a:ext cx="2011680" cy="256032"/>
          </a:xfrm>
          <a:prstGeom prst="rect">
            <a:avLst/>
          </a:prstGeom>
          <a:noFill/>
          <a:ln/>
        </p:spPr>
        <p:txBody>
          <a:bodyPr wrap="square" lIns="0" tIns="0" rIns="0" bIns="0" rtlCol="0" anchor="ctr"/>
          <a:lstStyle/>
          <a:p>
            <a:pPr indent="0" marL="0">
              <a:buNone/>
            </a:pPr>
            <a:r>
              <a:rPr lang="en-US" sz="1000" b="1" spc="200" kern="0" dirty="0">
                <a:solidFill>
                  <a:srgbClr val="8A7B4E"/>
                </a:solidFill>
                <a:latin typeface="Yu Gothic" pitchFamily="34" charset="0"/>
                <a:ea typeface="Yu Gothic" pitchFamily="34" charset="-122"/>
                <a:cs typeface="Yu Gothic" pitchFamily="34" charset="-120"/>
              </a:rPr>
              <a:t>原 文 抜 粋</a:t>
            </a:r>
            <a:endParaRPr lang="en-US" sz="1000" dirty="0"/>
          </a:p>
        </p:txBody>
      </p:sp>
      <p:sp>
        <p:nvSpPr>
          <p:cNvPr id="9" name="Text 7"/>
          <p:cNvSpPr txBox="1"/>
          <p:nvPr/>
        </p:nvSpPr>
        <p:spPr>
          <a:xfrm>
            <a:off x="777240" y="2002536"/>
            <a:ext cx="10607040" cy="1554480"/>
          </a:xfrm>
          <a:prstGeom prst="rect">
            <a:avLst/>
          </a:prstGeom>
          <a:noFill/>
          <a:ln/>
        </p:spPr>
        <p:txBody>
          <a:bodyPr wrap="square" lIns="0" tIns="0" rIns="0" bIns="0" rtlCol="0" anchor="t"/>
          <a:lstStyle/>
          <a:p>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日本における早期開発を重視し、</a:t>
            </a:r>
            <a:pPr indent="0" marL="0">
              <a:lnSpc>
                <a:spcPct val="125000"/>
              </a:lnSpc>
              <a:buNone/>
            </a:pPr>
            <a:r>
              <a:rPr lang="en-US" sz="1200" b="1" dirty="0">
                <a:solidFill>
                  <a:srgbClr val="B3383E"/>
                </a:solidFill>
                <a:latin typeface="Yu Mincho" pitchFamily="34" charset="0"/>
                <a:ea typeface="Yu Mincho" pitchFamily="34" charset="-122"/>
                <a:cs typeface="Yu Mincho" pitchFamily="34" charset="-120"/>
              </a:rPr>
              <a:t>世界に先駆けて又は同時に日本で承認申請される</a:t>
            </a:r>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（中略）予定のものであること。それに加え、（中略）</a:t>
            </a:r>
            <a:pPr indent="0" marL="0">
              <a:lnSpc>
                <a:spcPct val="125000"/>
              </a:lnSpc>
              <a:buNone/>
            </a:pPr>
            <a:r>
              <a:rPr lang="en-US" sz="1200" b="1" dirty="0">
                <a:solidFill>
                  <a:srgbClr val="B3383E"/>
                </a:solidFill>
                <a:latin typeface="Yu Mincho" pitchFamily="34" charset="0"/>
                <a:ea typeface="Yu Mincho" pitchFamily="34" charset="-122"/>
                <a:cs typeface="Yu Mincho" pitchFamily="34" charset="-120"/>
              </a:rPr>
              <a:t>先駆け総合評価相談を活用し承認申請できる体制及び迅速な承認審査に対応できる体制</a:t>
            </a:r>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を有していること。なお、指定を希望する品目と同様の原理による</a:t>
            </a:r>
            <a:pPr indent="0" marL="0">
              <a:lnSpc>
                <a:spcPct val="125000"/>
              </a:lnSpc>
              <a:buNone/>
            </a:pPr>
            <a:r>
              <a:rPr lang="en-US" sz="1200" b="1" dirty="0">
                <a:solidFill>
                  <a:srgbClr val="B3383E"/>
                </a:solidFill>
                <a:latin typeface="Yu Mincho" pitchFamily="34" charset="0"/>
                <a:ea typeface="Yu Mincho" pitchFamily="34" charset="-122"/>
                <a:cs typeface="Yu Mincho" pitchFamily="34" charset="-120"/>
              </a:rPr>
              <a:t>類似製品が世界において既に流通している場合は、指定の対象とならない</a:t>
            </a:r>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a:t>
            </a:r>
            <a:endParaRPr lang="en-US" sz="1200" dirty="0"/>
          </a:p>
        </p:txBody>
      </p:sp>
      <p:sp>
        <p:nvSpPr>
          <p:cNvPr id="10" name="Text 8"/>
          <p:cNvSpPr txBox="1"/>
          <p:nvPr/>
        </p:nvSpPr>
        <p:spPr>
          <a:xfrm>
            <a:off x="777240" y="3566160"/>
            <a:ext cx="10607040" cy="274320"/>
          </a:xfrm>
          <a:prstGeom prst="rect">
            <a:avLst/>
          </a:prstGeom>
          <a:noFill/>
          <a:ln/>
        </p:spPr>
        <p:txBody>
          <a:bodyPr wrap="square" lIns="0" tIns="0" rIns="0" bIns="0" rtlCol="0" anchor="ctr"/>
          <a:lstStyle/>
          <a:p>
            <a:pPr algn="r" indent="0" marL="0">
              <a:buNone/>
            </a:pPr>
            <a:r>
              <a:rPr lang="en-US" sz="950" dirty="0">
                <a:solidFill>
                  <a:srgbClr val="5A5F6A"/>
                </a:solidFill>
                <a:latin typeface="Yu Gothic" pitchFamily="34" charset="0"/>
                <a:ea typeface="Yu Gothic" pitchFamily="34" charset="-122"/>
                <a:cs typeface="Yu Gothic" pitchFamily="34" charset="-120"/>
              </a:rPr>
              <a:t>— 通知 2.（3）指定要件3</a:t>
            </a:r>
            <a:endParaRPr lang="en-US" sz="950" dirty="0"/>
          </a:p>
        </p:txBody>
      </p:sp>
      <p:sp>
        <p:nvSpPr>
          <p:cNvPr id="11" name="Shape 9"/>
          <p:cNvSpPr/>
          <p:nvPr/>
        </p:nvSpPr>
        <p:spPr>
          <a:xfrm>
            <a:off x="548640" y="4069080"/>
            <a:ext cx="11064240" cy="2331720"/>
          </a:xfrm>
          <a:prstGeom prst="roundRect">
            <a:avLst>
              <a:gd name="adj" fmla="val 2353"/>
            </a:avLst>
          </a:prstGeom>
          <a:solidFill>
            <a:srgbClr val="EAF0F7"/>
          </a:solidFill>
          <a:ln w="12700">
            <a:solidFill>
              <a:srgbClr val="B9C9DE"/>
            </a:solidFill>
            <a:prstDash val="solid"/>
          </a:ln>
        </p:spPr>
      </p:sp>
      <p:sp>
        <p:nvSpPr>
          <p:cNvPr id="12" name="Text 10"/>
          <p:cNvSpPr txBox="1"/>
          <p:nvPr/>
        </p:nvSpPr>
        <p:spPr>
          <a:xfrm>
            <a:off x="822960" y="4233672"/>
            <a:ext cx="10515600" cy="320040"/>
          </a:xfrm>
          <a:prstGeom prst="rect">
            <a:avLst/>
          </a:prstGeom>
          <a:noFill/>
          <a:ln/>
        </p:spPr>
        <p:txBody>
          <a:bodyPr wrap="square" lIns="0" tIns="0" rIns="0" bIns="0" rtlCol="0" anchor="ctr"/>
          <a:lstStyle/>
          <a:p>
            <a:pPr indent="0" marL="0">
              <a:buNone/>
            </a:pPr>
            <a:r>
              <a:rPr lang="en-US" sz="1250" b="1" dirty="0">
                <a:solidFill>
                  <a:srgbClr val="22456E"/>
                </a:solidFill>
                <a:latin typeface="Yu Gothic" pitchFamily="34" charset="0"/>
                <a:ea typeface="Yu Gothic" pitchFamily="34" charset="-122"/>
                <a:cs typeface="Yu Gothic" pitchFamily="34" charset="-120"/>
              </a:rPr>
              <a:t>PaTaKaRUSH への当てはめ</a:t>
            </a:r>
            <a:endParaRPr lang="en-US" sz="1250" dirty="0"/>
          </a:p>
        </p:txBody>
      </p:sp>
      <p:sp>
        <p:nvSpPr>
          <p:cNvPr id="13" name="Text 11"/>
          <p:cNvSpPr txBox="1"/>
          <p:nvPr/>
        </p:nvSpPr>
        <p:spPr>
          <a:xfrm>
            <a:off x="822960" y="4599432"/>
            <a:ext cx="10515600" cy="1645920"/>
          </a:xfrm>
          <a:prstGeom prst="rect">
            <a:avLst/>
          </a:prstGeom>
          <a:noFill/>
          <a:ln/>
        </p:spPr>
        <p:txBody>
          <a:bodyPr wrap="square" lIns="0" tIns="0" rIns="0" bIns="0" rtlCol="0" anchor="t"/>
          <a:lstStyle/>
          <a:p>
            <a:pPr indent="0" marL="0">
              <a:lnSpc>
                <a:spcPct val="130000"/>
              </a:lnSpc>
              <a:buNone/>
            </a:pPr>
            <a:r>
              <a:rPr lang="en-US" sz="1250" dirty="0">
                <a:solidFill>
                  <a:srgbClr val="22252B"/>
                </a:solidFill>
                <a:latin typeface="Yu Gothic" pitchFamily="34" charset="0"/>
                <a:ea typeface="Yu Gothic" pitchFamily="34" charset="-122"/>
                <a:cs typeface="Yu Gothic" pitchFamily="34" charset="-120"/>
              </a:rPr>
              <a:t>国産・日本先行開発であり主張しやすい。ただし資料化が必要なものが2点。
</a:t>
            </a:r>
            <a:pPr indent="0" marL="0">
              <a:lnSpc>
                <a:spcPct val="130000"/>
              </a:lnSpc>
              <a:buNone/>
            </a:pPr>
            <a:r>
              <a:rPr lang="en-US" sz="1250" b="1" dirty="0">
                <a:solidFill>
                  <a:srgbClr val="22252B"/>
                </a:solidFill>
                <a:latin typeface="Yu Gothic" pitchFamily="34" charset="0"/>
                <a:ea typeface="Yu Gothic" pitchFamily="34" charset="-122"/>
                <a:cs typeface="Yu Gothic" pitchFamily="34" charset="-120"/>
              </a:rPr>
              <a:t>① 類似品調査：</a:t>
            </a:r>
            <a:pPr indent="0" marL="0">
              <a:lnSpc>
                <a:spcPct val="130000"/>
              </a:lnSpc>
              <a:buNone/>
            </a:pPr>
            <a:r>
              <a:rPr lang="en-US" sz="1250" dirty="0">
                <a:solidFill>
                  <a:srgbClr val="22252B"/>
                </a:solidFill>
                <a:latin typeface="Yu Gothic" pitchFamily="34" charset="0"/>
                <a:ea typeface="Yu Gothic" pitchFamily="34" charset="-122"/>
                <a:cs typeface="Yu Gothic" pitchFamily="34" charset="-120"/>
              </a:rPr>
              <a:t>世界で流通する類似SaMD（医療機器としての口腔機能訓練アプリ）がないことの調査報告　</a:t>
            </a:r>
            <a:pPr indent="0" marL="0">
              <a:lnSpc>
                <a:spcPct val="130000"/>
              </a:lnSpc>
              <a:buNone/>
            </a:pPr>
            <a:r>
              <a:rPr lang="en-US" sz="1250" b="1" dirty="0">
                <a:solidFill>
                  <a:srgbClr val="22252B"/>
                </a:solidFill>
                <a:latin typeface="Yu Gothic" pitchFamily="34" charset="0"/>
                <a:ea typeface="Yu Gothic" pitchFamily="34" charset="-122"/>
                <a:cs typeface="Yu Gothic" pitchFamily="34" charset="-120"/>
              </a:rPr>
              <a:t>② 体制説明：</a:t>
            </a:r>
            <a:pPr indent="0" marL="0">
              <a:lnSpc>
                <a:spcPct val="130000"/>
              </a:lnSpc>
              <a:buNone/>
            </a:pPr>
            <a:r>
              <a:rPr lang="en-US" sz="1250" dirty="0">
                <a:solidFill>
                  <a:srgbClr val="22252B"/>
                </a:solidFill>
                <a:latin typeface="Yu Gothic" pitchFamily="34" charset="0"/>
                <a:ea typeface="Yu Gothic" pitchFamily="34" charset="-122"/>
                <a:cs typeface="Yu Gothic" pitchFamily="34" charset="-120"/>
              </a:rPr>
              <a:t>先駆け総合評価相談・迅速審査に対応できる社内体制（薬事担当・QMS・開発計画）</a:t>
            </a:r>
            <a:endParaRPr lang="en-US" sz="1250" dirty="0"/>
          </a:p>
        </p:txBody>
      </p:sp>
      <p:sp>
        <p:nvSpPr>
          <p:cNvPr id="14" name="Text 12"/>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4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指定までの手続きフロー</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Shape 3"/>
          <p:cNvSpPr/>
          <p:nvPr/>
        </p:nvSpPr>
        <p:spPr>
          <a:xfrm>
            <a:off x="1618488" y="1828800"/>
            <a:ext cx="502920" cy="502920"/>
          </a:xfrm>
          <a:prstGeom prst="ellipse">
            <a:avLst/>
          </a:prstGeom>
          <a:solidFill>
            <a:srgbClr val="22456E"/>
          </a:solidFill>
          <a:ln/>
        </p:spPr>
      </p:sp>
      <p:sp>
        <p:nvSpPr>
          <p:cNvPr id="6" name="Text 4"/>
          <p:cNvSpPr txBox="1"/>
          <p:nvPr/>
        </p:nvSpPr>
        <p:spPr>
          <a:xfrm>
            <a:off x="1618488" y="1819656"/>
            <a:ext cx="502920" cy="52120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1</a:t>
            </a:r>
            <a:endParaRPr lang="en-US" sz="1600" dirty="0"/>
          </a:p>
        </p:txBody>
      </p:sp>
      <p:sp>
        <p:nvSpPr>
          <p:cNvPr id="7" name="Shape 5"/>
          <p:cNvSpPr/>
          <p:nvPr/>
        </p:nvSpPr>
        <p:spPr>
          <a:xfrm>
            <a:off x="2423160" y="2075688"/>
            <a:ext cx="1920240" cy="0"/>
          </a:xfrm>
          <a:prstGeom prst="line">
            <a:avLst/>
          </a:prstGeom>
          <a:noFill/>
          <a:ln w="25400">
            <a:solidFill>
              <a:srgbClr val="B9C9DE"/>
            </a:solidFill>
            <a:prstDash val="solid"/>
            <a:tailEnd type="triangle"/>
          </a:ln>
        </p:spPr>
      </p:sp>
      <p:sp>
        <p:nvSpPr>
          <p:cNvPr id="8" name="Shape 6"/>
          <p:cNvSpPr/>
          <p:nvPr/>
        </p:nvSpPr>
        <p:spPr>
          <a:xfrm>
            <a:off x="548640" y="2606040"/>
            <a:ext cx="2651760" cy="2651760"/>
          </a:xfrm>
          <a:prstGeom prst="roundRect">
            <a:avLst>
              <a:gd name="adj" fmla="val 2414"/>
            </a:avLst>
          </a:prstGeom>
          <a:solidFill>
            <a:srgbClr val="FFFFFF"/>
          </a:solidFill>
          <a:ln w="12700">
            <a:solidFill>
              <a:srgbClr val="D9DCE3"/>
            </a:solidFill>
            <a:prstDash val="solid"/>
          </a:ln>
          <a:effectLst>
            <a:outerShdw sx="100000" sy="100000" kx="0" ky="0" algn="bl" rotWithShape="0" blurRad="76200" dist="25400" dir="5400000">
              <a:srgbClr val="9AA3B0">
                <a:alpha val="25000"/>
              </a:srgbClr>
            </a:outerShdw>
          </a:effectLst>
        </p:spPr>
      </p:sp>
      <p:sp>
        <p:nvSpPr>
          <p:cNvPr id="9" name="Text 7"/>
          <p:cNvSpPr txBox="1"/>
          <p:nvPr/>
        </p:nvSpPr>
        <p:spPr>
          <a:xfrm>
            <a:off x="749808" y="2788920"/>
            <a:ext cx="2249424" cy="685800"/>
          </a:xfrm>
          <a:prstGeom prst="rect">
            <a:avLst/>
          </a:prstGeom>
          <a:noFill/>
          <a:ln/>
        </p:spPr>
        <p:txBody>
          <a:bodyPr wrap="square" lIns="0" tIns="0" rIns="0" bIns="0" rtlCol="0" anchor="ctr"/>
          <a:lstStyle/>
          <a:p>
            <a:pPr indent="0" marL="0">
              <a:lnSpc>
                <a:spcPct val="115000"/>
              </a:lnSpc>
              <a:buNone/>
            </a:pPr>
            <a:r>
              <a:rPr lang="en-US" sz="1350" b="1" dirty="0">
                <a:solidFill>
                  <a:srgbClr val="22456E"/>
                </a:solidFill>
                <a:latin typeface="Yu Gothic" pitchFamily="34" charset="0"/>
                <a:ea typeface="Yu Gothic" pitchFamily="34" charset="-122"/>
                <a:cs typeface="Yu Gothic" pitchFamily="34" charset="-120"/>
              </a:rPr>
              <a:t>登録申込み（様式1）</a:t>
            </a:r>
            <a:endParaRPr lang="en-US" sz="1350" dirty="0"/>
          </a:p>
        </p:txBody>
      </p:sp>
      <p:sp>
        <p:nvSpPr>
          <p:cNvPr id="10" name="Text 8"/>
          <p:cNvSpPr txBox="1"/>
          <p:nvPr/>
        </p:nvSpPr>
        <p:spPr>
          <a:xfrm>
            <a:off x="749808" y="3520440"/>
            <a:ext cx="2249424" cy="1600200"/>
          </a:xfrm>
          <a:prstGeom prst="rect">
            <a:avLst/>
          </a:prstGeom>
          <a:noFill/>
          <a:ln/>
        </p:spPr>
        <p:txBody>
          <a:bodyPr wrap="square" lIns="0" tIns="0" rIns="0" bIns="0" rtlCol="0" anchor="t"/>
          <a:lstStyle/>
          <a:p>
            <a:pPr indent="0" marL="0">
              <a:lnSpc>
                <a:spcPct val="130000"/>
              </a:lnSpc>
              <a:buNone/>
            </a:pPr>
            <a:r>
              <a:rPr lang="en-US" sz="1050" dirty="0">
                <a:solidFill>
                  <a:srgbClr val="22252B"/>
                </a:solidFill>
                <a:latin typeface="Yu Gothic" pitchFamily="34" charset="0"/>
                <a:ea typeface="Yu Gothic" pitchFamily="34" charset="-122"/>
                <a:cs typeface="Yu Gothic" pitchFamily="34" charset="-120"/>
              </a:rPr>
              <a:t>指定希望品目登録申込書＋別紙を電子メールで随時提出</a:t>
            </a:r>
            <a:endParaRPr lang="en-US" sz="1050" dirty="0"/>
          </a:p>
          <a:p>
            <a:pPr indent="0" marL="0">
              <a:lnSpc>
                <a:spcPct val="130000"/>
              </a:lnSpc>
              <a:buNone/>
            </a:pPr>
            <a:r>
              <a:rPr lang="en-US" sz="1050" dirty="0">
                <a:solidFill>
                  <a:srgbClr val="22252B"/>
                </a:solidFill>
                <a:latin typeface="Yu Gothic" pitchFamily="34" charset="0"/>
                <a:ea typeface="Yu Gothic" pitchFamily="34" charset="-122"/>
                <a:cs typeface="Yu Gothic" pitchFamily="34" charset="-120"/>
              </a:rPr>
              <a:t>kikisaisei@mhlw.go.jp（厚労省 医療機器審査管理課）</a:t>
            </a:r>
            <a:endParaRPr lang="en-US" sz="1050" dirty="0"/>
          </a:p>
        </p:txBody>
      </p:sp>
      <p:sp>
        <p:nvSpPr>
          <p:cNvPr id="11" name="Shape 9"/>
          <p:cNvSpPr/>
          <p:nvPr/>
        </p:nvSpPr>
        <p:spPr>
          <a:xfrm>
            <a:off x="4562856" y="1828800"/>
            <a:ext cx="502920" cy="502920"/>
          </a:xfrm>
          <a:prstGeom prst="ellipse">
            <a:avLst/>
          </a:prstGeom>
          <a:solidFill>
            <a:srgbClr val="22456E"/>
          </a:solidFill>
          <a:ln/>
        </p:spPr>
      </p:sp>
      <p:sp>
        <p:nvSpPr>
          <p:cNvPr id="12" name="Text 10"/>
          <p:cNvSpPr txBox="1"/>
          <p:nvPr/>
        </p:nvSpPr>
        <p:spPr>
          <a:xfrm>
            <a:off x="4562856" y="1819656"/>
            <a:ext cx="502920" cy="52120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2</a:t>
            </a:r>
            <a:endParaRPr lang="en-US" sz="1600" dirty="0"/>
          </a:p>
        </p:txBody>
      </p:sp>
      <p:sp>
        <p:nvSpPr>
          <p:cNvPr id="13" name="Shape 11"/>
          <p:cNvSpPr/>
          <p:nvPr/>
        </p:nvSpPr>
        <p:spPr>
          <a:xfrm>
            <a:off x="5367528" y="2075688"/>
            <a:ext cx="1920240" cy="0"/>
          </a:xfrm>
          <a:prstGeom prst="line">
            <a:avLst/>
          </a:prstGeom>
          <a:noFill/>
          <a:ln w="25400">
            <a:solidFill>
              <a:srgbClr val="B9C9DE"/>
            </a:solidFill>
            <a:prstDash val="solid"/>
            <a:tailEnd type="triangle"/>
          </a:ln>
        </p:spPr>
      </p:sp>
      <p:sp>
        <p:nvSpPr>
          <p:cNvPr id="14" name="Shape 12"/>
          <p:cNvSpPr/>
          <p:nvPr/>
        </p:nvSpPr>
        <p:spPr>
          <a:xfrm>
            <a:off x="3493008" y="2606040"/>
            <a:ext cx="2651760" cy="2651760"/>
          </a:xfrm>
          <a:prstGeom prst="roundRect">
            <a:avLst>
              <a:gd name="adj" fmla="val 2414"/>
            </a:avLst>
          </a:prstGeom>
          <a:solidFill>
            <a:srgbClr val="FFFFFF"/>
          </a:solidFill>
          <a:ln w="12700">
            <a:solidFill>
              <a:srgbClr val="D9DCE3"/>
            </a:solidFill>
            <a:prstDash val="solid"/>
          </a:ln>
          <a:effectLst>
            <a:outerShdw sx="100000" sy="100000" kx="0" ky="0" algn="bl" rotWithShape="0" blurRad="76200" dist="25400" dir="5400000">
              <a:srgbClr val="9AA3B0">
                <a:alpha val="25000"/>
              </a:srgbClr>
            </a:outerShdw>
          </a:effectLst>
        </p:spPr>
      </p:sp>
      <p:sp>
        <p:nvSpPr>
          <p:cNvPr id="15" name="Text 13"/>
          <p:cNvSpPr txBox="1"/>
          <p:nvPr/>
        </p:nvSpPr>
        <p:spPr>
          <a:xfrm>
            <a:off x="3694176" y="2788920"/>
            <a:ext cx="2249424" cy="685800"/>
          </a:xfrm>
          <a:prstGeom prst="rect">
            <a:avLst/>
          </a:prstGeom>
          <a:noFill/>
          <a:ln/>
        </p:spPr>
        <p:txBody>
          <a:bodyPr wrap="square" lIns="0" tIns="0" rIns="0" bIns="0" rtlCol="0" anchor="ctr"/>
          <a:lstStyle/>
          <a:p>
            <a:pPr indent="0" marL="0">
              <a:lnSpc>
                <a:spcPct val="115000"/>
              </a:lnSpc>
              <a:buNone/>
            </a:pPr>
            <a:r>
              <a:rPr lang="en-US" sz="1350" b="1" dirty="0">
                <a:solidFill>
                  <a:srgbClr val="22456E"/>
                </a:solidFill>
                <a:latin typeface="Yu Gothic" pitchFamily="34" charset="0"/>
                <a:ea typeface="Yu Gothic" pitchFamily="34" charset="-122"/>
                <a:cs typeface="Yu Gothic" pitchFamily="34" charset="-120"/>
              </a:rPr>
              <a:t>ヒアリング</a:t>
            </a:r>
            <a:endParaRPr lang="en-US" sz="1350" dirty="0"/>
          </a:p>
        </p:txBody>
      </p:sp>
      <p:sp>
        <p:nvSpPr>
          <p:cNvPr id="16" name="Text 14"/>
          <p:cNvSpPr txBox="1"/>
          <p:nvPr/>
        </p:nvSpPr>
        <p:spPr>
          <a:xfrm>
            <a:off x="3694176" y="3520440"/>
            <a:ext cx="2249424" cy="1600200"/>
          </a:xfrm>
          <a:prstGeom prst="rect">
            <a:avLst/>
          </a:prstGeom>
          <a:noFill/>
          <a:ln/>
        </p:spPr>
        <p:txBody>
          <a:bodyPr wrap="square" lIns="0" tIns="0" rIns="0" bIns="0" rtlCol="0" anchor="t"/>
          <a:lstStyle/>
          <a:p>
            <a:pPr indent="0" marL="0">
              <a:lnSpc>
                <a:spcPct val="130000"/>
              </a:lnSpc>
              <a:buNone/>
            </a:pPr>
            <a:r>
              <a:rPr lang="en-US" sz="1050" dirty="0">
                <a:solidFill>
                  <a:srgbClr val="22252B"/>
                </a:solidFill>
                <a:latin typeface="Yu Gothic" pitchFamily="34" charset="0"/>
                <a:ea typeface="Yu Gothic" pitchFamily="34" charset="-122"/>
                <a:cs typeface="Yu Gothic" pitchFamily="34" charset="-120"/>
              </a:rPr>
              <a:t>医療機器審査管理課によるヒアリング。根拠資料は実施予定日の1週間前までにメール提出</a:t>
            </a:r>
            <a:endParaRPr lang="en-US" sz="1050" dirty="0"/>
          </a:p>
        </p:txBody>
      </p:sp>
      <p:sp>
        <p:nvSpPr>
          <p:cNvPr id="17" name="Shape 15"/>
          <p:cNvSpPr/>
          <p:nvPr/>
        </p:nvSpPr>
        <p:spPr>
          <a:xfrm>
            <a:off x="7507224" y="1828800"/>
            <a:ext cx="502920" cy="502920"/>
          </a:xfrm>
          <a:prstGeom prst="ellipse">
            <a:avLst/>
          </a:prstGeom>
          <a:solidFill>
            <a:srgbClr val="22456E"/>
          </a:solidFill>
          <a:ln/>
        </p:spPr>
      </p:sp>
      <p:sp>
        <p:nvSpPr>
          <p:cNvPr id="18" name="Text 16"/>
          <p:cNvSpPr txBox="1"/>
          <p:nvPr/>
        </p:nvSpPr>
        <p:spPr>
          <a:xfrm>
            <a:off x="7507224" y="1819656"/>
            <a:ext cx="502920" cy="52120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3</a:t>
            </a:r>
            <a:endParaRPr lang="en-US" sz="1600" dirty="0"/>
          </a:p>
        </p:txBody>
      </p:sp>
      <p:sp>
        <p:nvSpPr>
          <p:cNvPr id="19" name="Shape 17"/>
          <p:cNvSpPr/>
          <p:nvPr/>
        </p:nvSpPr>
        <p:spPr>
          <a:xfrm>
            <a:off x="8311896" y="2075688"/>
            <a:ext cx="1920240" cy="0"/>
          </a:xfrm>
          <a:prstGeom prst="line">
            <a:avLst/>
          </a:prstGeom>
          <a:noFill/>
          <a:ln w="25400">
            <a:solidFill>
              <a:srgbClr val="B9C9DE"/>
            </a:solidFill>
            <a:prstDash val="solid"/>
            <a:tailEnd type="triangle"/>
          </a:ln>
        </p:spPr>
      </p:sp>
      <p:sp>
        <p:nvSpPr>
          <p:cNvPr id="20" name="Shape 18"/>
          <p:cNvSpPr/>
          <p:nvPr/>
        </p:nvSpPr>
        <p:spPr>
          <a:xfrm>
            <a:off x="6437376" y="2606040"/>
            <a:ext cx="2651760" cy="2651760"/>
          </a:xfrm>
          <a:prstGeom prst="roundRect">
            <a:avLst>
              <a:gd name="adj" fmla="val 2414"/>
            </a:avLst>
          </a:prstGeom>
          <a:solidFill>
            <a:srgbClr val="FFFFFF"/>
          </a:solidFill>
          <a:ln w="12700">
            <a:solidFill>
              <a:srgbClr val="D9DCE3"/>
            </a:solidFill>
            <a:prstDash val="solid"/>
          </a:ln>
          <a:effectLst>
            <a:outerShdw sx="100000" sy="100000" kx="0" ky="0" algn="bl" rotWithShape="0" blurRad="76200" dist="25400" dir="5400000">
              <a:srgbClr val="9AA3B0">
                <a:alpha val="25000"/>
              </a:srgbClr>
            </a:outerShdw>
          </a:effectLst>
        </p:spPr>
      </p:sp>
      <p:sp>
        <p:nvSpPr>
          <p:cNvPr id="21" name="Text 19"/>
          <p:cNvSpPr txBox="1"/>
          <p:nvPr/>
        </p:nvSpPr>
        <p:spPr>
          <a:xfrm>
            <a:off x="6638544" y="2788920"/>
            <a:ext cx="2249424" cy="685800"/>
          </a:xfrm>
          <a:prstGeom prst="rect">
            <a:avLst/>
          </a:prstGeom>
          <a:noFill/>
          <a:ln/>
        </p:spPr>
        <p:txBody>
          <a:bodyPr wrap="square" lIns="0" tIns="0" rIns="0" bIns="0" rtlCol="0" anchor="ctr"/>
          <a:lstStyle/>
          <a:p>
            <a:pPr indent="0" marL="0">
              <a:lnSpc>
                <a:spcPct val="115000"/>
              </a:lnSpc>
              <a:buNone/>
            </a:pPr>
            <a:r>
              <a:rPr lang="en-US" sz="1350" b="1" dirty="0">
                <a:solidFill>
                  <a:srgbClr val="22456E"/>
                </a:solidFill>
                <a:latin typeface="Yu Gothic" pitchFamily="34" charset="0"/>
                <a:ea typeface="Yu Gothic" pitchFamily="34" charset="-122"/>
                <a:cs typeface="Yu Gothic" pitchFamily="34" charset="-120"/>
              </a:rPr>
              <a:t>予備的審査</a:t>
            </a:r>
            <a:endParaRPr lang="en-US" sz="1350" dirty="0"/>
          </a:p>
        </p:txBody>
      </p:sp>
      <p:sp>
        <p:nvSpPr>
          <p:cNvPr id="22" name="Text 20"/>
          <p:cNvSpPr txBox="1"/>
          <p:nvPr/>
        </p:nvSpPr>
        <p:spPr>
          <a:xfrm>
            <a:off x="6638544" y="3520440"/>
            <a:ext cx="2249424" cy="1600200"/>
          </a:xfrm>
          <a:prstGeom prst="rect">
            <a:avLst/>
          </a:prstGeom>
          <a:noFill/>
          <a:ln/>
        </p:spPr>
        <p:txBody>
          <a:bodyPr wrap="square" lIns="0" tIns="0" rIns="0" bIns="0" rtlCol="0" anchor="t"/>
          <a:lstStyle/>
          <a:p>
            <a:pPr indent="0" marL="0">
              <a:lnSpc>
                <a:spcPct val="130000"/>
              </a:lnSpc>
              <a:buNone/>
            </a:pPr>
            <a:r>
              <a:rPr lang="en-US" sz="1050" dirty="0">
                <a:solidFill>
                  <a:srgbClr val="22252B"/>
                </a:solidFill>
                <a:latin typeface="Yu Gothic" pitchFamily="34" charset="0"/>
                <a:ea typeface="Yu Gothic" pitchFamily="34" charset="-122"/>
                <a:cs typeface="Yu Gothic" pitchFamily="34" charset="-120"/>
              </a:rPr>
              <a:t>明らかに要件非該当の品目を除外（随時実施・結果は速やかに連絡）。ここが最初の関所</a:t>
            </a:r>
            <a:endParaRPr lang="en-US" sz="1050" dirty="0"/>
          </a:p>
        </p:txBody>
      </p:sp>
      <p:sp>
        <p:nvSpPr>
          <p:cNvPr id="23" name="Shape 21"/>
          <p:cNvSpPr/>
          <p:nvPr/>
        </p:nvSpPr>
        <p:spPr>
          <a:xfrm>
            <a:off x="10451592" y="1828800"/>
            <a:ext cx="502920" cy="502920"/>
          </a:xfrm>
          <a:prstGeom prst="ellipse">
            <a:avLst/>
          </a:prstGeom>
          <a:solidFill>
            <a:srgbClr val="22456E"/>
          </a:solidFill>
          <a:ln/>
        </p:spPr>
      </p:sp>
      <p:sp>
        <p:nvSpPr>
          <p:cNvPr id="24" name="Text 22"/>
          <p:cNvSpPr txBox="1"/>
          <p:nvPr/>
        </p:nvSpPr>
        <p:spPr>
          <a:xfrm>
            <a:off x="10451592" y="1819656"/>
            <a:ext cx="502920" cy="52120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4</a:t>
            </a:r>
            <a:endParaRPr lang="en-US" sz="1600" dirty="0"/>
          </a:p>
        </p:txBody>
      </p:sp>
      <p:sp>
        <p:nvSpPr>
          <p:cNvPr id="25" name="Shape 23"/>
          <p:cNvSpPr/>
          <p:nvPr/>
        </p:nvSpPr>
        <p:spPr>
          <a:xfrm>
            <a:off x="9381744" y="2606040"/>
            <a:ext cx="2651760" cy="2651760"/>
          </a:xfrm>
          <a:prstGeom prst="roundRect">
            <a:avLst>
              <a:gd name="adj" fmla="val 2414"/>
            </a:avLst>
          </a:prstGeom>
          <a:solidFill>
            <a:srgbClr val="FFFFFF"/>
          </a:solidFill>
          <a:ln w="12700">
            <a:solidFill>
              <a:srgbClr val="D9DCE3"/>
            </a:solidFill>
            <a:prstDash val="solid"/>
          </a:ln>
          <a:effectLst>
            <a:outerShdw sx="100000" sy="100000" kx="0" ky="0" algn="bl" rotWithShape="0" blurRad="76200" dist="25400" dir="5400000">
              <a:srgbClr val="9AA3B0">
                <a:alpha val="25000"/>
              </a:srgbClr>
            </a:outerShdw>
          </a:effectLst>
        </p:spPr>
      </p:sp>
      <p:sp>
        <p:nvSpPr>
          <p:cNvPr id="26" name="Text 24"/>
          <p:cNvSpPr txBox="1"/>
          <p:nvPr/>
        </p:nvSpPr>
        <p:spPr>
          <a:xfrm>
            <a:off x="9582912" y="2788920"/>
            <a:ext cx="2249424" cy="685800"/>
          </a:xfrm>
          <a:prstGeom prst="rect">
            <a:avLst/>
          </a:prstGeom>
          <a:noFill/>
          <a:ln/>
        </p:spPr>
        <p:txBody>
          <a:bodyPr wrap="square" lIns="0" tIns="0" rIns="0" bIns="0" rtlCol="0" anchor="ctr"/>
          <a:lstStyle/>
          <a:p>
            <a:pPr indent="0" marL="0">
              <a:lnSpc>
                <a:spcPct val="115000"/>
              </a:lnSpc>
              <a:buNone/>
            </a:pPr>
            <a:r>
              <a:rPr lang="en-US" sz="1350" b="1" dirty="0">
                <a:solidFill>
                  <a:srgbClr val="22456E"/>
                </a:solidFill>
                <a:latin typeface="Yu Gothic" pitchFamily="34" charset="0"/>
                <a:ea typeface="Yu Gothic" pitchFamily="34" charset="-122"/>
                <a:cs typeface="Yu Gothic" pitchFamily="34" charset="-120"/>
              </a:rPr>
              <a:t>指定申請（様式2）→ 指定</a:t>
            </a:r>
            <a:endParaRPr lang="en-US" sz="1350" dirty="0"/>
          </a:p>
        </p:txBody>
      </p:sp>
      <p:sp>
        <p:nvSpPr>
          <p:cNvPr id="27" name="Text 25"/>
          <p:cNvSpPr txBox="1"/>
          <p:nvPr/>
        </p:nvSpPr>
        <p:spPr>
          <a:xfrm>
            <a:off x="9582912" y="3520440"/>
            <a:ext cx="2249424" cy="1600200"/>
          </a:xfrm>
          <a:prstGeom prst="rect">
            <a:avLst/>
          </a:prstGeom>
          <a:noFill/>
          <a:ln/>
        </p:spPr>
        <p:txBody>
          <a:bodyPr wrap="square" lIns="0" tIns="0" rIns="0" bIns="0" rtlCol="0" anchor="t"/>
          <a:lstStyle/>
          <a:p>
            <a:pPr indent="0" marL="0">
              <a:lnSpc>
                <a:spcPct val="130000"/>
              </a:lnSpc>
              <a:buNone/>
            </a:pPr>
            <a:r>
              <a:rPr lang="en-US" sz="1050" dirty="0">
                <a:solidFill>
                  <a:srgbClr val="22252B"/>
                </a:solidFill>
                <a:latin typeface="Yu Gothic" pitchFamily="34" charset="0"/>
                <a:ea typeface="Yu Gothic" pitchFamily="34" charset="-122"/>
                <a:cs typeface="Yu Gothic" pitchFamily="34" charset="-120"/>
              </a:rPr>
              <a:t>様式2＋根拠資料を提出。PMDA評価を経て「特に優れている」品目を選定、薬事審議会報告のうえ公表</a:t>
            </a:r>
            <a:endParaRPr lang="en-US" sz="1050" dirty="0"/>
          </a:p>
        </p:txBody>
      </p:sp>
      <p:sp>
        <p:nvSpPr>
          <p:cNvPr id="28" name="Text 26"/>
          <p:cNvSpPr txBox="1"/>
          <p:nvPr/>
        </p:nvSpPr>
        <p:spPr>
          <a:xfrm>
            <a:off x="548640" y="5577840"/>
            <a:ext cx="11064240" cy="640080"/>
          </a:xfrm>
          <a:prstGeom prst="rect">
            <a:avLst/>
          </a:prstGeom>
          <a:noFill/>
          <a:ln/>
        </p:spPr>
        <p:txBody>
          <a:bodyPr wrap="square" lIns="0" tIns="0" rIns="0" bIns="0" rtlCol="0" anchor="ctr"/>
          <a:lstStyle/>
          <a:p>
            <a:pPr indent="0" marL="0">
              <a:lnSpc>
                <a:spcPct val="130000"/>
              </a:lnSpc>
              <a:buNone/>
            </a:pPr>
            <a:r>
              <a:rPr lang="en-US" sz="1300" dirty="0">
                <a:solidFill>
                  <a:srgbClr val="22252B"/>
                </a:solidFill>
                <a:latin typeface="Yu Gothic" pitchFamily="34" charset="0"/>
                <a:ea typeface="Yu Gothic" pitchFamily="34" charset="-122"/>
                <a:cs typeface="Yu Gothic" pitchFamily="34" charset="-120"/>
              </a:rPr>
              <a:t>落選しても薬事手続き上の不利益はなく、ヒアリングで行政の感触を得られる。ただし要件1・2が弱いまま出すと再挑戦の機会を1回費やすため、</a:t>
            </a:r>
            <a:pPr indent="0" marL="0">
              <a:lnSpc>
                <a:spcPct val="130000"/>
              </a:lnSpc>
              <a:buNone/>
            </a:pPr>
            <a:r>
              <a:rPr lang="en-US" sz="1300" b="1" dirty="0">
                <a:solidFill>
                  <a:srgbClr val="22456E"/>
                </a:solidFill>
                <a:latin typeface="Yu Gothic" pitchFamily="34" charset="0"/>
                <a:ea typeface="Yu Gothic" pitchFamily="34" charset="-122"/>
                <a:cs typeface="Yu Gothic" pitchFamily="34" charset="-120"/>
              </a:rPr>
              <a:t>出すタイミングの見極めが重要</a:t>
            </a:r>
            <a:pPr indent="0" marL="0">
              <a:lnSpc>
                <a:spcPct val="130000"/>
              </a:lnSpc>
              <a:buNone/>
            </a:pPr>
            <a:r>
              <a:rPr lang="en-US" sz="1300" dirty="0">
                <a:solidFill>
                  <a:srgbClr val="22252B"/>
                </a:solidFill>
                <a:latin typeface="Yu Gothic" pitchFamily="34" charset="0"/>
                <a:ea typeface="Yu Gothic" pitchFamily="34" charset="-122"/>
                <a:cs typeface="Yu Gothic" pitchFamily="34" charset="-120"/>
              </a:rPr>
              <a:t>。</a:t>
            </a:r>
            <a:endParaRPr lang="en-US" sz="1300" dirty="0"/>
          </a:p>
        </p:txBody>
      </p:sp>
      <p:sp>
        <p:nvSpPr>
          <p:cNvPr id="29" name="Text 27"/>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5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重要な留意点 — 指定と引き換えに縛られること</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Shape 3"/>
          <p:cNvSpPr/>
          <p:nvPr/>
        </p:nvSpPr>
        <p:spPr>
          <a:xfrm>
            <a:off x="548640" y="1645920"/>
            <a:ext cx="11064240" cy="896112"/>
          </a:xfrm>
          <a:prstGeom prst="roundRect">
            <a:avLst>
              <a:gd name="adj" fmla="val 6122"/>
            </a:avLst>
          </a:prstGeom>
          <a:solidFill>
            <a:srgbClr val="F9ECEC"/>
          </a:solidFill>
          <a:ln w="12700">
            <a:solidFill>
              <a:srgbClr val="B3383E"/>
            </a:solidFill>
            <a:prstDash val="solid"/>
          </a:ln>
        </p:spPr>
      </p:sp>
      <p:sp>
        <p:nvSpPr>
          <p:cNvPr id="6" name="Text 4"/>
          <p:cNvSpPr txBox="1"/>
          <p:nvPr/>
        </p:nvSpPr>
        <p:spPr>
          <a:xfrm>
            <a:off x="777240" y="1737360"/>
            <a:ext cx="365760" cy="365760"/>
          </a:xfrm>
          <a:prstGeom prst="rect">
            <a:avLst/>
          </a:prstGeom>
          <a:noFill/>
          <a:ln/>
        </p:spPr>
        <p:txBody>
          <a:bodyPr wrap="square" lIns="0" tIns="0" rIns="0" bIns="0" rtlCol="0" anchor="ctr"/>
          <a:lstStyle/>
          <a:p>
            <a:pPr indent="0" marL="0">
              <a:buNone/>
            </a:pPr>
            <a:r>
              <a:rPr lang="en-US" sz="1500" b="1" dirty="0">
                <a:solidFill>
                  <a:srgbClr val="B3383E"/>
                </a:solidFill>
                <a:latin typeface="Yu Gothic" pitchFamily="34" charset="0"/>
                <a:ea typeface="Yu Gothic" pitchFamily="34" charset="-122"/>
                <a:cs typeface="Yu Gothic" pitchFamily="34" charset="-120"/>
              </a:rPr>
              <a:t>※</a:t>
            </a:r>
            <a:endParaRPr lang="en-US" sz="1500" dirty="0"/>
          </a:p>
        </p:txBody>
      </p:sp>
      <p:sp>
        <p:nvSpPr>
          <p:cNvPr id="7" name="Text 5"/>
          <p:cNvSpPr txBox="1"/>
          <p:nvPr/>
        </p:nvSpPr>
        <p:spPr>
          <a:xfrm>
            <a:off x="1188720" y="1737360"/>
            <a:ext cx="10149840" cy="731520"/>
          </a:xfrm>
          <a:prstGeom prst="rect">
            <a:avLst/>
          </a:prstGeom>
          <a:noFill/>
          <a:ln/>
        </p:spPr>
        <p:txBody>
          <a:bodyPr wrap="square" lIns="0" tIns="0" rIns="0" bIns="0" rtlCol="0" anchor="t"/>
          <a:lstStyle/>
          <a:p>
            <a:pPr indent="0" marL="0">
              <a:lnSpc>
                <a:spcPct val="120000"/>
              </a:lnSpc>
              <a:buNone/>
            </a:pPr>
            <a:r>
              <a:rPr lang="en-US" sz="1300" b="1" dirty="0">
                <a:solidFill>
                  <a:srgbClr val="22252B"/>
                </a:solidFill>
                <a:latin typeface="Yu Gothic" pitchFamily="34" charset="0"/>
                <a:ea typeface="Yu Gothic" pitchFamily="34" charset="-122"/>
                <a:cs typeface="Yu Gothic" pitchFamily="34" charset="-120"/>
              </a:rPr>
              <a:t>二段階承認・リバランス通知との二者択一
</a:t>
            </a:r>
            <a:pPr indent="0" marL="0">
              <a:lnSpc>
                <a:spcPct val="120000"/>
              </a:lnSpc>
              <a:buNone/>
            </a:pPr>
            <a:r>
              <a:rPr lang="en-US" sz="1100" dirty="0">
                <a:solidFill>
                  <a:srgbClr val="5A5F6A"/>
                </a:solidFill>
                <a:latin typeface="Yu Gothic" pitchFamily="34" charset="0"/>
                <a:ea typeface="Yu Gothic" pitchFamily="34" charset="-122"/>
                <a:cs typeface="Yu Gothic" pitchFamily="34" charset="-120"/>
              </a:rPr>
              <a:t>これらの活用を希望する品目は対象外。指定後に相談しただけでも取消し事由。エビデンス構築が長引くなら二段階承認の方が現実的な可能性もあり、コミットの意思決定が必要</a:t>
            </a:r>
            <a:endParaRPr lang="en-US" sz="1300" dirty="0"/>
          </a:p>
        </p:txBody>
      </p:sp>
      <p:sp>
        <p:nvSpPr>
          <p:cNvPr id="8" name="Shape 6"/>
          <p:cNvSpPr/>
          <p:nvPr/>
        </p:nvSpPr>
        <p:spPr>
          <a:xfrm>
            <a:off x="548640" y="2670048"/>
            <a:ext cx="11064240" cy="896112"/>
          </a:xfrm>
          <a:prstGeom prst="roundRect">
            <a:avLst>
              <a:gd name="adj" fmla="val 6122"/>
            </a:avLst>
          </a:prstGeom>
          <a:solidFill>
            <a:srgbClr val="F9ECEC"/>
          </a:solidFill>
          <a:ln w="12700">
            <a:solidFill>
              <a:srgbClr val="B3383E"/>
            </a:solidFill>
            <a:prstDash val="solid"/>
          </a:ln>
        </p:spPr>
      </p:sp>
      <p:sp>
        <p:nvSpPr>
          <p:cNvPr id="9" name="Text 7"/>
          <p:cNvSpPr txBox="1"/>
          <p:nvPr/>
        </p:nvSpPr>
        <p:spPr>
          <a:xfrm>
            <a:off x="777240" y="2761488"/>
            <a:ext cx="365760" cy="365760"/>
          </a:xfrm>
          <a:prstGeom prst="rect">
            <a:avLst/>
          </a:prstGeom>
          <a:noFill/>
          <a:ln/>
        </p:spPr>
        <p:txBody>
          <a:bodyPr wrap="square" lIns="0" tIns="0" rIns="0" bIns="0" rtlCol="0" anchor="ctr"/>
          <a:lstStyle/>
          <a:p>
            <a:pPr indent="0" marL="0">
              <a:buNone/>
            </a:pPr>
            <a:r>
              <a:rPr lang="en-US" sz="1500" b="1" dirty="0">
                <a:solidFill>
                  <a:srgbClr val="B3383E"/>
                </a:solidFill>
                <a:latin typeface="Yu Gothic" pitchFamily="34" charset="0"/>
                <a:ea typeface="Yu Gothic" pitchFamily="34" charset="-122"/>
                <a:cs typeface="Yu Gothic" pitchFamily="34" charset="-120"/>
              </a:rPr>
              <a:t>※</a:t>
            </a:r>
            <a:endParaRPr lang="en-US" sz="1500" dirty="0"/>
          </a:p>
        </p:txBody>
      </p:sp>
      <p:sp>
        <p:nvSpPr>
          <p:cNvPr id="10" name="Text 8"/>
          <p:cNvSpPr txBox="1"/>
          <p:nvPr/>
        </p:nvSpPr>
        <p:spPr>
          <a:xfrm>
            <a:off x="1188720" y="2761488"/>
            <a:ext cx="10149840" cy="731520"/>
          </a:xfrm>
          <a:prstGeom prst="rect">
            <a:avLst/>
          </a:prstGeom>
          <a:noFill/>
          <a:ln/>
        </p:spPr>
        <p:txBody>
          <a:bodyPr wrap="square" lIns="0" tIns="0" rIns="0" bIns="0" rtlCol="0" anchor="t"/>
          <a:lstStyle/>
          <a:p>
            <a:pPr indent="0" marL="0">
              <a:lnSpc>
                <a:spcPct val="120000"/>
              </a:lnSpc>
              <a:buNone/>
            </a:pPr>
            <a:r>
              <a:rPr lang="en-US" sz="1300" b="1" dirty="0">
                <a:solidFill>
                  <a:srgbClr val="22252B"/>
                </a:solidFill>
                <a:latin typeface="Yu Gothic" pitchFamily="34" charset="0"/>
                <a:ea typeface="Yu Gothic" pitchFamily="34" charset="-122"/>
                <a:cs typeface="Yu Gothic" pitchFamily="34" charset="-120"/>
              </a:rPr>
              <a:t>指定後の大幅なプログラム変更は取消し事由
</a:t>
            </a:r>
            <a:pPr indent="0" marL="0">
              <a:lnSpc>
                <a:spcPct val="120000"/>
              </a:lnSpc>
              <a:buNone/>
            </a:pPr>
            <a:r>
              <a:rPr lang="en-US" sz="1100" dirty="0">
                <a:solidFill>
                  <a:srgbClr val="5A5F6A"/>
                </a:solidFill>
                <a:latin typeface="Yu Gothic" pitchFamily="34" charset="0"/>
                <a:ea typeface="Yu Gothic" pitchFamily="34" charset="-122"/>
                <a:cs typeface="Yu Gothic" pitchFamily="34" charset="-120"/>
              </a:rPr>
              <a:t>有効性・安全性に関わる機能変更の自由度が下がる。申請までの機能凍結計画が要る</a:t>
            </a:r>
            <a:endParaRPr lang="en-US" sz="1300" dirty="0"/>
          </a:p>
        </p:txBody>
      </p:sp>
      <p:sp>
        <p:nvSpPr>
          <p:cNvPr id="11" name="Shape 9"/>
          <p:cNvSpPr/>
          <p:nvPr/>
        </p:nvSpPr>
        <p:spPr>
          <a:xfrm>
            <a:off x="548640" y="3694176"/>
            <a:ext cx="11064240" cy="896112"/>
          </a:xfrm>
          <a:prstGeom prst="roundRect">
            <a:avLst>
              <a:gd name="adj" fmla="val 6122"/>
            </a:avLst>
          </a:prstGeom>
          <a:solidFill>
            <a:srgbClr val="F9ECEC"/>
          </a:solidFill>
          <a:ln w="12700">
            <a:solidFill>
              <a:srgbClr val="B3383E"/>
            </a:solidFill>
            <a:prstDash val="solid"/>
          </a:ln>
        </p:spPr>
      </p:sp>
      <p:sp>
        <p:nvSpPr>
          <p:cNvPr id="12" name="Text 10"/>
          <p:cNvSpPr txBox="1"/>
          <p:nvPr/>
        </p:nvSpPr>
        <p:spPr>
          <a:xfrm>
            <a:off x="777240" y="3785616"/>
            <a:ext cx="365760" cy="365760"/>
          </a:xfrm>
          <a:prstGeom prst="rect">
            <a:avLst/>
          </a:prstGeom>
          <a:noFill/>
          <a:ln/>
        </p:spPr>
        <p:txBody>
          <a:bodyPr wrap="square" lIns="0" tIns="0" rIns="0" bIns="0" rtlCol="0" anchor="ctr"/>
          <a:lstStyle/>
          <a:p>
            <a:pPr indent="0" marL="0">
              <a:buNone/>
            </a:pPr>
            <a:r>
              <a:rPr lang="en-US" sz="1500" b="1" dirty="0">
                <a:solidFill>
                  <a:srgbClr val="B3383E"/>
                </a:solidFill>
                <a:latin typeface="Yu Gothic" pitchFamily="34" charset="0"/>
                <a:ea typeface="Yu Gothic" pitchFamily="34" charset="-122"/>
                <a:cs typeface="Yu Gothic" pitchFamily="34" charset="-120"/>
              </a:rPr>
              <a:t>※</a:t>
            </a:r>
            <a:endParaRPr lang="en-US" sz="1500" dirty="0"/>
          </a:p>
        </p:txBody>
      </p:sp>
      <p:sp>
        <p:nvSpPr>
          <p:cNvPr id="13" name="Text 11"/>
          <p:cNvSpPr txBox="1"/>
          <p:nvPr/>
        </p:nvSpPr>
        <p:spPr>
          <a:xfrm>
            <a:off x="1188720" y="3785616"/>
            <a:ext cx="10149840" cy="731520"/>
          </a:xfrm>
          <a:prstGeom prst="rect">
            <a:avLst/>
          </a:prstGeom>
          <a:noFill/>
          <a:ln/>
        </p:spPr>
        <p:txBody>
          <a:bodyPr wrap="square" lIns="0" tIns="0" rIns="0" bIns="0" rtlCol="0" anchor="t"/>
          <a:lstStyle/>
          <a:p>
            <a:pPr indent="0" marL="0">
              <a:lnSpc>
                <a:spcPct val="120000"/>
              </a:lnSpc>
              <a:buNone/>
            </a:pPr>
            <a:r>
              <a:rPr lang="en-US" sz="1300" b="1" dirty="0">
                <a:solidFill>
                  <a:srgbClr val="22252B"/>
                </a:solidFill>
                <a:latin typeface="Yu Gothic" pitchFamily="34" charset="0"/>
                <a:ea typeface="Yu Gothic" pitchFamily="34" charset="-122"/>
                <a:cs typeface="Yu Gothic" pitchFamily="34" charset="-120"/>
              </a:rPr>
              <a:t>想定した高い有用性が見込めなくなった場合も取消し
</a:t>
            </a:r>
            <a:pPr indent="0" marL="0">
              <a:lnSpc>
                <a:spcPct val="120000"/>
              </a:lnSpc>
              <a:buNone/>
            </a:pPr>
            <a:r>
              <a:rPr lang="en-US" sz="1100" dirty="0">
                <a:solidFill>
                  <a:srgbClr val="5A5F6A"/>
                </a:solidFill>
                <a:latin typeface="Yu Gothic" pitchFamily="34" charset="0"/>
                <a:ea typeface="Yu Gothic" pitchFamily="34" charset="-122"/>
                <a:cs typeface="Yu Gothic" pitchFamily="34" charset="-120"/>
              </a:rPr>
              <a:t>指定は「予約」であって既得権ではない</a:t>
            </a:r>
            <a:endParaRPr lang="en-US" sz="1300" dirty="0"/>
          </a:p>
        </p:txBody>
      </p:sp>
      <p:sp>
        <p:nvSpPr>
          <p:cNvPr id="14" name="Shape 12"/>
          <p:cNvSpPr/>
          <p:nvPr/>
        </p:nvSpPr>
        <p:spPr>
          <a:xfrm>
            <a:off x="548640" y="4892040"/>
            <a:ext cx="11064240" cy="1463040"/>
          </a:xfrm>
          <a:prstGeom prst="roundRect">
            <a:avLst>
              <a:gd name="adj" fmla="val 3750"/>
            </a:avLst>
          </a:prstGeom>
          <a:solidFill>
            <a:srgbClr val="F5F3EA"/>
          </a:solidFill>
          <a:ln w="9525">
            <a:solidFill>
              <a:srgbClr val="E0DBC8"/>
            </a:solidFill>
            <a:prstDash val="solid"/>
          </a:ln>
        </p:spPr>
      </p:sp>
      <p:sp>
        <p:nvSpPr>
          <p:cNvPr id="15" name="Text 13"/>
          <p:cNvSpPr txBox="1"/>
          <p:nvPr/>
        </p:nvSpPr>
        <p:spPr>
          <a:xfrm>
            <a:off x="777240" y="5020056"/>
            <a:ext cx="2011680" cy="256032"/>
          </a:xfrm>
          <a:prstGeom prst="rect">
            <a:avLst/>
          </a:prstGeom>
          <a:noFill/>
          <a:ln/>
        </p:spPr>
        <p:txBody>
          <a:bodyPr wrap="square" lIns="0" tIns="0" rIns="0" bIns="0" rtlCol="0" anchor="ctr"/>
          <a:lstStyle/>
          <a:p>
            <a:pPr indent="0" marL="0">
              <a:buNone/>
            </a:pPr>
            <a:r>
              <a:rPr lang="en-US" sz="1000" b="1" spc="200" kern="0" dirty="0">
                <a:solidFill>
                  <a:srgbClr val="8A7B4E"/>
                </a:solidFill>
                <a:latin typeface="Yu Gothic" pitchFamily="34" charset="0"/>
                <a:ea typeface="Yu Gothic" pitchFamily="34" charset="-122"/>
                <a:cs typeface="Yu Gothic" pitchFamily="34" charset="-120"/>
              </a:rPr>
              <a:t>原 文 抜 粋</a:t>
            </a:r>
            <a:endParaRPr lang="en-US" sz="1000" dirty="0"/>
          </a:p>
        </p:txBody>
      </p:sp>
      <p:sp>
        <p:nvSpPr>
          <p:cNvPr id="16" name="Text 14"/>
          <p:cNvSpPr txBox="1"/>
          <p:nvPr/>
        </p:nvSpPr>
        <p:spPr>
          <a:xfrm>
            <a:off x="777240" y="5294376"/>
            <a:ext cx="10607040" cy="685800"/>
          </a:xfrm>
          <a:prstGeom prst="rect">
            <a:avLst/>
          </a:prstGeom>
          <a:noFill/>
          <a:ln/>
        </p:spPr>
        <p:txBody>
          <a:bodyPr wrap="square" lIns="0" tIns="0" rIns="0" bIns="0" rtlCol="0" anchor="t"/>
          <a:lstStyle/>
          <a:p>
            <a:pPr indent="0" marL="0">
              <a:lnSpc>
                <a:spcPct val="125000"/>
              </a:lnSpc>
              <a:buNone/>
            </a:pPr>
            <a:r>
              <a:rPr lang="en-US" sz="1150" dirty="0">
                <a:solidFill>
                  <a:srgbClr val="22252B"/>
                </a:solidFill>
                <a:latin typeface="Yu Mincho" pitchFamily="34" charset="0"/>
                <a:ea typeface="Yu Mincho" pitchFamily="34" charset="-122"/>
                <a:cs typeface="Yu Mincho" pitchFamily="34" charset="-120"/>
              </a:rPr>
              <a:t>・指定後に</a:t>
            </a:r>
            <a:pPr indent="0" marL="0">
              <a:lnSpc>
                <a:spcPct val="125000"/>
              </a:lnSpc>
              <a:buNone/>
            </a:pPr>
            <a:r>
              <a:rPr lang="en-US" sz="1150" b="1" dirty="0">
                <a:solidFill>
                  <a:srgbClr val="B3383E"/>
                </a:solidFill>
                <a:latin typeface="Yu Mincho" pitchFamily="34" charset="0"/>
                <a:ea typeface="Yu Mincho" pitchFamily="34" charset="-122"/>
                <a:cs typeface="Yu Mincho" pitchFamily="34" charset="-120"/>
              </a:rPr>
              <a:t>有効性又は安全性に係る大幅なプログラムの変更</a:t>
            </a:r>
            <a:pPr indent="0" marL="0">
              <a:lnSpc>
                <a:spcPct val="125000"/>
              </a:lnSpc>
              <a:buNone/>
            </a:pPr>
            <a:r>
              <a:rPr lang="en-US" sz="1150" dirty="0">
                <a:solidFill>
                  <a:srgbClr val="22252B"/>
                </a:solidFill>
                <a:latin typeface="Yu Mincho" pitchFamily="34" charset="0"/>
                <a:ea typeface="Yu Mincho" pitchFamily="34" charset="-122"/>
                <a:cs typeface="Yu Mincho" pitchFamily="34" charset="-120"/>
              </a:rPr>
              <a:t>を行った、又は、プログラムの変更が必要であることが明確になった場合。</a:t>
            </a:r>
            <a:endParaRPr lang="en-US" sz="1150" dirty="0"/>
          </a:p>
          <a:p>
            <a:pPr indent="0" marL="0">
              <a:lnSpc>
                <a:spcPct val="125000"/>
              </a:lnSpc>
              <a:buNone/>
            </a:pPr>
            <a:r>
              <a:rPr lang="en-US" sz="1150" dirty="0">
                <a:solidFill>
                  <a:srgbClr val="22252B"/>
                </a:solidFill>
                <a:latin typeface="Yu Mincho" pitchFamily="34" charset="0"/>
                <a:ea typeface="Yu Mincho" pitchFamily="34" charset="-122"/>
                <a:cs typeface="Yu Mincho" pitchFamily="34" charset="-120"/>
              </a:rPr>
              <a:t>・</a:t>
            </a:r>
            <a:pPr indent="0" marL="0">
              <a:lnSpc>
                <a:spcPct val="125000"/>
              </a:lnSpc>
              <a:buNone/>
            </a:pPr>
            <a:r>
              <a:rPr lang="en-US" sz="1150" b="1" dirty="0">
                <a:solidFill>
                  <a:srgbClr val="B3383E"/>
                </a:solidFill>
                <a:latin typeface="Yu Mincho" pitchFamily="34" charset="0"/>
                <a:ea typeface="Yu Mincho" pitchFamily="34" charset="-122"/>
                <a:cs typeface="Yu Mincho" pitchFamily="34" charset="-120"/>
              </a:rPr>
              <a:t>リバランス通知や二段階承認通知を利用した開発方針について医療機器審査管理課や総合機構と相談した場合</a:t>
            </a:r>
            <a:pPr indent="0" marL="0">
              <a:lnSpc>
                <a:spcPct val="125000"/>
              </a:lnSpc>
              <a:buNone/>
            </a:pPr>
            <a:r>
              <a:rPr lang="en-US" sz="1150" dirty="0">
                <a:solidFill>
                  <a:srgbClr val="22252B"/>
                </a:solidFill>
                <a:latin typeface="Yu Mincho" pitchFamily="34" charset="0"/>
                <a:ea typeface="Yu Mincho" pitchFamily="34" charset="-122"/>
                <a:cs typeface="Yu Mincho" pitchFamily="34" charset="-120"/>
              </a:rPr>
              <a:t>。</a:t>
            </a:r>
            <a:endParaRPr lang="en-US" sz="1150" dirty="0"/>
          </a:p>
        </p:txBody>
      </p:sp>
      <p:sp>
        <p:nvSpPr>
          <p:cNvPr id="17" name="Text 15"/>
          <p:cNvSpPr txBox="1"/>
          <p:nvPr/>
        </p:nvSpPr>
        <p:spPr>
          <a:xfrm>
            <a:off x="777240" y="5989320"/>
            <a:ext cx="10607040" cy="274320"/>
          </a:xfrm>
          <a:prstGeom prst="rect">
            <a:avLst/>
          </a:prstGeom>
          <a:noFill/>
          <a:ln/>
        </p:spPr>
        <p:txBody>
          <a:bodyPr wrap="square" lIns="0" tIns="0" rIns="0" bIns="0" rtlCol="0" anchor="ctr"/>
          <a:lstStyle/>
          <a:p>
            <a:pPr algn="r" indent="0" marL="0">
              <a:buNone/>
            </a:pPr>
            <a:r>
              <a:rPr lang="en-US" sz="950" dirty="0">
                <a:solidFill>
                  <a:srgbClr val="5A5F6A"/>
                </a:solidFill>
                <a:latin typeface="Yu Gothic" pitchFamily="34" charset="0"/>
                <a:ea typeface="Yu Gothic" pitchFamily="34" charset="-122"/>
                <a:cs typeface="Yu Gothic" pitchFamily="34" charset="-120"/>
              </a:rPr>
              <a:t>— 通知 5. 指定の取消し（抜粋）</a:t>
            </a:r>
            <a:endParaRPr lang="en-US" sz="950" dirty="0"/>
          </a:p>
        </p:txBody>
      </p:sp>
      <p:sp>
        <p:nvSpPr>
          <p:cNvPr id="18" name="Text 16"/>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6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本日決めたいこと（意思決定4項目）</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Shape 3"/>
          <p:cNvSpPr/>
          <p:nvPr/>
        </p:nvSpPr>
        <p:spPr>
          <a:xfrm>
            <a:off x="548640" y="1645920"/>
            <a:ext cx="5440680" cy="2148840"/>
          </a:xfrm>
          <a:prstGeom prst="roundRect">
            <a:avLst>
              <a:gd name="adj" fmla="val 2979"/>
            </a:avLst>
          </a:prstGeom>
          <a:solidFill>
            <a:srgbClr val="FFFFFF"/>
          </a:solidFill>
          <a:ln w="15875">
            <a:solidFill>
              <a:srgbClr val="22456E"/>
            </a:solidFill>
            <a:prstDash val="solid"/>
          </a:ln>
        </p:spPr>
      </p:sp>
      <p:sp>
        <p:nvSpPr>
          <p:cNvPr id="6" name="Shape 4"/>
          <p:cNvSpPr/>
          <p:nvPr/>
        </p:nvSpPr>
        <p:spPr>
          <a:xfrm>
            <a:off x="777240" y="1874520"/>
            <a:ext cx="384048" cy="384048"/>
          </a:xfrm>
          <a:prstGeom prst="ellipse">
            <a:avLst/>
          </a:prstGeom>
          <a:solidFill>
            <a:srgbClr val="22456E"/>
          </a:solidFill>
          <a:ln/>
        </p:spPr>
      </p:sp>
      <p:sp>
        <p:nvSpPr>
          <p:cNvPr id="7" name="Text 5"/>
          <p:cNvSpPr txBox="1"/>
          <p:nvPr/>
        </p:nvSpPr>
        <p:spPr>
          <a:xfrm>
            <a:off x="777240" y="1865376"/>
            <a:ext cx="384048"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1</a:t>
            </a:r>
            <a:endParaRPr lang="en-US" sz="1600" dirty="0"/>
          </a:p>
        </p:txBody>
      </p:sp>
      <p:sp>
        <p:nvSpPr>
          <p:cNvPr id="8" name="Text 6"/>
          <p:cNvSpPr txBox="1"/>
          <p:nvPr/>
        </p:nvSpPr>
        <p:spPr>
          <a:xfrm>
            <a:off x="1325880" y="1865376"/>
            <a:ext cx="4480560" cy="411480"/>
          </a:xfrm>
          <a:prstGeom prst="rect">
            <a:avLst/>
          </a:prstGeom>
          <a:noFill/>
          <a:ln/>
        </p:spPr>
        <p:txBody>
          <a:bodyPr wrap="square" lIns="0" tIns="0" rIns="0" bIns="0" rtlCol="0" anchor="ctr"/>
          <a:lstStyle/>
          <a:p>
            <a:pPr indent="0" marL="0">
              <a:buNone/>
            </a:pPr>
            <a:r>
              <a:rPr lang="en-US" sz="1600" b="1" dirty="0">
                <a:solidFill>
                  <a:srgbClr val="22456E"/>
                </a:solidFill>
                <a:latin typeface="Yu Mincho" pitchFamily="34" charset="0"/>
                <a:ea typeface="Yu Mincho" pitchFamily="34" charset="-122"/>
                <a:cs typeface="Yu Mincho" pitchFamily="34" charset="-120"/>
              </a:rPr>
              <a:t>適応の選択</a:t>
            </a:r>
            <a:endParaRPr lang="en-US" sz="1600" dirty="0"/>
          </a:p>
        </p:txBody>
      </p:sp>
      <p:sp>
        <p:nvSpPr>
          <p:cNvPr id="9" name="Text 7"/>
          <p:cNvSpPr txBox="1"/>
          <p:nvPr/>
        </p:nvSpPr>
        <p:spPr>
          <a:xfrm>
            <a:off x="822960" y="2395728"/>
            <a:ext cx="4937760" cy="566928"/>
          </a:xfrm>
          <a:prstGeom prst="rect">
            <a:avLst/>
          </a:prstGeom>
          <a:noFill/>
          <a:ln/>
        </p:spPr>
        <p:txBody>
          <a:bodyPr wrap="square" lIns="0" tIns="0" rIns="0" bIns="0" rtlCol="0" anchor="t"/>
          <a:lstStyle/>
          <a:p>
            <a:pPr indent="0" marL="0">
              <a:lnSpc>
                <a:spcPct val="120000"/>
              </a:lnSpc>
              <a:buNone/>
            </a:pPr>
            <a:r>
              <a:rPr lang="en-US" sz="1200" b="1" dirty="0">
                <a:solidFill>
                  <a:srgbClr val="22252B"/>
                </a:solidFill>
                <a:latin typeface="Yu Gothic" pitchFamily="34" charset="0"/>
                <a:ea typeface="Yu Gothic" pitchFamily="34" charset="-122"/>
                <a:cs typeface="Yu Gothic" pitchFamily="34" charset="-120"/>
              </a:rPr>
              <a:t>高齢者「口腔機能低下症」か、小児「口腔機能発達不全症」か</a:t>
            </a:r>
            <a:endParaRPr lang="en-US" sz="1200" dirty="0"/>
          </a:p>
        </p:txBody>
      </p:sp>
      <p:sp>
        <p:nvSpPr>
          <p:cNvPr id="10" name="Text 8"/>
          <p:cNvSpPr txBox="1"/>
          <p:nvPr/>
        </p:nvSpPr>
        <p:spPr>
          <a:xfrm>
            <a:off x="822960" y="2980944"/>
            <a:ext cx="4937760" cy="749808"/>
          </a:xfrm>
          <a:prstGeom prst="rect">
            <a:avLst/>
          </a:prstGeom>
          <a:noFill/>
          <a:ln/>
        </p:spPr>
        <p:txBody>
          <a:bodyPr wrap="square" lIns="0" tIns="0" rIns="0" bIns="0" rtlCol="0" anchor="t"/>
          <a:lstStyle/>
          <a:p>
            <a:pPr indent="0" marL="0">
              <a:lnSpc>
                <a:spcPct val="125000"/>
              </a:lnSpc>
              <a:buNone/>
            </a:pPr>
            <a:r>
              <a:rPr lang="en-US" sz="1050" dirty="0">
                <a:solidFill>
                  <a:srgbClr val="5A5F6A"/>
                </a:solidFill>
                <a:latin typeface="Yu Gothic" pitchFamily="34" charset="0"/>
                <a:ea typeface="Yu Gothic" pitchFamily="34" charset="-122"/>
                <a:cs typeface="Yu Gothic" pitchFamily="34" charset="-120"/>
              </a:rPr>
              <a:t>高齢者はODK等の客観指標が確立しエンドポイント設定が容易。小児はゲーム化の強みが活きるが、成長発達との切り分けで対照群設計がシビア</a:t>
            </a:r>
            <a:endParaRPr lang="en-US" sz="1050" dirty="0"/>
          </a:p>
        </p:txBody>
      </p:sp>
      <p:sp>
        <p:nvSpPr>
          <p:cNvPr id="11" name="Shape 9"/>
          <p:cNvSpPr/>
          <p:nvPr/>
        </p:nvSpPr>
        <p:spPr>
          <a:xfrm>
            <a:off x="6263640" y="1645920"/>
            <a:ext cx="5440680" cy="2148840"/>
          </a:xfrm>
          <a:prstGeom prst="roundRect">
            <a:avLst>
              <a:gd name="adj" fmla="val 2979"/>
            </a:avLst>
          </a:prstGeom>
          <a:solidFill>
            <a:srgbClr val="FFFFFF"/>
          </a:solidFill>
          <a:ln w="15875">
            <a:solidFill>
              <a:srgbClr val="22456E"/>
            </a:solidFill>
            <a:prstDash val="solid"/>
          </a:ln>
        </p:spPr>
      </p:sp>
      <p:sp>
        <p:nvSpPr>
          <p:cNvPr id="12" name="Shape 10"/>
          <p:cNvSpPr/>
          <p:nvPr/>
        </p:nvSpPr>
        <p:spPr>
          <a:xfrm>
            <a:off x="6492240" y="1874520"/>
            <a:ext cx="384048" cy="384048"/>
          </a:xfrm>
          <a:prstGeom prst="ellipse">
            <a:avLst/>
          </a:prstGeom>
          <a:solidFill>
            <a:srgbClr val="22456E"/>
          </a:solidFill>
          <a:ln/>
        </p:spPr>
      </p:sp>
      <p:sp>
        <p:nvSpPr>
          <p:cNvPr id="13" name="Text 11"/>
          <p:cNvSpPr txBox="1"/>
          <p:nvPr/>
        </p:nvSpPr>
        <p:spPr>
          <a:xfrm>
            <a:off x="6492240" y="1865376"/>
            <a:ext cx="384048"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2</a:t>
            </a:r>
            <a:endParaRPr lang="en-US" sz="1600" dirty="0"/>
          </a:p>
        </p:txBody>
      </p:sp>
      <p:sp>
        <p:nvSpPr>
          <p:cNvPr id="14" name="Text 12"/>
          <p:cNvSpPr txBox="1"/>
          <p:nvPr/>
        </p:nvSpPr>
        <p:spPr>
          <a:xfrm>
            <a:off x="7040880" y="1865376"/>
            <a:ext cx="4480560" cy="411480"/>
          </a:xfrm>
          <a:prstGeom prst="rect">
            <a:avLst/>
          </a:prstGeom>
          <a:noFill/>
          <a:ln/>
        </p:spPr>
        <p:txBody>
          <a:bodyPr wrap="square" lIns="0" tIns="0" rIns="0" bIns="0" rtlCol="0" anchor="ctr"/>
          <a:lstStyle/>
          <a:p>
            <a:pPr indent="0" marL="0">
              <a:buNone/>
            </a:pPr>
            <a:r>
              <a:rPr lang="en-US" sz="1600" b="1" dirty="0">
                <a:solidFill>
                  <a:srgbClr val="22456E"/>
                </a:solidFill>
                <a:latin typeface="Yu Mincho" pitchFamily="34" charset="0"/>
                <a:ea typeface="Yu Mincho" pitchFamily="34" charset="-122"/>
                <a:cs typeface="Yu Mincho" pitchFamily="34" charset="-120"/>
              </a:rPr>
              <a:t>機能定義</a:t>
            </a:r>
            <a:endParaRPr lang="en-US" sz="1600" dirty="0"/>
          </a:p>
        </p:txBody>
      </p:sp>
      <p:sp>
        <p:nvSpPr>
          <p:cNvPr id="15" name="Text 13"/>
          <p:cNvSpPr txBox="1"/>
          <p:nvPr/>
        </p:nvSpPr>
        <p:spPr>
          <a:xfrm>
            <a:off x="6537960" y="2395728"/>
            <a:ext cx="4937760" cy="566928"/>
          </a:xfrm>
          <a:prstGeom prst="rect">
            <a:avLst/>
          </a:prstGeom>
          <a:noFill/>
          <a:ln/>
        </p:spPr>
        <p:txBody>
          <a:bodyPr wrap="square" lIns="0" tIns="0" rIns="0" bIns="0" rtlCol="0" anchor="t"/>
          <a:lstStyle/>
          <a:p>
            <a:pPr indent="0" marL="0">
              <a:lnSpc>
                <a:spcPct val="120000"/>
              </a:lnSpc>
              <a:buNone/>
            </a:pPr>
            <a:r>
              <a:rPr lang="en-US" sz="1200" b="1" dirty="0">
                <a:solidFill>
                  <a:srgbClr val="22252B"/>
                </a:solidFill>
                <a:latin typeface="Yu Gothic" pitchFamily="34" charset="0"/>
                <a:ea typeface="Yu Gothic" pitchFamily="34" charset="-122"/>
                <a:cs typeface="Yu Gothic" pitchFamily="34" charset="-120"/>
              </a:rPr>
              <a:t>ルートA（治療特化・判定はゲームスコア扱い）か、ルートB（検査・治療一体型）か</a:t>
            </a:r>
            <a:endParaRPr lang="en-US" sz="1200" dirty="0"/>
          </a:p>
        </p:txBody>
      </p:sp>
      <p:sp>
        <p:nvSpPr>
          <p:cNvPr id="16" name="Text 14"/>
          <p:cNvSpPr txBox="1"/>
          <p:nvPr/>
        </p:nvSpPr>
        <p:spPr>
          <a:xfrm>
            <a:off x="6537960" y="2980944"/>
            <a:ext cx="4937760" cy="749808"/>
          </a:xfrm>
          <a:prstGeom prst="rect">
            <a:avLst/>
          </a:prstGeom>
          <a:noFill/>
          <a:ln/>
        </p:spPr>
        <p:txBody>
          <a:bodyPr wrap="square" lIns="0" tIns="0" rIns="0" bIns="0" rtlCol="0" anchor="t"/>
          <a:lstStyle/>
          <a:p>
            <a:pPr indent="0" marL="0">
              <a:lnSpc>
                <a:spcPct val="125000"/>
              </a:lnSpc>
              <a:buNone/>
            </a:pPr>
            <a:r>
              <a:rPr lang="en-US" sz="1050" dirty="0">
                <a:solidFill>
                  <a:srgbClr val="5A5F6A"/>
                </a:solidFill>
                <a:latin typeface="Yu Gothic" pitchFamily="34" charset="0"/>
                <a:ea typeface="Yu Gothic" pitchFamily="34" charset="-122"/>
                <a:cs typeface="Yu Gothic" pitchFamily="34" charset="-120"/>
              </a:rPr>
              <a:t>社内検討の推奨はルートA。ただし現行アプリが「滑舌検査」を名乗る点との整合（医療機器版での検査訴求の扱い）を要整理</a:t>
            </a:r>
            <a:endParaRPr lang="en-US" sz="1050" dirty="0"/>
          </a:p>
        </p:txBody>
      </p:sp>
      <p:sp>
        <p:nvSpPr>
          <p:cNvPr id="17" name="Shape 15"/>
          <p:cNvSpPr/>
          <p:nvPr/>
        </p:nvSpPr>
        <p:spPr>
          <a:xfrm>
            <a:off x="548640" y="3977640"/>
            <a:ext cx="5440680" cy="2148840"/>
          </a:xfrm>
          <a:prstGeom prst="roundRect">
            <a:avLst>
              <a:gd name="adj" fmla="val 2979"/>
            </a:avLst>
          </a:prstGeom>
          <a:solidFill>
            <a:srgbClr val="FFFFFF"/>
          </a:solidFill>
          <a:ln w="15875">
            <a:solidFill>
              <a:srgbClr val="22456E"/>
            </a:solidFill>
            <a:prstDash val="solid"/>
          </a:ln>
        </p:spPr>
      </p:sp>
      <p:sp>
        <p:nvSpPr>
          <p:cNvPr id="18" name="Shape 16"/>
          <p:cNvSpPr/>
          <p:nvPr/>
        </p:nvSpPr>
        <p:spPr>
          <a:xfrm>
            <a:off x="777240" y="4206240"/>
            <a:ext cx="384048" cy="384048"/>
          </a:xfrm>
          <a:prstGeom prst="ellipse">
            <a:avLst/>
          </a:prstGeom>
          <a:solidFill>
            <a:srgbClr val="22456E"/>
          </a:solidFill>
          <a:ln/>
        </p:spPr>
      </p:sp>
      <p:sp>
        <p:nvSpPr>
          <p:cNvPr id="19" name="Text 17"/>
          <p:cNvSpPr txBox="1"/>
          <p:nvPr/>
        </p:nvSpPr>
        <p:spPr>
          <a:xfrm>
            <a:off x="777240" y="4197096"/>
            <a:ext cx="384048"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3</a:t>
            </a:r>
            <a:endParaRPr lang="en-US" sz="1600" dirty="0"/>
          </a:p>
        </p:txBody>
      </p:sp>
      <p:sp>
        <p:nvSpPr>
          <p:cNvPr id="20" name="Text 18"/>
          <p:cNvSpPr txBox="1"/>
          <p:nvPr/>
        </p:nvSpPr>
        <p:spPr>
          <a:xfrm>
            <a:off x="1325880" y="4197096"/>
            <a:ext cx="4480560" cy="411480"/>
          </a:xfrm>
          <a:prstGeom prst="rect">
            <a:avLst/>
          </a:prstGeom>
          <a:noFill/>
          <a:ln/>
        </p:spPr>
        <p:txBody>
          <a:bodyPr wrap="square" lIns="0" tIns="0" rIns="0" bIns="0" rtlCol="0" anchor="ctr"/>
          <a:lstStyle/>
          <a:p>
            <a:pPr indent="0" marL="0">
              <a:buNone/>
            </a:pPr>
            <a:r>
              <a:rPr lang="en-US" sz="1600" b="1" dirty="0">
                <a:solidFill>
                  <a:srgbClr val="22456E"/>
                </a:solidFill>
                <a:latin typeface="Yu Mincho" pitchFamily="34" charset="0"/>
                <a:ea typeface="Yu Mincho" pitchFamily="34" charset="-122"/>
                <a:cs typeface="Yu Mincho" pitchFamily="34" charset="-120"/>
              </a:rPr>
              <a:t>先行臨床研究</a:t>
            </a:r>
            <a:endParaRPr lang="en-US" sz="1600" dirty="0"/>
          </a:p>
        </p:txBody>
      </p:sp>
      <p:sp>
        <p:nvSpPr>
          <p:cNvPr id="21" name="Text 19"/>
          <p:cNvSpPr txBox="1"/>
          <p:nvPr/>
        </p:nvSpPr>
        <p:spPr>
          <a:xfrm>
            <a:off x="822960" y="4727448"/>
            <a:ext cx="4937760" cy="566928"/>
          </a:xfrm>
          <a:prstGeom prst="rect">
            <a:avLst/>
          </a:prstGeom>
          <a:noFill/>
          <a:ln/>
        </p:spPr>
        <p:txBody>
          <a:bodyPr wrap="square" lIns="0" tIns="0" rIns="0" bIns="0" rtlCol="0" anchor="t"/>
          <a:lstStyle/>
          <a:p>
            <a:pPr indent="0" marL="0">
              <a:lnSpc>
                <a:spcPct val="120000"/>
              </a:lnSpc>
              <a:buNone/>
            </a:pPr>
            <a:r>
              <a:rPr lang="en-US" sz="1200" b="1" dirty="0">
                <a:solidFill>
                  <a:srgbClr val="22252B"/>
                </a:solidFill>
                <a:latin typeface="Yu Gothic" pitchFamily="34" charset="0"/>
                <a:ea typeface="Yu Gothic" pitchFamily="34" charset="-122"/>
                <a:cs typeface="Yu Gothic" pitchFamily="34" charset="-120"/>
              </a:rPr>
              <a:t>探索的臨床研究の実施方針と資金</a:t>
            </a:r>
            <a:endParaRPr lang="en-US" sz="1200" dirty="0"/>
          </a:p>
        </p:txBody>
      </p:sp>
      <p:sp>
        <p:nvSpPr>
          <p:cNvPr id="22" name="Text 20"/>
          <p:cNvSpPr txBox="1"/>
          <p:nvPr/>
        </p:nvSpPr>
        <p:spPr>
          <a:xfrm>
            <a:off x="822960" y="5312664"/>
            <a:ext cx="4937760" cy="749808"/>
          </a:xfrm>
          <a:prstGeom prst="rect">
            <a:avLst/>
          </a:prstGeom>
          <a:noFill/>
          <a:ln/>
        </p:spPr>
        <p:txBody>
          <a:bodyPr wrap="square" lIns="0" tIns="0" rIns="0" bIns="0" rtlCol="0" anchor="t"/>
          <a:lstStyle/>
          <a:p>
            <a:pPr indent="0" marL="0">
              <a:lnSpc>
                <a:spcPct val="125000"/>
              </a:lnSpc>
              <a:buNone/>
            </a:pPr>
            <a:r>
              <a:rPr lang="en-US" sz="1050" dirty="0">
                <a:solidFill>
                  <a:srgbClr val="5A5F6A"/>
                </a:solidFill>
                <a:latin typeface="Yu Gothic" pitchFamily="34" charset="0"/>
                <a:ea typeface="Yu Gothic" pitchFamily="34" charset="-122"/>
                <a:cs typeface="Yu Gothic" pitchFamily="34" charset="-120"/>
              </a:rPr>
              <a:t>AMED等の公的競争的資金への応募を含む。要件2の根拠資料になる</a:t>
            </a:r>
            <a:endParaRPr lang="en-US" sz="1050" dirty="0"/>
          </a:p>
        </p:txBody>
      </p:sp>
      <p:sp>
        <p:nvSpPr>
          <p:cNvPr id="23" name="Shape 21"/>
          <p:cNvSpPr/>
          <p:nvPr/>
        </p:nvSpPr>
        <p:spPr>
          <a:xfrm>
            <a:off x="6263640" y="3977640"/>
            <a:ext cx="5440680" cy="2148840"/>
          </a:xfrm>
          <a:prstGeom prst="roundRect">
            <a:avLst>
              <a:gd name="adj" fmla="val 2979"/>
            </a:avLst>
          </a:prstGeom>
          <a:solidFill>
            <a:srgbClr val="FFFFFF"/>
          </a:solidFill>
          <a:ln w="15875">
            <a:solidFill>
              <a:srgbClr val="22456E"/>
            </a:solidFill>
            <a:prstDash val="solid"/>
          </a:ln>
        </p:spPr>
      </p:sp>
      <p:sp>
        <p:nvSpPr>
          <p:cNvPr id="24" name="Shape 22"/>
          <p:cNvSpPr/>
          <p:nvPr/>
        </p:nvSpPr>
        <p:spPr>
          <a:xfrm>
            <a:off x="6492240" y="4206240"/>
            <a:ext cx="384048" cy="384048"/>
          </a:xfrm>
          <a:prstGeom prst="ellipse">
            <a:avLst/>
          </a:prstGeom>
          <a:solidFill>
            <a:srgbClr val="22456E"/>
          </a:solidFill>
          <a:ln/>
        </p:spPr>
      </p:sp>
      <p:sp>
        <p:nvSpPr>
          <p:cNvPr id="25" name="Text 23"/>
          <p:cNvSpPr txBox="1"/>
          <p:nvPr/>
        </p:nvSpPr>
        <p:spPr>
          <a:xfrm>
            <a:off x="6492240" y="4197096"/>
            <a:ext cx="384048"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4</a:t>
            </a:r>
            <a:endParaRPr lang="en-US" sz="1600" dirty="0"/>
          </a:p>
        </p:txBody>
      </p:sp>
      <p:sp>
        <p:nvSpPr>
          <p:cNvPr id="26" name="Text 24"/>
          <p:cNvSpPr txBox="1"/>
          <p:nvPr/>
        </p:nvSpPr>
        <p:spPr>
          <a:xfrm>
            <a:off x="7040880" y="4197096"/>
            <a:ext cx="4480560" cy="411480"/>
          </a:xfrm>
          <a:prstGeom prst="rect">
            <a:avLst/>
          </a:prstGeom>
          <a:noFill/>
          <a:ln/>
        </p:spPr>
        <p:txBody>
          <a:bodyPr wrap="square" lIns="0" tIns="0" rIns="0" bIns="0" rtlCol="0" anchor="ctr"/>
          <a:lstStyle/>
          <a:p>
            <a:pPr indent="0" marL="0">
              <a:buNone/>
            </a:pPr>
            <a:r>
              <a:rPr lang="en-US" sz="1600" b="1" dirty="0">
                <a:solidFill>
                  <a:srgbClr val="22456E"/>
                </a:solidFill>
                <a:latin typeface="Yu Mincho" pitchFamily="34" charset="0"/>
                <a:ea typeface="Yu Mincho" pitchFamily="34" charset="-122"/>
                <a:cs typeface="Yu Mincho" pitchFamily="34" charset="-120"/>
              </a:rPr>
              <a:t>ルートのコミット時期</a:t>
            </a:r>
            <a:endParaRPr lang="en-US" sz="1600" dirty="0"/>
          </a:p>
        </p:txBody>
      </p:sp>
      <p:sp>
        <p:nvSpPr>
          <p:cNvPr id="27" name="Text 25"/>
          <p:cNvSpPr txBox="1"/>
          <p:nvPr/>
        </p:nvSpPr>
        <p:spPr>
          <a:xfrm>
            <a:off x="6537960" y="4727448"/>
            <a:ext cx="4937760" cy="566928"/>
          </a:xfrm>
          <a:prstGeom prst="rect">
            <a:avLst/>
          </a:prstGeom>
          <a:noFill/>
          <a:ln/>
        </p:spPr>
        <p:txBody>
          <a:bodyPr wrap="square" lIns="0" tIns="0" rIns="0" bIns="0" rtlCol="0" anchor="t"/>
          <a:lstStyle/>
          <a:p>
            <a:pPr indent="0" marL="0">
              <a:lnSpc>
                <a:spcPct val="120000"/>
              </a:lnSpc>
              <a:buNone/>
            </a:pPr>
            <a:r>
              <a:rPr lang="en-US" sz="1200" b="1" dirty="0">
                <a:solidFill>
                  <a:srgbClr val="22252B"/>
                </a:solidFill>
                <a:latin typeface="Yu Gothic" pitchFamily="34" charset="0"/>
                <a:ea typeface="Yu Gothic" pitchFamily="34" charset="-122"/>
                <a:cs typeface="Yu Gothic" pitchFamily="34" charset="-120"/>
              </a:rPr>
              <a:t>優先審査指定と二段階承認の両にらみを、いつ・何の情報で確定するか</a:t>
            </a:r>
            <a:endParaRPr lang="en-US" sz="1200" dirty="0"/>
          </a:p>
        </p:txBody>
      </p:sp>
      <p:sp>
        <p:nvSpPr>
          <p:cNvPr id="28" name="Text 26"/>
          <p:cNvSpPr txBox="1"/>
          <p:nvPr/>
        </p:nvSpPr>
        <p:spPr>
          <a:xfrm>
            <a:off x="6537960" y="5312664"/>
            <a:ext cx="4937760" cy="749808"/>
          </a:xfrm>
          <a:prstGeom prst="rect">
            <a:avLst/>
          </a:prstGeom>
          <a:noFill/>
          <a:ln/>
        </p:spPr>
        <p:txBody>
          <a:bodyPr wrap="square" lIns="0" tIns="0" rIns="0" bIns="0" rtlCol="0" anchor="t"/>
          <a:lstStyle/>
          <a:p>
            <a:pPr indent="0" marL="0">
              <a:lnSpc>
                <a:spcPct val="125000"/>
              </a:lnSpc>
              <a:buNone/>
            </a:pPr>
            <a:r>
              <a:rPr lang="en-US" sz="1050" dirty="0">
                <a:solidFill>
                  <a:srgbClr val="5A5F6A"/>
                </a:solidFill>
                <a:latin typeface="Yu Gothic" pitchFamily="34" charset="0"/>
                <a:ea typeface="Yu Gothic" pitchFamily="34" charset="-122"/>
                <a:cs typeface="Yu Gothic" pitchFamily="34" charset="-120"/>
              </a:rPr>
              <a:t>指定後の二段階相談は取消し事由のため、確定前に相談ルートを整理</a:t>
            </a:r>
            <a:endParaRPr lang="en-US" sz="1050" dirty="0"/>
          </a:p>
        </p:txBody>
      </p:sp>
      <p:sp>
        <p:nvSpPr>
          <p:cNvPr id="29" name="Text 27"/>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6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準備タスク — 担当・期限を割り当てる</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6035040"/>
                <a:gridCol w="2286000"/>
                <a:gridCol w="1371600"/>
                <a:gridCol w="1371600"/>
              </a:tblGrid>
              <a:tr h="411480">
                <a:tc>
                  <a:txBody>
                    <a:bodyPr/>
                    <a:lstStyle/>
                    <a:p>
                      <a:pPr indent="0" marL="0">
                        <a:buNone/>
                      </a:pPr>
                      <a:r>
                        <a:rPr lang="en-US" sz="1200" b="1" dirty="0">
                          <a:solidFill>
                            <a:srgbClr val="22252B"/>
                          </a:solidFill>
                          <a:latin typeface="Yu Gothic" pitchFamily="34" charset="0"/>
                          <a:ea typeface="Yu Gothic" pitchFamily="34" charset="-122"/>
                          <a:cs typeface="Yu Gothic" pitchFamily="34" charset="-120"/>
                        </a:rPr>
                        <a:t>タスク</a:t>
                      </a:r>
                      <a:endParaRPr lang="en-US" sz="1200" dirty="0">
                        <a:latin typeface="Yu Gothic" charset="0"/>
                        <a:ea typeface="Yu Gothic" charset="0"/>
                        <a:cs typeface="Yu Gothic" charset="0"/>
                      </a:endParaRPr>
                    </a:p>
                  </a:txBody>
                  <a:tcPr marL="91440" marR="91440" marT="54864" marB="54864"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200" b="1" dirty="0">
                          <a:solidFill>
                            <a:srgbClr val="22252B"/>
                          </a:solidFill>
                          <a:latin typeface="Yu Gothic" pitchFamily="34" charset="0"/>
                          <a:ea typeface="Yu Gothic" pitchFamily="34" charset="-122"/>
                          <a:cs typeface="Yu Gothic" pitchFamily="34" charset="-120"/>
                        </a:rPr>
                        <a:t>成果物</a:t>
                      </a:r>
                      <a:endParaRPr lang="en-US" sz="1200" dirty="0">
                        <a:latin typeface="Yu Gothic" charset="0"/>
                        <a:ea typeface="Yu Gothic" charset="0"/>
                        <a:cs typeface="Yu Gothic" charset="0"/>
                      </a:endParaRPr>
                    </a:p>
                  </a:txBody>
                  <a:tcPr marL="91440" marR="91440" marT="54864" marB="54864"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200" b="1" dirty="0">
                          <a:solidFill>
                            <a:srgbClr val="22252B"/>
                          </a:solidFill>
                          <a:latin typeface="Yu Gothic" pitchFamily="34" charset="0"/>
                          <a:ea typeface="Yu Gothic" pitchFamily="34" charset="-122"/>
                          <a:cs typeface="Yu Gothic" pitchFamily="34" charset="-120"/>
                        </a:rPr>
                        <a:t>担当</a:t>
                      </a:r>
                      <a:endParaRPr lang="en-US" sz="1200" dirty="0">
                        <a:latin typeface="Yu Gothic" charset="0"/>
                        <a:ea typeface="Yu Gothic" charset="0"/>
                        <a:cs typeface="Yu Gothic" charset="0"/>
                      </a:endParaRPr>
                    </a:p>
                  </a:txBody>
                  <a:tcPr marL="91440" marR="91440" marT="54864" marB="54864"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200" b="1" dirty="0">
                          <a:solidFill>
                            <a:srgbClr val="22252B"/>
                          </a:solidFill>
                          <a:latin typeface="Yu Gothic" pitchFamily="34" charset="0"/>
                          <a:ea typeface="Yu Gothic" pitchFamily="34" charset="-122"/>
                          <a:cs typeface="Yu Gothic" pitchFamily="34" charset="-120"/>
                        </a:rPr>
                        <a:t>期限</a:t>
                      </a:r>
                      <a:endParaRPr lang="en-US" sz="1200" dirty="0">
                        <a:latin typeface="Yu Gothic" charset="0"/>
                        <a:ea typeface="Yu Gothic" charset="0"/>
                        <a:cs typeface="Yu Gothic" charset="0"/>
                      </a:endParaRPr>
                    </a:p>
                  </a:txBody>
                  <a:tcPr marL="91440" marR="91440" marT="54864" marB="54864"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r>
              <a:tr h="685800">
                <a:tc>
                  <a:txBody>
                    <a:bodyPr/>
                    <a:lstStyle/>
                    <a:p>
                      <a:pPr indent="0" marL="0">
                        <a:buNone/>
                      </a:pPr>
                      <a:r>
                        <a:rPr lang="en-US" sz="1200" dirty="0">
                          <a:solidFill>
                            <a:srgbClr val="22252B"/>
                          </a:solidFill>
                          <a:latin typeface="Yu Gothic" pitchFamily="34" charset="0"/>
                          <a:ea typeface="Yu Gothic" pitchFamily="34" charset="-122"/>
                          <a:cs typeface="Yu Gothic" pitchFamily="34" charset="-120"/>
                        </a:rPr>
                        <a:t>画期性の説明資料の草案（適応型アルゴリズムの独自性、特許出願状況）</a:t>
                      </a:r>
                      <a:endParaRPr lang="en-US" sz="1200" dirty="0">
                        <a:latin typeface="Yu Gothic" charset="0"/>
                        <a:ea typeface="Yu Gothic" charset="0"/>
                        <a:cs typeface="Yu Gothic" charset="0"/>
                      </a:endParaRPr>
                    </a:p>
                  </a:txBody>
                  <a:tcPr marL="91440" marR="91440" marT="54864" marB="54864"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200" dirty="0">
                          <a:solidFill>
                            <a:srgbClr val="22252B"/>
                          </a:solidFill>
                          <a:latin typeface="Yu Gothic" pitchFamily="34" charset="0"/>
                          <a:ea typeface="Yu Gothic" pitchFamily="34" charset="-122"/>
                          <a:cs typeface="Yu Gothic" pitchFamily="34" charset="-120"/>
                        </a:rPr>
                        <a:t>技術説明書ドラフト</a:t>
                      </a:r>
                      <a:endParaRPr lang="en-US" sz="1200" dirty="0">
                        <a:latin typeface="Yu Gothic" charset="0"/>
                        <a:ea typeface="Yu Gothic" charset="0"/>
                        <a:cs typeface="Yu Gothic" charset="0"/>
                      </a:endParaRPr>
                    </a:p>
                  </a:txBody>
                  <a:tcPr marL="91440" marR="91440" marT="54864" marB="54864"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c>
                  <a:txBody>
                    <a:bodyPr/>
                    <a:lstStyle/>
                    <a:p>
                      <a:pPr indent="0" marL="0">
                        <a:buNone/>
                      </a:pPr>
                      <a:endParaRPr lang="en-US" sz="1200" dirty="0">
                        <a:latin typeface="Yu Gothic" charset="0"/>
                        <a:ea typeface="Yu Gothic" charset="0"/>
                        <a:cs typeface="Yu Gothic" charset="0"/>
                      </a:endParaRPr>
                    </a:p>
                  </a:txBody>
                  <a:tcPr marL="91440" marR="91440" marT="54864" marB="54864"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c>
                  <a:txBody>
                    <a:bodyPr/>
                    <a:lstStyle/>
                    <a:p>
                      <a:pPr indent="0" marL="0">
                        <a:buNone/>
                      </a:pPr>
                      <a:endParaRPr lang="en-US" sz="1200" dirty="0">
                        <a:latin typeface="Yu Gothic" charset="0"/>
                        <a:ea typeface="Yu Gothic" charset="0"/>
                        <a:cs typeface="Yu Gothic" charset="0"/>
                      </a:endParaRPr>
                    </a:p>
                  </a:txBody>
                  <a:tcPr marL="91440" marR="91440" marT="54864" marB="54864"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r>
              <a:tr h="685800">
                <a:tc>
                  <a:txBody>
                    <a:bodyPr/>
                    <a:lstStyle/>
                    <a:p>
                      <a:pPr indent="0" marL="0">
                        <a:buNone/>
                      </a:pPr>
                      <a:r>
                        <a:rPr lang="en-US" sz="1200" dirty="0">
                          <a:solidFill>
                            <a:srgbClr val="22252B"/>
                          </a:solidFill>
                          <a:latin typeface="Yu Gothic" pitchFamily="34" charset="0"/>
                          <a:ea typeface="Yu Gothic" pitchFamily="34" charset="-122"/>
                          <a:cs typeface="Yu Gothic" pitchFamily="34" charset="-120"/>
                        </a:rPr>
                        <a:t>類似品調査（国内既承認SaMD・世界で流通する類似製品の網羅調査）</a:t>
                      </a:r>
                      <a:endParaRPr lang="en-US" sz="1200" dirty="0">
                        <a:latin typeface="Yu Gothic" charset="0"/>
                        <a:ea typeface="Yu Gothic" charset="0"/>
                        <a:cs typeface="Yu Gothic" charset="0"/>
                      </a:endParaRPr>
                    </a:p>
                  </a:txBody>
                  <a:tcPr marL="91440" marR="91440" marT="54864" marB="54864"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200" dirty="0">
                          <a:solidFill>
                            <a:srgbClr val="22252B"/>
                          </a:solidFill>
                          <a:latin typeface="Yu Gothic" pitchFamily="34" charset="0"/>
                          <a:ea typeface="Yu Gothic" pitchFamily="34" charset="-122"/>
                          <a:cs typeface="Yu Gothic" pitchFamily="34" charset="-120"/>
                        </a:rPr>
                        <a:t>調査報告書</a:t>
                      </a:r>
                      <a:endParaRPr lang="en-US" sz="1200" dirty="0">
                        <a:latin typeface="Yu Gothic" charset="0"/>
                        <a:ea typeface="Yu Gothic" charset="0"/>
                        <a:cs typeface="Yu Gothic" charset="0"/>
                      </a:endParaRPr>
                    </a:p>
                  </a:txBody>
                  <a:tcPr marL="91440" marR="91440" marT="54864" marB="54864"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c>
                  <a:txBody>
                    <a:bodyPr/>
                    <a:lstStyle/>
                    <a:p>
                      <a:pPr indent="0" marL="0">
                        <a:buNone/>
                      </a:pPr>
                      <a:endParaRPr lang="en-US" sz="1200" dirty="0">
                        <a:latin typeface="Yu Gothic" charset="0"/>
                        <a:ea typeface="Yu Gothic" charset="0"/>
                        <a:cs typeface="Yu Gothic" charset="0"/>
                      </a:endParaRPr>
                    </a:p>
                  </a:txBody>
                  <a:tcPr marL="91440" marR="91440" marT="54864" marB="54864"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c>
                  <a:txBody>
                    <a:bodyPr/>
                    <a:lstStyle/>
                    <a:p>
                      <a:pPr indent="0" marL="0">
                        <a:buNone/>
                      </a:pPr>
                      <a:endParaRPr lang="en-US" sz="1200" dirty="0">
                        <a:latin typeface="Yu Gothic" charset="0"/>
                        <a:ea typeface="Yu Gothic" charset="0"/>
                        <a:cs typeface="Yu Gothic" charset="0"/>
                      </a:endParaRPr>
                    </a:p>
                  </a:txBody>
                  <a:tcPr marL="91440" marR="91440" marT="54864" marB="54864"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r>
              <a:tr h="685800">
                <a:tc>
                  <a:txBody>
                    <a:bodyPr/>
                    <a:lstStyle/>
                    <a:p>
                      <a:pPr indent="0" marL="0">
                        <a:buNone/>
                      </a:pPr>
                      <a:r>
                        <a:rPr lang="en-US" sz="1200" dirty="0">
                          <a:solidFill>
                            <a:srgbClr val="22252B"/>
                          </a:solidFill>
                          <a:latin typeface="Yu Gothic" pitchFamily="34" charset="0"/>
                          <a:ea typeface="Yu Gothic" pitchFamily="34" charset="-122"/>
                          <a:cs typeface="Yu Gothic" pitchFamily="34" charset="-120"/>
                        </a:rPr>
                        <a:t>探索的臨床研究の計画素案（エンドポイントに使う外部指標・機器の確定を含む）</a:t>
                      </a:r>
                      <a:endParaRPr lang="en-US" sz="1200" dirty="0">
                        <a:latin typeface="Yu Gothic" charset="0"/>
                        <a:ea typeface="Yu Gothic" charset="0"/>
                        <a:cs typeface="Yu Gothic" charset="0"/>
                      </a:endParaRPr>
                    </a:p>
                  </a:txBody>
                  <a:tcPr marL="91440" marR="91440" marT="54864" marB="54864"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200" dirty="0">
                          <a:solidFill>
                            <a:srgbClr val="22252B"/>
                          </a:solidFill>
                          <a:latin typeface="Yu Gothic" pitchFamily="34" charset="0"/>
                          <a:ea typeface="Yu Gothic" pitchFamily="34" charset="-122"/>
                          <a:cs typeface="Yu Gothic" pitchFamily="34" charset="-120"/>
                        </a:rPr>
                        <a:t>研究計画概要</a:t>
                      </a:r>
                      <a:endParaRPr lang="en-US" sz="1200" dirty="0">
                        <a:latin typeface="Yu Gothic" charset="0"/>
                        <a:ea typeface="Yu Gothic" charset="0"/>
                        <a:cs typeface="Yu Gothic" charset="0"/>
                      </a:endParaRPr>
                    </a:p>
                  </a:txBody>
                  <a:tcPr marL="91440" marR="91440" marT="54864" marB="54864"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c>
                  <a:txBody>
                    <a:bodyPr/>
                    <a:lstStyle/>
                    <a:p>
                      <a:pPr indent="0" marL="0">
                        <a:buNone/>
                      </a:pPr>
                      <a:endParaRPr lang="en-US" sz="1200" dirty="0">
                        <a:latin typeface="Yu Gothic" charset="0"/>
                        <a:ea typeface="Yu Gothic" charset="0"/>
                        <a:cs typeface="Yu Gothic" charset="0"/>
                      </a:endParaRPr>
                    </a:p>
                  </a:txBody>
                  <a:tcPr marL="91440" marR="91440" marT="54864" marB="54864"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c>
                  <a:txBody>
                    <a:bodyPr/>
                    <a:lstStyle/>
                    <a:p>
                      <a:pPr indent="0" marL="0">
                        <a:buNone/>
                      </a:pPr>
                      <a:endParaRPr lang="en-US" sz="1200" dirty="0">
                        <a:latin typeface="Yu Gothic" charset="0"/>
                        <a:ea typeface="Yu Gothic" charset="0"/>
                        <a:cs typeface="Yu Gothic" charset="0"/>
                      </a:endParaRPr>
                    </a:p>
                  </a:txBody>
                  <a:tcPr marL="91440" marR="91440" marT="54864" marB="54864"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r>
              <a:tr h="685800">
                <a:tc>
                  <a:txBody>
                    <a:bodyPr/>
                    <a:lstStyle/>
                    <a:p>
                      <a:pPr indent="0" marL="0">
                        <a:buNone/>
                      </a:pPr>
                      <a:r>
                        <a:rPr lang="en-US" sz="1200" dirty="0">
                          <a:solidFill>
                            <a:srgbClr val="22252B"/>
                          </a:solidFill>
                          <a:latin typeface="Yu Gothic" pitchFamily="34" charset="0"/>
                          <a:ea typeface="Yu Gothic" pitchFamily="34" charset="-122"/>
                          <a:cs typeface="Yu Gothic" pitchFamily="34" charset="-120"/>
                        </a:rPr>
                        <a:t>様式1・別紙の入手と記載準備（厚労省サイトから様式取得）</a:t>
                      </a:r>
                      <a:endParaRPr lang="en-US" sz="1200" dirty="0">
                        <a:latin typeface="Yu Gothic" charset="0"/>
                        <a:ea typeface="Yu Gothic" charset="0"/>
                        <a:cs typeface="Yu Gothic" charset="0"/>
                      </a:endParaRPr>
                    </a:p>
                  </a:txBody>
                  <a:tcPr marL="91440" marR="91440" marT="54864" marB="54864"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200" dirty="0">
                          <a:solidFill>
                            <a:srgbClr val="22252B"/>
                          </a:solidFill>
                          <a:latin typeface="Yu Gothic" pitchFamily="34" charset="0"/>
                          <a:ea typeface="Yu Gothic" pitchFamily="34" charset="-122"/>
                          <a:cs typeface="Yu Gothic" pitchFamily="34" charset="-120"/>
                        </a:rPr>
                        <a:t>様式1ドラフト</a:t>
                      </a:r>
                      <a:endParaRPr lang="en-US" sz="1200" dirty="0">
                        <a:latin typeface="Yu Gothic" charset="0"/>
                        <a:ea typeface="Yu Gothic" charset="0"/>
                        <a:cs typeface="Yu Gothic" charset="0"/>
                      </a:endParaRPr>
                    </a:p>
                  </a:txBody>
                  <a:tcPr marL="91440" marR="91440" marT="54864" marB="54864"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c>
                  <a:txBody>
                    <a:bodyPr/>
                    <a:lstStyle/>
                    <a:p>
                      <a:pPr indent="0" marL="0">
                        <a:buNone/>
                      </a:pPr>
                      <a:endParaRPr lang="en-US" sz="1200" dirty="0">
                        <a:latin typeface="Yu Gothic" charset="0"/>
                        <a:ea typeface="Yu Gothic" charset="0"/>
                        <a:cs typeface="Yu Gothic" charset="0"/>
                      </a:endParaRPr>
                    </a:p>
                  </a:txBody>
                  <a:tcPr marL="91440" marR="91440" marT="54864" marB="54864"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c>
                  <a:txBody>
                    <a:bodyPr/>
                    <a:lstStyle/>
                    <a:p>
                      <a:pPr indent="0" marL="0">
                        <a:buNone/>
                      </a:pPr>
                      <a:endParaRPr lang="en-US" sz="1200" dirty="0">
                        <a:latin typeface="Yu Gothic" charset="0"/>
                        <a:ea typeface="Yu Gothic" charset="0"/>
                        <a:cs typeface="Yu Gothic" charset="0"/>
                      </a:endParaRPr>
                    </a:p>
                  </a:txBody>
                  <a:tcPr marL="91440" marR="91440" marT="54864" marB="54864"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r>
              <a:tr h="685800">
                <a:tc>
                  <a:txBody>
                    <a:bodyPr/>
                    <a:lstStyle/>
                    <a:p>
                      <a:pPr indent="0" marL="0">
                        <a:buNone/>
                      </a:pPr>
                      <a:r>
                        <a:rPr lang="en-US" sz="1200" dirty="0">
                          <a:solidFill>
                            <a:srgbClr val="22252B"/>
                          </a:solidFill>
                          <a:latin typeface="Yu Gothic" pitchFamily="34" charset="0"/>
                          <a:ea typeface="Yu Gothic" pitchFamily="34" charset="-122"/>
                          <a:cs typeface="Yu Gothic" pitchFamily="34" charset="-120"/>
                        </a:rPr>
                        <a:t>開発体制の説明資料（薬事担当・QMS・製造販売業の取得計画、事業主体の役割分担）</a:t>
                      </a:r>
                      <a:endParaRPr lang="en-US" sz="1200" dirty="0">
                        <a:latin typeface="Yu Gothic" charset="0"/>
                        <a:ea typeface="Yu Gothic" charset="0"/>
                        <a:cs typeface="Yu Gothic" charset="0"/>
                      </a:endParaRPr>
                    </a:p>
                  </a:txBody>
                  <a:tcPr marL="91440" marR="91440" marT="54864" marB="54864"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200" dirty="0">
                          <a:solidFill>
                            <a:srgbClr val="22252B"/>
                          </a:solidFill>
                          <a:latin typeface="Yu Gothic" pitchFamily="34" charset="0"/>
                          <a:ea typeface="Yu Gothic" pitchFamily="34" charset="-122"/>
                          <a:cs typeface="Yu Gothic" pitchFamily="34" charset="-120"/>
                        </a:rPr>
                        <a:t>体制図・計画書</a:t>
                      </a:r>
                      <a:endParaRPr lang="en-US" sz="1200" dirty="0">
                        <a:latin typeface="Yu Gothic" charset="0"/>
                        <a:ea typeface="Yu Gothic" charset="0"/>
                        <a:cs typeface="Yu Gothic" charset="0"/>
                      </a:endParaRPr>
                    </a:p>
                  </a:txBody>
                  <a:tcPr marL="91440" marR="91440" marT="54864" marB="54864"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c>
                  <a:txBody>
                    <a:bodyPr/>
                    <a:lstStyle/>
                    <a:p>
                      <a:pPr indent="0" marL="0">
                        <a:buNone/>
                      </a:pPr>
                      <a:endParaRPr lang="en-US" sz="1200" dirty="0">
                        <a:latin typeface="Yu Gothic" charset="0"/>
                        <a:ea typeface="Yu Gothic" charset="0"/>
                        <a:cs typeface="Yu Gothic" charset="0"/>
                      </a:endParaRPr>
                    </a:p>
                  </a:txBody>
                  <a:tcPr marL="91440" marR="91440" marT="54864" marB="54864"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c>
                  <a:txBody>
                    <a:bodyPr/>
                    <a:lstStyle/>
                    <a:p>
                      <a:pPr indent="0" marL="0">
                        <a:buNone/>
                      </a:pPr>
                      <a:endParaRPr lang="en-US" sz="1200" dirty="0">
                        <a:latin typeface="Yu Gothic" charset="0"/>
                        <a:ea typeface="Yu Gothic" charset="0"/>
                        <a:cs typeface="Yu Gothic" charset="0"/>
                      </a:endParaRPr>
                    </a:p>
                  </a:txBody>
                  <a:tcPr marL="91440" marR="91440" marT="54864" marB="54864" anchor="ctr">
                    <a:lnL w="9525" cap="flat" cmpd="sng" algn="ctr">
                      <a:solidFill>
                        <a:srgbClr val="D9DCE3"/>
                      </a:solidFill>
                      <a:prstDash val="solid"/>
                      <a:round/>
                      <a:headEnd type="none" w="med" len="med"/>
                      <a:tailEnd type="none" w="med" len="med"/>
                    </a:lnL>
                    <a:lnR w="9525" cap="flat" cmpd="sng" algn="ctr">
                      <a:solidFill>
                        <a:srgbClr val="D9DCE3"/>
                      </a:solidFill>
                      <a:prstDash val="solid"/>
                      <a:round/>
                      <a:headEnd type="none" w="med" len="med"/>
                      <a:tailEnd type="none" w="med" len="med"/>
                    </a:lnR>
                    <a:lnT w="9525" cap="flat" cmpd="sng" algn="ctr">
                      <a:solidFill>
                        <a:srgbClr val="D9DCE3"/>
                      </a:solidFill>
                      <a:prstDash val="solid"/>
                      <a:round/>
                      <a:headEnd type="none" w="med" len="med"/>
                      <a:tailEnd type="none" w="med" len="med"/>
                    </a:lnT>
                    <a:lnB w="9525" cap="flat" cmpd="sng" algn="ctr">
                      <a:solidFill>
                        <a:srgbClr val="D9DCE3"/>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48640" y="5806440"/>
            <a:ext cx="11064240" cy="365760"/>
          </a:xfrm>
          <a:prstGeom prst="rect">
            <a:avLst/>
          </a:prstGeom>
          <a:noFill/>
          <a:ln/>
        </p:spPr>
        <p:txBody>
          <a:bodyPr wrap="square" lIns="0" tIns="0" rIns="0" bIns="0" rtlCol="0" anchor="ctr"/>
          <a:lstStyle/>
          <a:p>
            <a:pPr indent="0" marL="0">
              <a:buNone/>
            </a:pPr>
            <a:r>
              <a:rPr lang="en-US" sz="1100" dirty="0">
                <a:solidFill>
                  <a:srgbClr val="5A5F6A"/>
                </a:solidFill>
                <a:latin typeface="Yu Gothic" pitchFamily="34" charset="0"/>
                <a:ea typeface="Yu Gothic" pitchFamily="34" charset="-122"/>
                <a:cs typeface="Yu Gothic" pitchFamily="34" charset="-120"/>
              </a:rPr>
              <a:t>会議中にこの表へ直接記入してください（リポジトリ docs/regulatory/08 にも同じ表があります）</a:t>
            </a:r>
            <a:endParaRPr lang="en-US" sz="1100" dirty="0"/>
          </a:p>
        </p:txBody>
      </p:sp>
      <p:sp>
        <p:nvSpPr>
          <p:cNvPr id="7" name="Text 4"/>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8304E"/>
        </a:solidFill>
      </p:bgPr>
    </p:bg>
    <p:spTree>
      <p:nvGrpSpPr>
        <p:cNvPr id="1" name=""/>
        <p:cNvGrpSpPr/>
        <p:nvPr/>
      </p:nvGrpSpPr>
      <p:grpSpPr>
        <a:xfrm>
          <a:off x="0" y="0"/>
          <a:ext cx="0" cy="0"/>
          <a:chOff x="0" y="0"/>
          <a:chExt cx="0" cy="0"/>
        </a:xfrm>
      </p:grpSpPr>
      <p:sp>
        <p:nvSpPr>
          <p:cNvPr id="2" name="Text 0"/>
          <p:cNvSpPr txBox="1"/>
          <p:nvPr/>
        </p:nvSpPr>
        <p:spPr>
          <a:xfrm>
            <a:off x="822960" y="1051560"/>
            <a:ext cx="10515600" cy="365760"/>
          </a:xfrm>
          <a:prstGeom prst="rect">
            <a:avLst/>
          </a:prstGeom>
          <a:noFill/>
          <a:ln/>
        </p:spPr>
        <p:txBody>
          <a:bodyPr wrap="square" lIns="0" tIns="0" rIns="0" bIns="0" rtlCol="0" anchor="ctr"/>
          <a:lstStyle/>
          <a:p>
            <a:pPr indent="0" marL="0">
              <a:buNone/>
            </a:pPr>
            <a:r>
              <a:rPr lang="en-US" sz="1400" b="1" spc="400" kern="0" dirty="0">
                <a:solidFill>
                  <a:srgbClr val="9DB8DA"/>
                </a:solidFill>
                <a:latin typeface="Yu Gothic" pitchFamily="34" charset="0"/>
                <a:ea typeface="Yu Gothic" pitchFamily="34" charset="-122"/>
                <a:cs typeface="Yu Gothic" pitchFamily="34" charset="-120"/>
              </a:rPr>
              <a:t>Next Steps</a:t>
            </a:r>
            <a:endParaRPr lang="en-US" sz="1400" dirty="0"/>
          </a:p>
        </p:txBody>
      </p:sp>
      <p:sp>
        <p:nvSpPr>
          <p:cNvPr id="3" name="Text 1"/>
          <p:cNvSpPr txBox="1"/>
          <p:nvPr/>
        </p:nvSpPr>
        <p:spPr>
          <a:xfrm>
            <a:off x="822960" y="1554480"/>
            <a:ext cx="10515600" cy="1554480"/>
          </a:xfrm>
          <a:prstGeom prst="rect">
            <a:avLst/>
          </a:prstGeom>
          <a:noFill/>
          <a:ln/>
        </p:spPr>
        <p:txBody>
          <a:bodyPr wrap="square" lIns="0" tIns="0" rIns="0" bIns="0" rtlCol="0" anchor="ctr"/>
          <a:lstStyle/>
          <a:p>
            <a:pPr indent="0" marL="0">
              <a:lnSpc>
                <a:spcPct val="135000"/>
              </a:lnSpc>
              <a:buNone/>
            </a:pPr>
            <a:r>
              <a:rPr lang="en-US" sz="3000" b="1" dirty="0">
                <a:solidFill>
                  <a:srgbClr val="FFFFFF"/>
                </a:solidFill>
                <a:latin typeface="Yu Mincho" pitchFamily="34" charset="0"/>
                <a:ea typeface="Yu Mincho" pitchFamily="34" charset="-122"/>
                <a:cs typeface="Yu Mincho" pitchFamily="34" charset="-120"/>
              </a:rPr>
              <a:t>要件1のストーリーと要件2のデータ。</a:t>
            </a:r>
            <a:endParaRPr lang="en-US" sz="3000" dirty="0"/>
          </a:p>
          <a:p>
            <a:pPr indent="0" marL="0">
              <a:lnSpc>
                <a:spcPct val="135000"/>
              </a:lnSpc>
              <a:buNone/>
            </a:pPr>
            <a:r>
              <a:rPr lang="en-US" sz="3000" b="1" dirty="0">
                <a:solidFill>
                  <a:srgbClr val="FFFFFF"/>
                </a:solidFill>
                <a:latin typeface="Yu Mincho" pitchFamily="34" charset="0"/>
                <a:ea typeface="Yu Mincho" pitchFamily="34" charset="-122"/>
                <a:cs typeface="Yu Mincho" pitchFamily="34" charset="-120"/>
              </a:rPr>
              <a:t>この2つが揃った時が、様式1を出す時。</a:t>
            </a:r>
            <a:endParaRPr lang="en-US" sz="3000" dirty="0"/>
          </a:p>
        </p:txBody>
      </p:sp>
      <p:sp>
        <p:nvSpPr>
          <p:cNvPr id="4" name="Text 2"/>
          <p:cNvSpPr txBox="1"/>
          <p:nvPr/>
        </p:nvSpPr>
        <p:spPr>
          <a:xfrm>
            <a:off x="822960" y="3383280"/>
            <a:ext cx="10515600" cy="1463040"/>
          </a:xfrm>
          <a:prstGeom prst="rect">
            <a:avLst/>
          </a:prstGeom>
          <a:noFill/>
          <a:ln/>
        </p:spPr>
        <p:txBody>
          <a:bodyPr wrap="square" lIns="0" tIns="0" rIns="0" bIns="0" rtlCol="0" anchor="ctr"/>
          <a:lstStyle/>
          <a:p>
            <a:pPr marL="152400" indent="-152400">
              <a:lnSpc>
                <a:spcPct val="130000"/>
              </a:lnSpc>
              <a:spcAft>
                <a:spcPts val="1000"/>
              </a:spcAft>
              <a:buSzPct val="100000"/>
              <a:buChar char="•"/>
            </a:pPr>
            <a:r>
              <a:rPr lang="en-US" sz="1500" dirty="0">
                <a:solidFill>
                  <a:srgbClr val="E8ECF4"/>
                </a:solidFill>
                <a:latin typeface="Yu Gothic" pitchFamily="34" charset="0"/>
                <a:ea typeface="Yu Gothic" pitchFamily="34" charset="-122"/>
                <a:cs typeface="Yu Gothic" pitchFamily="34" charset="-120"/>
              </a:rPr>
              <a:t>本日の決定事項を docs/regulatory/ に記録し、タスクに担当・期限を設定</a:t>
            </a:r>
            <a:endParaRPr lang="en-US" sz="1500" dirty="0"/>
          </a:p>
          <a:p>
            <a:pPr marL="152400" indent="-152400">
              <a:lnSpc>
                <a:spcPct val="130000"/>
              </a:lnSpc>
              <a:spcAft>
                <a:spcPts val="1000"/>
              </a:spcAft>
              <a:buSzPct val="100000"/>
              <a:buChar char="•"/>
            </a:pPr>
            <a:r>
              <a:rPr lang="en-US" sz="1500" dirty="0">
                <a:solidFill>
                  <a:srgbClr val="E8ECF4"/>
                </a:solidFill>
                <a:latin typeface="Yu Gothic" pitchFamily="34" charset="0"/>
                <a:ea typeface="Yu Gothic" pitchFamily="34" charset="-122"/>
                <a:cs typeface="Yu Gothic" pitchFamily="34" charset="-120"/>
              </a:rPr>
              <a:t>画期性ストーリーの技術資料化と類似品調査に着手</a:t>
            </a:r>
            <a:endParaRPr lang="en-US" sz="1500" dirty="0"/>
          </a:p>
          <a:p>
            <a:pPr marL="152400" indent="-152400">
              <a:lnSpc>
                <a:spcPct val="130000"/>
              </a:lnSpc>
              <a:spcAft>
                <a:spcPts val="1000"/>
              </a:spcAft>
              <a:buSzPct val="100000"/>
              <a:buChar char="•"/>
            </a:pPr>
            <a:r>
              <a:rPr lang="en-US" sz="1500" dirty="0">
                <a:solidFill>
                  <a:srgbClr val="E8ECF4"/>
                </a:solidFill>
                <a:latin typeface="Yu Gothic" pitchFamily="34" charset="0"/>
                <a:ea typeface="Yu Gothic" pitchFamily="34" charset="-122"/>
                <a:cs typeface="Yu Gothic" pitchFamily="34" charset="-120"/>
              </a:rPr>
              <a:t>探索的臨床研究の計画素案を作成し、次回会議でレビュー</a:t>
            </a:r>
            <a:endParaRPr lang="en-US" sz="1500" dirty="0"/>
          </a:p>
        </p:txBody>
      </p:sp>
      <p:sp>
        <p:nvSpPr>
          <p:cNvPr id="5" name="Shape 3"/>
          <p:cNvSpPr/>
          <p:nvPr/>
        </p:nvSpPr>
        <p:spPr>
          <a:xfrm>
            <a:off x="822960" y="5212080"/>
            <a:ext cx="10515600" cy="0"/>
          </a:xfrm>
          <a:prstGeom prst="line">
            <a:avLst/>
          </a:prstGeom>
          <a:noFill/>
          <a:ln w="12700">
            <a:solidFill>
              <a:srgbClr val="3D5173"/>
            </a:solidFill>
            <a:prstDash val="solid"/>
          </a:ln>
        </p:spPr>
      </p:sp>
      <p:sp>
        <p:nvSpPr>
          <p:cNvPr id="6" name="Text 4"/>
          <p:cNvSpPr txBox="1"/>
          <p:nvPr/>
        </p:nvSpPr>
        <p:spPr>
          <a:xfrm>
            <a:off x="822960" y="5440680"/>
            <a:ext cx="10515600" cy="1097280"/>
          </a:xfrm>
          <a:prstGeom prst="rect">
            <a:avLst/>
          </a:prstGeom>
          <a:noFill/>
          <a:ln/>
        </p:spPr>
        <p:txBody>
          <a:bodyPr wrap="square" lIns="0" tIns="0" rIns="0" bIns="0" rtlCol="0" anchor="t"/>
          <a:lstStyle/>
          <a:p>
            <a:pPr indent="0" marL="0">
              <a:lnSpc>
                <a:spcPct val="135000"/>
              </a:lnSpc>
              <a:buNone/>
            </a:pPr>
            <a:r>
              <a:rPr lang="en-US" sz="1100" b="1" dirty="0">
                <a:solidFill>
                  <a:srgbClr val="9DB8DA"/>
                </a:solidFill>
                <a:latin typeface="Yu Gothic" pitchFamily="34" charset="0"/>
                <a:ea typeface="Yu Gothic" pitchFamily="34" charset="-122"/>
                <a:cs typeface="Yu Gothic" pitchFamily="34" charset="-120"/>
              </a:rPr>
              <a:t>出典・関連資料
</a:t>
            </a:r>
            <a:pPr indent="0" marL="0">
              <a:lnSpc>
                <a:spcPct val="135000"/>
              </a:lnSpc>
              <a:buNone/>
            </a:pPr>
            <a:r>
              <a:rPr lang="en-US" sz="1050" dirty="0">
                <a:solidFill>
                  <a:srgbClr val="AAB6C9"/>
                </a:solidFill>
                <a:latin typeface="Yu Gothic" pitchFamily="34" charset="0"/>
                <a:ea typeface="Yu Gothic" pitchFamily="34" charset="-122"/>
                <a:cs typeface="Yu Gothic" pitchFamily="34" charset="-120"/>
              </a:rPr>
              <a:t>医薬機審発0615第1号（令和8年6月15日）／ docs/regulatory/08_優先審査指定制度.md ／ 07_先行事例.md（ENDEAVORRIDE・EndeavorRx）／ 01_製品情報.md</a:t>
            </a:r>
            <a:endParaRPr lang="en-US" sz="1100" dirty="0"/>
          </a:p>
          <a:p>
            <a:pPr indent="0" marL="0">
              <a:lnSpc>
                <a:spcPct val="135000"/>
              </a:lnSpc>
              <a:buNone/>
            </a:pPr>
            <a:r>
              <a:rPr lang="en-US" sz="1050" dirty="0">
                <a:solidFill>
                  <a:srgbClr val="AAB6C9"/>
                </a:solidFill>
                <a:latin typeface="Yu Gothic" pitchFamily="34" charset="0"/>
                <a:ea typeface="Yu Gothic" pitchFamily="34" charset="-122"/>
                <a:cs typeface="Yu Gothic" pitchFamily="34" charset="-120"/>
              </a:rPr>
              <a:t>本資料の制度解釈は通知の読解に基づく整理です。指定申請前に厚労省医療機器審査管理課・PMDAへの確認を推奨します。</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2026-08-31T23:42:37Z</dcterms:created>
  <dcterms:modified xsi:type="dcterms:W3CDTF">2026-08-31T23:42:37Z</dcterms:modified>
</cp:coreProperties>
</file>