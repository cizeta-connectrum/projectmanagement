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キックオフの冒頭で: 本日は制度の共通理解、要件当てはめの合意、宿題の割当の3点がゴール。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8304E"/>
        </a:solidFill>
      </p:bgPr>
    </p:bg>
    <p:spTree>
      <p:nvGrpSpPr>
        <p:cNvPr id="1" name=""/>
        <p:cNvGrpSpPr/>
        <p:nvPr/>
      </p:nvGrpSpPr>
      <p:grpSpPr>
        <a:xfrm>
          <a:off x="0" y="0"/>
          <a:ext cx="0" cy="0"/>
          <a:chOff x="0" y="0"/>
          <a:chExt cx="0" cy="0"/>
        </a:xfrm>
      </p:grpSpPr>
      <p:sp>
        <p:nvSpPr>
          <p:cNvPr id="2" name="Text 0"/>
          <p:cNvSpPr txBox="1"/>
          <p:nvPr/>
        </p:nvSpPr>
        <p:spPr>
          <a:xfrm>
            <a:off x="822960" y="1371600"/>
            <a:ext cx="10515600" cy="365760"/>
          </a:xfrm>
          <a:prstGeom prst="rect">
            <a:avLst/>
          </a:prstGeom>
          <a:noFill/>
          <a:ln/>
        </p:spPr>
        <p:txBody>
          <a:bodyPr wrap="square" lIns="0" tIns="0" rIns="0" bIns="0" rtlCol="0" anchor="ctr"/>
          <a:lstStyle/>
          <a:p>
            <a:pPr indent="0" marL="0">
              <a:buNone/>
            </a:pPr>
            <a:r>
              <a:rPr lang="en-US" sz="1400" b="1" spc="400" kern="0" dirty="0">
                <a:solidFill>
                  <a:srgbClr val="9DB8DA"/>
                </a:solidFill>
                <a:latin typeface="Yu Gothic" pitchFamily="34" charset="0"/>
                <a:ea typeface="Yu Gothic" pitchFamily="34" charset="-122"/>
                <a:cs typeface="Yu Gothic" pitchFamily="34" charset="-120"/>
              </a:rPr>
              <a:t>PaTaKaRUSH 薬事戦略プロジェクト</a:t>
            </a:r>
            <a:endParaRPr lang="en-US" sz="1400" dirty="0"/>
          </a:p>
        </p:txBody>
      </p:sp>
      <p:sp>
        <p:nvSpPr>
          <p:cNvPr id="3" name="Text 1"/>
          <p:cNvSpPr txBox="1"/>
          <p:nvPr/>
        </p:nvSpPr>
        <p:spPr>
          <a:xfrm>
            <a:off x="822960" y="1874520"/>
            <a:ext cx="10515600" cy="1920240"/>
          </a:xfrm>
          <a:prstGeom prst="rect">
            <a:avLst/>
          </a:prstGeom>
          <a:noFill/>
          <a:ln/>
        </p:spPr>
        <p:txBody>
          <a:bodyPr wrap="square" lIns="0" tIns="0" rIns="0" bIns="0" rtlCol="0" anchor="ctr"/>
          <a:lstStyle/>
          <a:p>
            <a:pPr indent="0" marL="0">
              <a:lnSpc>
                <a:spcPct val="120000"/>
              </a:lnSpc>
              <a:buNone/>
            </a:pPr>
            <a:r>
              <a:rPr lang="en-US" sz="4000" b="1" dirty="0">
                <a:solidFill>
                  <a:srgbClr val="FFFFFF"/>
                </a:solidFill>
                <a:latin typeface="Yu Mincho" pitchFamily="34" charset="0"/>
                <a:ea typeface="Yu Mincho" pitchFamily="34" charset="-122"/>
                <a:cs typeface="Yu Mincho" pitchFamily="34" charset="-120"/>
              </a:rPr>
              <a:t>プログラム医療機器</a:t>
            </a:r>
            <a:endParaRPr lang="en-US" sz="4000" dirty="0"/>
          </a:p>
          <a:p>
            <a:pPr indent="0" marL="0">
              <a:lnSpc>
                <a:spcPct val="120000"/>
              </a:lnSpc>
              <a:buNone/>
            </a:pPr>
            <a:r>
              <a:rPr lang="en-US" sz="4000" b="1" dirty="0">
                <a:solidFill>
                  <a:srgbClr val="FFFFFF"/>
                </a:solidFill>
                <a:latin typeface="Yu Mincho" pitchFamily="34" charset="0"/>
                <a:ea typeface="Yu Mincho" pitchFamily="34" charset="-122"/>
                <a:cs typeface="Yu Mincho" pitchFamily="34" charset="-120"/>
              </a:rPr>
              <a:t>優先審査指定制度への挑戦</a:t>
            </a:r>
            <a:endParaRPr lang="en-US" sz="4000" dirty="0"/>
          </a:p>
        </p:txBody>
      </p:sp>
      <p:sp>
        <p:nvSpPr>
          <p:cNvPr id="4" name="Text 2"/>
          <p:cNvSpPr txBox="1"/>
          <p:nvPr/>
        </p:nvSpPr>
        <p:spPr>
          <a:xfrm>
            <a:off x="822960" y="3886200"/>
            <a:ext cx="10515600" cy="457200"/>
          </a:xfrm>
          <a:prstGeom prst="rect">
            <a:avLst/>
          </a:prstGeom>
          <a:noFill/>
          <a:ln/>
        </p:spPr>
        <p:txBody>
          <a:bodyPr wrap="square" lIns="0" tIns="0" rIns="0" bIns="0" rtlCol="0" anchor="ctr"/>
          <a:lstStyle/>
          <a:p>
            <a:pPr indent="0" marL="0">
              <a:buNone/>
            </a:pPr>
            <a:r>
              <a:rPr lang="en-US" sz="1600" dirty="0">
                <a:solidFill>
                  <a:srgbClr val="CADCFC"/>
                </a:solidFill>
                <a:latin typeface="Yu Gothic" pitchFamily="34" charset="0"/>
                <a:ea typeface="Yu Gothic" pitchFamily="34" charset="-122"/>
                <a:cs typeface="Yu Gothic" pitchFamily="34" charset="-120"/>
              </a:rPr>
              <a:t>キックオフミーティング — 制度の全体像・指定要件の当てはめ・本日決めること</a:t>
            </a:r>
            <a:endParaRPr lang="en-US" sz="1600" dirty="0"/>
          </a:p>
        </p:txBody>
      </p:sp>
      <p:sp>
        <p:nvSpPr>
          <p:cNvPr id="5" name="Shape 3"/>
          <p:cNvSpPr/>
          <p:nvPr/>
        </p:nvSpPr>
        <p:spPr>
          <a:xfrm>
            <a:off x="822960" y="4892040"/>
            <a:ext cx="10515600" cy="0"/>
          </a:xfrm>
          <a:prstGeom prst="line">
            <a:avLst/>
          </a:prstGeom>
          <a:noFill/>
          <a:ln w="12700">
            <a:solidFill>
              <a:srgbClr val="3D5173"/>
            </a:solidFill>
            <a:prstDash val="solid"/>
          </a:ln>
        </p:spPr>
      </p:sp>
      <p:sp>
        <p:nvSpPr>
          <p:cNvPr id="6" name="Text 4"/>
          <p:cNvSpPr txBox="1"/>
          <p:nvPr/>
        </p:nvSpPr>
        <p:spPr>
          <a:xfrm>
            <a:off x="822960" y="5120640"/>
            <a:ext cx="1371600" cy="320040"/>
          </a:xfrm>
          <a:prstGeom prst="rect">
            <a:avLst/>
          </a:prstGeom>
          <a:noFill/>
          <a:ln/>
        </p:spPr>
        <p:txBody>
          <a:bodyPr wrap="square" lIns="0" tIns="0" rIns="0" bIns="0" rtlCol="0" anchor="ctr"/>
          <a:lstStyle/>
          <a:p>
            <a:pPr indent="0" marL="0">
              <a:buNone/>
            </a:pPr>
            <a:r>
              <a:rPr lang="en-US" sz="1100" dirty="0">
                <a:solidFill>
                  <a:srgbClr val="8FA9CC"/>
                </a:solidFill>
                <a:latin typeface="Yu Gothic" pitchFamily="34" charset="0"/>
                <a:ea typeface="Yu Gothic" pitchFamily="34" charset="-122"/>
                <a:cs typeface="Yu Gothic" pitchFamily="34" charset="-120"/>
              </a:rPr>
              <a:t>対象通知</a:t>
            </a:r>
            <a:endParaRPr lang="en-US" sz="1100" dirty="0"/>
          </a:p>
        </p:txBody>
      </p:sp>
      <p:sp>
        <p:nvSpPr>
          <p:cNvPr id="7" name="Text 5"/>
          <p:cNvSpPr txBox="1"/>
          <p:nvPr/>
        </p:nvSpPr>
        <p:spPr>
          <a:xfrm>
            <a:off x="2286000" y="5120640"/>
            <a:ext cx="9052560" cy="320040"/>
          </a:xfrm>
          <a:prstGeom prst="rect">
            <a:avLst/>
          </a:prstGeom>
          <a:noFill/>
          <a:ln/>
        </p:spPr>
        <p:txBody>
          <a:bodyPr wrap="square" lIns="0" tIns="0" rIns="0" bIns="0" rtlCol="0" anchor="ctr"/>
          <a:lstStyle/>
          <a:p>
            <a:pPr indent="0" marL="0">
              <a:buNone/>
            </a:pPr>
            <a:r>
              <a:rPr lang="en-US" sz="1200" dirty="0">
                <a:solidFill>
                  <a:srgbClr val="E8ECF4"/>
                </a:solidFill>
                <a:latin typeface="Yu Gothic" pitchFamily="34" charset="0"/>
                <a:ea typeface="Yu Gothic" pitchFamily="34" charset="-122"/>
                <a:cs typeface="Yu Gothic" pitchFamily="34" charset="-120"/>
              </a:rPr>
              <a:t>医薬機審発0615第1号（令和8年6月15日）</a:t>
            </a:r>
            <a:endParaRPr lang="en-US" sz="1200" dirty="0"/>
          </a:p>
        </p:txBody>
      </p:sp>
      <p:sp>
        <p:nvSpPr>
          <p:cNvPr id="8" name="Text 6"/>
          <p:cNvSpPr txBox="1"/>
          <p:nvPr/>
        </p:nvSpPr>
        <p:spPr>
          <a:xfrm>
            <a:off x="822960" y="5504688"/>
            <a:ext cx="1371600" cy="320040"/>
          </a:xfrm>
          <a:prstGeom prst="rect">
            <a:avLst/>
          </a:prstGeom>
          <a:noFill/>
          <a:ln/>
        </p:spPr>
        <p:txBody>
          <a:bodyPr wrap="square" lIns="0" tIns="0" rIns="0" bIns="0" rtlCol="0" anchor="ctr"/>
          <a:lstStyle/>
          <a:p>
            <a:pPr indent="0" marL="0">
              <a:buNone/>
            </a:pPr>
            <a:r>
              <a:rPr lang="en-US" sz="1100" dirty="0">
                <a:solidFill>
                  <a:srgbClr val="8FA9CC"/>
                </a:solidFill>
                <a:latin typeface="Yu Gothic" pitchFamily="34" charset="0"/>
                <a:ea typeface="Yu Gothic" pitchFamily="34" charset="-122"/>
                <a:cs typeface="Yu Gothic" pitchFamily="34" charset="-120"/>
              </a:rPr>
              <a:t>通知名</a:t>
            </a:r>
            <a:endParaRPr lang="en-US" sz="1100" dirty="0"/>
          </a:p>
        </p:txBody>
      </p:sp>
      <p:sp>
        <p:nvSpPr>
          <p:cNvPr id="9" name="Text 7"/>
          <p:cNvSpPr txBox="1"/>
          <p:nvPr/>
        </p:nvSpPr>
        <p:spPr>
          <a:xfrm>
            <a:off x="2286000" y="5504688"/>
            <a:ext cx="9052560" cy="320040"/>
          </a:xfrm>
          <a:prstGeom prst="rect">
            <a:avLst/>
          </a:prstGeom>
          <a:noFill/>
          <a:ln/>
        </p:spPr>
        <p:txBody>
          <a:bodyPr wrap="square" lIns="0" tIns="0" rIns="0" bIns="0" rtlCol="0" anchor="ctr"/>
          <a:lstStyle/>
          <a:p>
            <a:pPr indent="0" marL="0">
              <a:buNone/>
            </a:pPr>
            <a:r>
              <a:rPr lang="en-US" sz="1200" dirty="0">
                <a:solidFill>
                  <a:srgbClr val="E8ECF4"/>
                </a:solidFill>
                <a:latin typeface="Yu Gothic" pitchFamily="34" charset="0"/>
                <a:ea typeface="Yu Gothic" pitchFamily="34" charset="-122"/>
                <a:cs typeface="Yu Gothic" pitchFamily="34" charset="-120"/>
              </a:rPr>
              <a:t>プログラム医療機器等に係る優先的な審査等の試行的実施について</a:t>
            </a:r>
            <a:endParaRPr lang="en-US" sz="1200" dirty="0"/>
          </a:p>
        </p:txBody>
      </p:sp>
      <p:sp>
        <p:nvSpPr>
          <p:cNvPr id="10" name="Text 8"/>
          <p:cNvSpPr txBox="1"/>
          <p:nvPr/>
        </p:nvSpPr>
        <p:spPr>
          <a:xfrm>
            <a:off x="822960" y="5888736"/>
            <a:ext cx="1371600" cy="320040"/>
          </a:xfrm>
          <a:prstGeom prst="rect">
            <a:avLst/>
          </a:prstGeom>
          <a:noFill/>
          <a:ln/>
        </p:spPr>
        <p:txBody>
          <a:bodyPr wrap="square" lIns="0" tIns="0" rIns="0" bIns="0" rtlCol="0" anchor="ctr"/>
          <a:lstStyle/>
          <a:p>
            <a:pPr indent="0" marL="0">
              <a:buNone/>
            </a:pPr>
            <a:r>
              <a:rPr lang="en-US" sz="1100" dirty="0">
                <a:solidFill>
                  <a:srgbClr val="8FA9CC"/>
                </a:solidFill>
                <a:latin typeface="Yu Gothic" pitchFamily="34" charset="0"/>
                <a:ea typeface="Yu Gothic" pitchFamily="34" charset="-122"/>
                <a:cs typeface="Yu Gothic" pitchFamily="34" charset="-120"/>
              </a:rPr>
              <a:t>作成日</a:t>
            </a:r>
            <a:endParaRPr lang="en-US" sz="1100" dirty="0"/>
          </a:p>
        </p:txBody>
      </p:sp>
      <p:sp>
        <p:nvSpPr>
          <p:cNvPr id="11" name="Text 9"/>
          <p:cNvSpPr txBox="1"/>
          <p:nvPr/>
        </p:nvSpPr>
        <p:spPr>
          <a:xfrm>
            <a:off x="2286000" y="5888736"/>
            <a:ext cx="9052560" cy="320040"/>
          </a:xfrm>
          <a:prstGeom prst="rect">
            <a:avLst/>
          </a:prstGeom>
          <a:noFill/>
          <a:ln/>
        </p:spPr>
        <p:txBody>
          <a:bodyPr wrap="square" lIns="0" tIns="0" rIns="0" bIns="0" rtlCol="0" anchor="ctr"/>
          <a:lstStyle/>
          <a:p>
            <a:pPr indent="0" marL="0">
              <a:buNone/>
            </a:pPr>
            <a:r>
              <a:rPr lang="en-US" sz="1200" dirty="0">
                <a:solidFill>
                  <a:srgbClr val="E8ECF4"/>
                </a:solidFill>
                <a:latin typeface="Yu Gothic" pitchFamily="34" charset="0"/>
                <a:ea typeface="Yu Gothic" pitchFamily="34" charset="-122"/>
                <a:cs typeface="Yu Gothic" pitchFamily="34" charset="-120"/>
              </a:rPr>
              <a:t>2026年8月31日</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88720" cy="365760"/>
          </a:xfrm>
          <a:prstGeom prst="rect">
            <a:avLst/>
          </a:prstGeom>
          <a:noFill/>
          <a:ln/>
        </p:spPr>
        <p:txBody>
          <a:bodyPr wrap="square" lIns="0" tIns="0" rIns="0" bIns="0" rtlCol="0" anchor="ctr"/>
          <a:lstStyle/>
          <a:p>
            <a:pPr indent="0" marL="0">
              <a:buNone/>
            </a:pPr>
            <a:r>
              <a:rPr lang="en-US" sz="1300" b="1" spc="300" kern="0" dirty="0">
                <a:solidFill>
                  <a:srgbClr val="22456E"/>
                </a:solidFill>
                <a:latin typeface="Yu Gothic" pitchFamily="34" charset="0"/>
                <a:ea typeface="Yu Gothic" pitchFamily="34" charset="-122"/>
                <a:cs typeface="Yu Gothic" pitchFamily="34" charset="-120"/>
              </a:rPr>
              <a:t>第 1 部</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22252B"/>
                </a:solidFill>
                <a:latin typeface="Yu Mincho" pitchFamily="34" charset="0"/>
                <a:ea typeface="Yu Mincho" pitchFamily="34" charset="-122"/>
                <a:cs typeface="Yu Mincho" pitchFamily="34" charset="-120"/>
              </a:rPr>
              <a:t>本日のゴール</a:t>
            </a:r>
            <a:endParaRPr lang="en-US" sz="3000" dirty="0"/>
          </a:p>
        </p:txBody>
      </p:sp>
      <p:sp>
        <p:nvSpPr>
          <p:cNvPr id="4" name="Text 2"/>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5A5F6A"/>
                </a:solidFill>
                <a:latin typeface="Yu Gothic" pitchFamily="34" charset="0"/>
                <a:ea typeface="Yu Gothic" pitchFamily="34" charset="-122"/>
                <a:cs typeface="Yu Gothic" pitchFamily="34" charset="-120"/>
              </a:rPr>
              <a:t>PaTaKaRUSH 薬事戦略プロジェクト｜優先審査指定制度 キックオフ</a:t>
            </a:r>
            <a:endParaRPr lang="en-US" sz="900" dirty="0"/>
          </a:p>
        </p:txBody>
      </p:sp>
      <p:sp>
        <p:nvSpPr>
          <p:cNvPr id="5" name="Text 3"/>
          <p:cNvSpPr txBox="1"/>
          <p:nvPr/>
        </p:nvSpPr>
        <p:spPr>
          <a:xfrm>
            <a:off x="548640" y="1600200"/>
            <a:ext cx="10972800" cy="365760"/>
          </a:xfrm>
          <a:prstGeom prst="rect">
            <a:avLst/>
          </a:prstGeom>
          <a:noFill/>
          <a:ln/>
        </p:spPr>
        <p:txBody>
          <a:bodyPr wrap="square" lIns="0" tIns="0" rIns="0" bIns="0" rtlCol="0" anchor="ctr"/>
          <a:lstStyle/>
          <a:p>
            <a:pPr indent="0" marL="0">
              <a:buNone/>
            </a:pPr>
            <a:r>
              <a:rPr lang="en-US" sz="1500" dirty="0">
                <a:solidFill>
                  <a:srgbClr val="22252B"/>
                </a:solidFill>
                <a:latin typeface="Yu Gothic" pitchFamily="34" charset="0"/>
                <a:ea typeface="Yu Gothic" pitchFamily="34" charset="-122"/>
                <a:cs typeface="Yu Gothic" pitchFamily="34" charset="-120"/>
              </a:rPr>
              <a:t>このミーティングで、次の3点を持ち帰れる状態にします。</a:t>
            </a:r>
            <a:endParaRPr lang="en-US" sz="1500" dirty="0"/>
          </a:p>
        </p:txBody>
      </p:sp>
      <p:sp>
        <p:nvSpPr>
          <p:cNvPr id="6" name="Shape 4"/>
          <p:cNvSpPr/>
          <p:nvPr/>
        </p:nvSpPr>
        <p:spPr>
          <a:xfrm>
            <a:off x="548640" y="2286000"/>
            <a:ext cx="3529584" cy="3108960"/>
          </a:xfrm>
          <a:prstGeom prst="roundRect">
            <a:avLst>
              <a:gd name="adj" fmla="val 2353"/>
            </a:avLst>
          </a:prstGeom>
          <a:solidFill>
            <a:srgbClr val="EAF0F7"/>
          </a:solidFill>
          <a:ln w="12700">
            <a:solidFill>
              <a:srgbClr val="B9C9DE"/>
            </a:solidFill>
            <a:prstDash val="solid"/>
          </a:ln>
        </p:spPr>
      </p:sp>
      <p:sp>
        <p:nvSpPr>
          <p:cNvPr id="7" name="Shape 5"/>
          <p:cNvSpPr/>
          <p:nvPr/>
        </p:nvSpPr>
        <p:spPr>
          <a:xfrm>
            <a:off x="868680" y="2651760"/>
            <a:ext cx="502920" cy="502920"/>
          </a:xfrm>
          <a:prstGeom prst="ellipse">
            <a:avLst/>
          </a:prstGeom>
          <a:solidFill>
            <a:srgbClr val="22456E"/>
          </a:solidFill>
          <a:ln/>
        </p:spPr>
      </p:sp>
      <p:sp>
        <p:nvSpPr>
          <p:cNvPr id="8" name="Text 6"/>
          <p:cNvSpPr txBox="1"/>
          <p:nvPr/>
        </p:nvSpPr>
        <p:spPr>
          <a:xfrm>
            <a:off x="868680" y="2642616"/>
            <a:ext cx="502920" cy="521208"/>
          </a:xfrm>
          <a:prstGeom prst="rect">
            <a:avLst/>
          </a:prstGeom>
          <a:noFill/>
          <a:ln/>
        </p:spPr>
        <p:txBody>
          <a:bodyPr wrap="square" lIns="0" tIns="0" rIns="0" bIns="0" rtlCol="0" anchor="ctr"/>
          <a:lstStyle/>
          <a:p>
            <a:pPr algn="ctr" indent="0" marL="0">
              <a:buNone/>
            </a:pPr>
            <a:r>
              <a:rPr lang="en-US" sz="1600" b="1" dirty="0">
                <a:solidFill>
                  <a:srgbClr val="FFFFFF"/>
                </a:solidFill>
                <a:latin typeface="Yu Mincho" pitchFamily="34" charset="0"/>
                <a:ea typeface="Yu Mincho" pitchFamily="34" charset="-122"/>
                <a:cs typeface="Yu Mincho" pitchFamily="34" charset="-120"/>
              </a:rPr>
              <a:t>1</a:t>
            </a:r>
            <a:endParaRPr lang="en-US" sz="1600" dirty="0"/>
          </a:p>
        </p:txBody>
      </p:sp>
      <p:sp>
        <p:nvSpPr>
          <p:cNvPr id="9" name="Text 7"/>
          <p:cNvSpPr txBox="1"/>
          <p:nvPr/>
        </p:nvSpPr>
        <p:spPr>
          <a:xfrm>
            <a:off x="868680" y="3429000"/>
            <a:ext cx="2926080" cy="457200"/>
          </a:xfrm>
          <a:prstGeom prst="rect">
            <a:avLst/>
          </a:prstGeom>
          <a:noFill/>
          <a:ln/>
        </p:spPr>
        <p:txBody>
          <a:bodyPr wrap="square" lIns="0" tIns="0" rIns="0" bIns="0" rtlCol="0" anchor="ctr"/>
          <a:lstStyle/>
          <a:p>
            <a:pPr indent="0" marL="0">
              <a:buNone/>
            </a:pPr>
            <a:r>
              <a:rPr lang="en-US" sz="1800" b="1" dirty="0">
                <a:solidFill>
                  <a:srgbClr val="22456E"/>
                </a:solidFill>
                <a:latin typeface="Yu Mincho" pitchFamily="34" charset="0"/>
                <a:ea typeface="Yu Mincho" pitchFamily="34" charset="-122"/>
                <a:cs typeface="Yu Mincho" pitchFamily="34" charset="-120"/>
              </a:rPr>
              <a:t>制度理解の共有</a:t>
            </a:r>
            <a:endParaRPr lang="en-US" sz="1800" dirty="0"/>
          </a:p>
        </p:txBody>
      </p:sp>
      <p:sp>
        <p:nvSpPr>
          <p:cNvPr id="10" name="Text 8"/>
          <p:cNvSpPr txBox="1"/>
          <p:nvPr/>
        </p:nvSpPr>
        <p:spPr>
          <a:xfrm>
            <a:off x="868680" y="3977640"/>
            <a:ext cx="2926080" cy="1280160"/>
          </a:xfrm>
          <a:prstGeom prst="rect">
            <a:avLst/>
          </a:prstGeom>
          <a:noFill/>
          <a:ln/>
        </p:spPr>
        <p:txBody>
          <a:bodyPr wrap="square" lIns="0" tIns="0" rIns="0" bIns="0" rtlCol="0" anchor="ctr"/>
          <a:lstStyle/>
          <a:p>
            <a:pPr indent="0" marL="0">
              <a:lnSpc>
                <a:spcPct val="135000"/>
              </a:lnSpc>
              <a:buNone/>
            </a:pPr>
            <a:r>
              <a:rPr lang="en-US" sz="1300" dirty="0">
                <a:solidFill>
                  <a:srgbClr val="22252B"/>
                </a:solidFill>
                <a:latin typeface="Yu Gothic" pitchFamily="34" charset="0"/>
                <a:ea typeface="Yu Gothic" pitchFamily="34" charset="-122"/>
                <a:cs typeface="Yu Gothic" pitchFamily="34" charset="-120"/>
              </a:rPr>
              <a:t>優先審査指定制度が「何をくれて、何を要求するか」を全員が同じ解像度で把握する</a:t>
            </a:r>
            <a:endParaRPr lang="en-US" sz="1300" dirty="0"/>
          </a:p>
        </p:txBody>
      </p:sp>
      <p:sp>
        <p:nvSpPr>
          <p:cNvPr id="11" name="Shape 9"/>
          <p:cNvSpPr/>
          <p:nvPr/>
        </p:nvSpPr>
        <p:spPr>
          <a:xfrm>
            <a:off x="4370832" y="2286000"/>
            <a:ext cx="3529584" cy="3108960"/>
          </a:xfrm>
          <a:prstGeom prst="roundRect">
            <a:avLst>
              <a:gd name="adj" fmla="val 2353"/>
            </a:avLst>
          </a:prstGeom>
          <a:solidFill>
            <a:srgbClr val="EAF0F7"/>
          </a:solidFill>
          <a:ln w="12700">
            <a:solidFill>
              <a:srgbClr val="B9C9DE"/>
            </a:solidFill>
            <a:prstDash val="solid"/>
          </a:ln>
        </p:spPr>
      </p:sp>
      <p:sp>
        <p:nvSpPr>
          <p:cNvPr id="12" name="Shape 10"/>
          <p:cNvSpPr/>
          <p:nvPr/>
        </p:nvSpPr>
        <p:spPr>
          <a:xfrm>
            <a:off x="4690872" y="2651760"/>
            <a:ext cx="502920" cy="502920"/>
          </a:xfrm>
          <a:prstGeom prst="ellipse">
            <a:avLst/>
          </a:prstGeom>
          <a:solidFill>
            <a:srgbClr val="22456E"/>
          </a:solidFill>
          <a:ln/>
        </p:spPr>
      </p:sp>
      <p:sp>
        <p:nvSpPr>
          <p:cNvPr id="13" name="Text 11"/>
          <p:cNvSpPr txBox="1"/>
          <p:nvPr/>
        </p:nvSpPr>
        <p:spPr>
          <a:xfrm>
            <a:off x="4690872" y="2642616"/>
            <a:ext cx="502920" cy="521208"/>
          </a:xfrm>
          <a:prstGeom prst="rect">
            <a:avLst/>
          </a:prstGeom>
          <a:noFill/>
          <a:ln/>
        </p:spPr>
        <p:txBody>
          <a:bodyPr wrap="square" lIns="0" tIns="0" rIns="0" bIns="0" rtlCol="0" anchor="ctr"/>
          <a:lstStyle/>
          <a:p>
            <a:pPr algn="ctr" indent="0" marL="0">
              <a:buNone/>
            </a:pPr>
            <a:r>
              <a:rPr lang="en-US" sz="1600" b="1" dirty="0">
                <a:solidFill>
                  <a:srgbClr val="FFFFFF"/>
                </a:solidFill>
                <a:latin typeface="Yu Mincho" pitchFamily="34" charset="0"/>
                <a:ea typeface="Yu Mincho" pitchFamily="34" charset="-122"/>
                <a:cs typeface="Yu Mincho" pitchFamily="34" charset="-120"/>
              </a:rPr>
              <a:t>2</a:t>
            </a:r>
            <a:endParaRPr lang="en-US" sz="1600" dirty="0"/>
          </a:p>
        </p:txBody>
      </p:sp>
      <p:sp>
        <p:nvSpPr>
          <p:cNvPr id="14" name="Text 12"/>
          <p:cNvSpPr txBox="1"/>
          <p:nvPr/>
        </p:nvSpPr>
        <p:spPr>
          <a:xfrm>
            <a:off x="4690872" y="3429000"/>
            <a:ext cx="2926080" cy="457200"/>
          </a:xfrm>
          <a:prstGeom prst="rect">
            <a:avLst/>
          </a:prstGeom>
          <a:noFill/>
          <a:ln/>
        </p:spPr>
        <p:txBody>
          <a:bodyPr wrap="square" lIns="0" tIns="0" rIns="0" bIns="0" rtlCol="0" anchor="ctr"/>
          <a:lstStyle/>
          <a:p>
            <a:pPr indent="0" marL="0">
              <a:buNone/>
            </a:pPr>
            <a:r>
              <a:rPr lang="en-US" sz="1800" b="1" dirty="0">
                <a:solidFill>
                  <a:srgbClr val="22456E"/>
                </a:solidFill>
                <a:latin typeface="Yu Mincho" pitchFamily="34" charset="0"/>
                <a:ea typeface="Yu Mincho" pitchFamily="34" charset="-122"/>
                <a:cs typeface="Yu Mincho" pitchFamily="34" charset="-120"/>
              </a:rPr>
              <a:t>当てはめ評価の合意</a:t>
            </a:r>
            <a:endParaRPr lang="en-US" sz="1800" dirty="0"/>
          </a:p>
        </p:txBody>
      </p:sp>
      <p:sp>
        <p:nvSpPr>
          <p:cNvPr id="15" name="Text 13"/>
          <p:cNvSpPr txBox="1"/>
          <p:nvPr/>
        </p:nvSpPr>
        <p:spPr>
          <a:xfrm>
            <a:off x="4690872" y="3977640"/>
            <a:ext cx="2926080" cy="1280160"/>
          </a:xfrm>
          <a:prstGeom prst="rect">
            <a:avLst/>
          </a:prstGeom>
          <a:noFill/>
          <a:ln/>
        </p:spPr>
        <p:txBody>
          <a:bodyPr wrap="square" lIns="0" tIns="0" rIns="0" bIns="0" rtlCol="0" anchor="ctr"/>
          <a:lstStyle/>
          <a:p>
            <a:pPr indent="0" marL="0">
              <a:lnSpc>
                <a:spcPct val="135000"/>
              </a:lnSpc>
              <a:buNone/>
            </a:pPr>
            <a:r>
              <a:rPr lang="en-US" sz="1300" dirty="0">
                <a:solidFill>
                  <a:srgbClr val="22252B"/>
                </a:solidFill>
                <a:latin typeface="Yu Gothic" pitchFamily="34" charset="0"/>
                <a:ea typeface="Yu Gothic" pitchFamily="34" charset="-122"/>
                <a:cs typeface="Yu Gothic" pitchFamily="34" charset="-120"/>
              </a:rPr>
              <a:t>PaTaKaRUSHが3つの指定要件をどこまで満たせるか、現状評価（第3部）に合意する</a:t>
            </a:r>
            <a:endParaRPr lang="en-US" sz="1300" dirty="0"/>
          </a:p>
        </p:txBody>
      </p:sp>
      <p:sp>
        <p:nvSpPr>
          <p:cNvPr id="16" name="Shape 14"/>
          <p:cNvSpPr/>
          <p:nvPr/>
        </p:nvSpPr>
        <p:spPr>
          <a:xfrm>
            <a:off x="8193024" y="2286000"/>
            <a:ext cx="3529584" cy="3108960"/>
          </a:xfrm>
          <a:prstGeom prst="roundRect">
            <a:avLst>
              <a:gd name="adj" fmla="val 2353"/>
            </a:avLst>
          </a:prstGeom>
          <a:solidFill>
            <a:srgbClr val="EAF0F7"/>
          </a:solidFill>
          <a:ln w="12700">
            <a:solidFill>
              <a:srgbClr val="B9C9DE"/>
            </a:solidFill>
            <a:prstDash val="solid"/>
          </a:ln>
        </p:spPr>
      </p:sp>
      <p:sp>
        <p:nvSpPr>
          <p:cNvPr id="17" name="Shape 15"/>
          <p:cNvSpPr/>
          <p:nvPr/>
        </p:nvSpPr>
        <p:spPr>
          <a:xfrm>
            <a:off x="8513064" y="2651760"/>
            <a:ext cx="502920" cy="502920"/>
          </a:xfrm>
          <a:prstGeom prst="ellipse">
            <a:avLst/>
          </a:prstGeom>
          <a:solidFill>
            <a:srgbClr val="22456E"/>
          </a:solidFill>
          <a:ln/>
        </p:spPr>
      </p:sp>
      <p:sp>
        <p:nvSpPr>
          <p:cNvPr id="18" name="Text 16"/>
          <p:cNvSpPr txBox="1"/>
          <p:nvPr/>
        </p:nvSpPr>
        <p:spPr>
          <a:xfrm>
            <a:off x="8513064" y="2642616"/>
            <a:ext cx="502920" cy="521208"/>
          </a:xfrm>
          <a:prstGeom prst="rect">
            <a:avLst/>
          </a:prstGeom>
          <a:noFill/>
          <a:ln/>
        </p:spPr>
        <p:txBody>
          <a:bodyPr wrap="square" lIns="0" tIns="0" rIns="0" bIns="0" rtlCol="0" anchor="ctr"/>
          <a:lstStyle/>
          <a:p>
            <a:pPr algn="ctr" indent="0" marL="0">
              <a:buNone/>
            </a:pPr>
            <a:r>
              <a:rPr lang="en-US" sz="1600" b="1" dirty="0">
                <a:solidFill>
                  <a:srgbClr val="FFFFFF"/>
                </a:solidFill>
                <a:latin typeface="Yu Mincho" pitchFamily="34" charset="0"/>
                <a:ea typeface="Yu Mincho" pitchFamily="34" charset="-122"/>
                <a:cs typeface="Yu Mincho" pitchFamily="34" charset="-120"/>
              </a:rPr>
              <a:t>3</a:t>
            </a:r>
            <a:endParaRPr lang="en-US" sz="1600" dirty="0"/>
          </a:p>
        </p:txBody>
      </p:sp>
      <p:sp>
        <p:nvSpPr>
          <p:cNvPr id="19" name="Text 17"/>
          <p:cNvSpPr txBox="1"/>
          <p:nvPr/>
        </p:nvSpPr>
        <p:spPr>
          <a:xfrm>
            <a:off x="8513064" y="3429000"/>
            <a:ext cx="2926080" cy="457200"/>
          </a:xfrm>
          <a:prstGeom prst="rect">
            <a:avLst/>
          </a:prstGeom>
          <a:noFill/>
          <a:ln/>
        </p:spPr>
        <p:txBody>
          <a:bodyPr wrap="square" lIns="0" tIns="0" rIns="0" bIns="0" rtlCol="0" anchor="ctr"/>
          <a:lstStyle/>
          <a:p>
            <a:pPr indent="0" marL="0">
              <a:buNone/>
            </a:pPr>
            <a:r>
              <a:rPr lang="en-US" sz="1800" b="1" dirty="0">
                <a:solidFill>
                  <a:srgbClr val="22456E"/>
                </a:solidFill>
                <a:latin typeface="Yu Mincho" pitchFamily="34" charset="0"/>
                <a:ea typeface="Yu Mincho" pitchFamily="34" charset="-122"/>
                <a:cs typeface="Yu Mincho" pitchFamily="34" charset="-120"/>
              </a:rPr>
              <a:t>宿題の割当</a:t>
            </a:r>
            <a:endParaRPr lang="en-US" sz="1800" dirty="0"/>
          </a:p>
        </p:txBody>
      </p:sp>
      <p:sp>
        <p:nvSpPr>
          <p:cNvPr id="20" name="Text 18"/>
          <p:cNvSpPr txBox="1"/>
          <p:nvPr/>
        </p:nvSpPr>
        <p:spPr>
          <a:xfrm>
            <a:off x="8513064" y="3977640"/>
            <a:ext cx="2926080" cy="1280160"/>
          </a:xfrm>
          <a:prstGeom prst="rect">
            <a:avLst/>
          </a:prstGeom>
          <a:noFill/>
          <a:ln/>
        </p:spPr>
        <p:txBody>
          <a:bodyPr wrap="square" lIns="0" tIns="0" rIns="0" bIns="0" rtlCol="0" anchor="ctr"/>
          <a:lstStyle/>
          <a:p>
            <a:pPr indent="0" marL="0">
              <a:lnSpc>
                <a:spcPct val="135000"/>
              </a:lnSpc>
              <a:buNone/>
            </a:pPr>
            <a:r>
              <a:rPr lang="en-US" sz="1300" dirty="0">
                <a:solidFill>
                  <a:srgbClr val="22252B"/>
                </a:solidFill>
                <a:latin typeface="Yu Gothic" pitchFamily="34" charset="0"/>
                <a:ea typeface="Yu Gothic" pitchFamily="34" charset="-122"/>
                <a:cs typeface="Yu Gothic" pitchFamily="34" charset="-120"/>
              </a:rPr>
              <a:t>最優先タスク「要件1（画期性）の検討」（第6部）に、担当と期限を付ける</a:t>
            </a:r>
            <a:endParaRPr lang="en-US" sz="1300" dirty="0"/>
          </a:p>
        </p:txBody>
      </p:sp>
      <p:sp>
        <p:nvSpPr>
          <p:cNvPr id="21" name="Text 19"/>
          <p:cNvSpPr txBox="1"/>
          <p:nvPr/>
        </p:nvSpPr>
        <p:spPr>
          <a:xfrm>
            <a:off x="11430000" y="6473952"/>
            <a:ext cx="457200" cy="274320"/>
          </a:xfrm>
          <a:prstGeom prst="rect">
            <a:avLst/>
          </a:prstGeom>
          <a:noFill/>
          <a:ln/>
        </p:spPr>
        <p:txBody>
          <a:bodyPr wrap="square" lIns="0" tIns="0" rIns="0" bIns="0" rtlCol="0" anchor="ctr"/>
          <a:lstStyle/>
          <a:p>
            <a:pPr algn="r" indent="0" marL="0">
              <a:buNone/>
            </a:pPr>
            <a:r>
              <a:rPr lang="en-US" sz="1000" dirty="0">
                <a:solidFill>
                  <a:srgbClr val="5A5F6A"/>
                </a:solidFill>
                <a:latin typeface="Yu Gothic" pitchFamily="34" charset="0"/>
                <a:ea typeface="Yu Gothic" pitchFamily="34" charset="-122"/>
                <a:cs typeface="Yu Gothic"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88720" cy="365760"/>
          </a:xfrm>
          <a:prstGeom prst="rect">
            <a:avLst/>
          </a:prstGeom>
          <a:noFill/>
          <a:ln/>
        </p:spPr>
        <p:txBody>
          <a:bodyPr wrap="square" lIns="0" tIns="0" rIns="0" bIns="0" rtlCol="0" anchor="ctr"/>
          <a:lstStyle/>
          <a:p>
            <a:pPr indent="0" marL="0">
              <a:buNone/>
            </a:pPr>
            <a:r>
              <a:rPr lang="en-US" sz="1300" b="1" spc="300" kern="0" dirty="0">
                <a:solidFill>
                  <a:srgbClr val="22456E"/>
                </a:solidFill>
                <a:latin typeface="Yu Gothic" pitchFamily="34" charset="0"/>
                <a:ea typeface="Yu Gothic" pitchFamily="34" charset="-122"/>
                <a:cs typeface="Yu Gothic" pitchFamily="34" charset="-120"/>
              </a:rPr>
              <a:t>第 2 部</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22252B"/>
                </a:solidFill>
                <a:latin typeface="Yu Mincho" pitchFamily="34" charset="0"/>
                <a:ea typeface="Yu Mincho" pitchFamily="34" charset="-122"/>
                <a:cs typeface="Yu Mincho" pitchFamily="34" charset="-120"/>
              </a:rPr>
              <a:t>制度とは — 指定されると何が変わるか</a:t>
            </a:r>
            <a:endParaRPr lang="en-US" sz="3000" dirty="0"/>
          </a:p>
        </p:txBody>
      </p:sp>
      <p:sp>
        <p:nvSpPr>
          <p:cNvPr id="4" name="Text 2"/>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5A5F6A"/>
                </a:solidFill>
                <a:latin typeface="Yu Gothic" pitchFamily="34" charset="0"/>
                <a:ea typeface="Yu Gothic" pitchFamily="34" charset="-122"/>
                <a:cs typeface="Yu Gothic" pitchFamily="34" charset="-120"/>
              </a:rPr>
              <a:t>PaTaKaRUSH 薬事戦略プロジェクト｜優先審査指定制度 キックオフ</a:t>
            </a:r>
            <a:endParaRPr lang="en-US" sz="900" dirty="0"/>
          </a:p>
        </p:txBody>
      </p:sp>
      <p:sp>
        <p:nvSpPr>
          <p:cNvPr id="5" name="Text 3"/>
          <p:cNvSpPr txBox="1"/>
          <p:nvPr/>
        </p:nvSpPr>
        <p:spPr>
          <a:xfrm>
            <a:off x="548640" y="1554480"/>
            <a:ext cx="11064240" cy="777240"/>
          </a:xfrm>
          <a:prstGeom prst="rect">
            <a:avLst/>
          </a:prstGeom>
          <a:noFill/>
          <a:ln/>
        </p:spPr>
        <p:txBody>
          <a:bodyPr wrap="square" lIns="0" tIns="0" rIns="0" bIns="0" rtlCol="0" anchor="ctr"/>
          <a:lstStyle/>
          <a:p>
            <a:pPr indent="0" marL="0">
              <a:lnSpc>
                <a:spcPct val="130000"/>
              </a:lnSpc>
              <a:buNone/>
            </a:pPr>
            <a:r>
              <a:rPr lang="en-US" sz="1400" dirty="0">
                <a:solidFill>
                  <a:srgbClr val="22252B"/>
                </a:solidFill>
                <a:latin typeface="Yu Gothic" pitchFamily="34" charset="0"/>
                <a:ea typeface="Yu Gothic" pitchFamily="34" charset="-122"/>
                <a:cs typeface="Yu Gothic" pitchFamily="34" charset="-120"/>
              </a:rPr>
              <a:t>革新的なSaMDを国が指定し、相談・審査を優先的に扱う試行制度。令和4年度からの回次公募が、現行通知で</a:t>
            </a:r>
            <a:pPr indent="0" marL="0">
              <a:lnSpc>
                <a:spcPct val="130000"/>
              </a:lnSpc>
              <a:buNone/>
            </a:pPr>
            <a:r>
              <a:rPr lang="en-US" sz="1400" b="1" dirty="0">
                <a:solidFill>
                  <a:srgbClr val="22456E"/>
                </a:solidFill>
                <a:latin typeface="Yu Gothic" pitchFamily="34" charset="0"/>
                <a:ea typeface="Yu Gothic" pitchFamily="34" charset="-122"/>
                <a:cs typeface="Yu Gothic" pitchFamily="34" charset="-120"/>
              </a:rPr>
              <a:t>随時募集</a:t>
            </a:r>
            <a:pPr indent="0" marL="0">
              <a:lnSpc>
                <a:spcPct val="130000"/>
              </a:lnSpc>
              <a:buNone/>
            </a:pPr>
            <a:r>
              <a:rPr lang="en-US" sz="1400" dirty="0">
                <a:solidFill>
                  <a:srgbClr val="22252B"/>
                </a:solidFill>
                <a:latin typeface="Yu Gothic" pitchFamily="34" charset="0"/>
                <a:ea typeface="Yu Gothic" pitchFamily="34" charset="-122"/>
                <a:cs typeface="Yu Gothic" pitchFamily="34" charset="-120"/>
              </a:rPr>
              <a:t>に移行。</a:t>
            </a:r>
            <a:pPr indent="0" marL="0">
              <a:lnSpc>
                <a:spcPct val="130000"/>
              </a:lnSpc>
              <a:buNone/>
            </a:pPr>
            <a:r>
              <a:rPr lang="en-US" sz="1400" b="1" dirty="0">
                <a:solidFill>
                  <a:srgbClr val="22252B"/>
                </a:solidFill>
                <a:latin typeface="Yu Gothic" pitchFamily="34" charset="0"/>
                <a:ea typeface="Yu Gothic" pitchFamily="34" charset="-122"/>
                <a:cs typeface="Yu Gothic" pitchFamily="34" charset="-120"/>
              </a:rPr>
              <a:t>指定は「承認」ではなく、効果は“速く・手厚くなる”こと。</a:t>
            </a:r>
            <a:pPr indent="0" marL="0">
              <a:lnSpc>
                <a:spcPct val="130000"/>
              </a:lnSpc>
              <a:buNone/>
            </a:pPr>
            <a:r>
              <a:rPr lang="en-US" sz="1400" dirty="0">
                <a:solidFill>
                  <a:srgbClr val="22252B"/>
                </a:solidFill>
                <a:latin typeface="Yu Gothic" pitchFamily="34" charset="0"/>
                <a:ea typeface="Yu Gothic" pitchFamily="34" charset="-122"/>
                <a:cs typeface="Yu Gothic" pitchFamily="34" charset="-120"/>
              </a:rPr>
              <a:t>承認申請の中身（臨床試験・QMS・業許可）は通常どおり必要。</a:t>
            </a:r>
            <a:endParaRPr lang="en-US" sz="1400" dirty="0"/>
          </a:p>
        </p:txBody>
      </p:sp>
      <p:sp>
        <p:nvSpPr>
          <p:cNvPr id="6" name="Shape 4"/>
          <p:cNvSpPr/>
          <p:nvPr/>
        </p:nvSpPr>
        <p:spPr>
          <a:xfrm>
            <a:off x="548640" y="2514600"/>
            <a:ext cx="5440680" cy="1737360"/>
          </a:xfrm>
          <a:prstGeom prst="roundRect">
            <a:avLst>
              <a:gd name="adj" fmla="val 3684"/>
            </a:avLst>
          </a:prstGeom>
          <a:solidFill>
            <a:srgbClr val="FFFFFF"/>
          </a:solidFill>
          <a:ln w="12700">
            <a:solidFill>
              <a:srgbClr val="D9DCE3"/>
            </a:solidFill>
            <a:prstDash val="solid"/>
          </a:ln>
          <a:effectLst>
            <a:outerShdw sx="100000" sy="100000" kx="0" ky="0" algn="bl" rotWithShape="0" blurRad="76200" dist="25400" dir="5400000">
              <a:srgbClr val="9AA3B0">
                <a:alpha val="25000"/>
              </a:srgbClr>
            </a:outerShdw>
          </a:effectLst>
        </p:spPr>
      </p:sp>
      <p:sp>
        <p:nvSpPr>
          <p:cNvPr id="7" name="Text 5"/>
          <p:cNvSpPr txBox="1"/>
          <p:nvPr/>
        </p:nvSpPr>
        <p:spPr>
          <a:xfrm>
            <a:off x="822960" y="2697480"/>
            <a:ext cx="4937760" cy="365760"/>
          </a:xfrm>
          <a:prstGeom prst="rect">
            <a:avLst/>
          </a:prstGeom>
          <a:noFill/>
          <a:ln/>
        </p:spPr>
        <p:txBody>
          <a:bodyPr wrap="square" lIns="0" tIns="0" rIns="0" bIns="0" rtlCol="0" anchor="ctr"/>
          <a:lstStyle/>
          <a:p>
            <a:pPr indent="0" marL="0">
              <a:buNone/>
            </a:pPr>
            <a:r>
              <a:rPr lang="en-US" sz="1500" b="1" dirty="0">
                <a:solidFill>
                  <a:srgbClr val="22456E"/>
                </a:solidFill>
                <a:latin typeface="Yu Gothic" pitchFamily="34" charset="0"/>
                <a:ea typeface="Yu Gothic" pitchFamily="34" charset="-122"/>
                <a:cs typeface="Yu Gothic" pitchFamily="34" charset="-120"/>
              </a:rPr>
              <a:t>優先審査・事前評価</a:t>
            </a:r>
            <a:endParaRPr lang="en-US" sz="1500" dirty="0"/>
          </a:p>
        </p:txBody>
      </p:sp>
      <p:sp>
        <p:nvSpPr>
          <p:cNvPr id="8" name="Text 6"/>
          <p:cNvSpPr txBox="1"/>
          <p:nvPr/>
        </p:nvSpPr>
        <p:spPr>
          <a:xfrm>
            <a:off x="822960" y="3081528"/>
            <a:ext cx="4937760" cy="548640"/>
          </a:xfrm>
          <a:prstGeom prst="rect">
            <a:avLst/>
          </a:prstGeom>
          <a:noFill/>
          <a:ln/>
        </p:spPr>
        <p:txBody>
          <a:bodyPr wrap="square" lIns="0" tIns="0" rIns="0" bIns="0" rtlCol="0" anchor="ctr"/>
          <a:lstStyle/>
          <a:p>
            <a:pPr indent="0" marL="0">
              <a:buNone/>
            </a:pPr>
            <a:r>
              <a:rPr lang="en-US" sz="1200" dirty="0">
                <a:solidFill>
                  <a:srgbClr val="5A5F6A"/>
                </a:solidFill>
              </a:rPr>
              <a:t>承認申請 → 承認まで  </a:t>
            </a:r>
            <a:pPr indent="0" marL="0">
              <a:buNone/>
            </a:pPr>
            <a:r>
              <a:rPr lang="en-US" sz="2400" b="1" dirty="0">
                <a:solidFill>
                  <a:srgbClr val="22252B"/>
                </a:solidFill>
                <a:latin typeface="Yu Mincho" pitchFamily="34" charset="0"/>
                <a:ea typeface="Yu Mincho" pitchFamily="34" charset="-122"/>
                <a:cs typeface="Yu Mincho" pitchFamily="34" charset="-120"/>
              </a:rPr>
              <a:t>6か月以内</a:t>
            </a:r>
            <a:endParaRPr lang="en-US" sz="1200" dirty="0"/>
          </a:p>
        </p:txBody>
      </p:sp>
      <p:sp>
        <p:nvSpPr>
          <p:cNvPr id="9" name="Text 7"/>
          <p:cNvSpPr txBox="1"/>
          <p:nvPr/>
        </p:nvSpPr>
        <p:spPr>
          <a:xfrm>
            <a:off x="822960" y="3703320"/>
            <a:ext cx="4937760" cy="411480"/>
          </a:xfrm>
          <a:prstGeom prst="rect">
            <a:avLst/>
          </a:prstGeom>
          <a:noFill/>
          <a:ln/>
        </p:spPr>
        <p:txBody>
          <a:bodyPr wrap="square" lIns="0" tIns="0" rIns="0" bIns="0" rtlCol="0" anchor="ctr"/>
          <a:lstStyle/>
          <a:p>
            <a:pPr indent="0" marL="0">
              <a:buNone/>
            </a:pPr>
            <a:r>
              <a:rPr lang="en-US" sz="1100" dirty="0">
                <a:solidFill>
                  <a:srgbClr val="5A5F6A"/>
                </a:solidFill>
                <a:latin typeface="Yu Gothic" pitchFamily="34" charset="0"/>
                <a:ea typeface="Yu Gothic" pitchFamily="34" charset="-122"/>
                <a:cs typeface="Yu Gothic" pitchFamily="34" charset="-120"/>
              </a:rPr>
              <a:t>全申請区分。先駆け総合評価相談の活用が前提</a:t>
            </a:r>
            <a:endParaRPr lang="en-US" sz="1100" dirty="0"/>
          </a:p>
        </p:txBody>
      </p:sp>
      <p:sp>
        <p:nvSpPr>
          <p:cNvPr id="10" name="Shape 8"/>
          <p:cNvSpPr/>
          <p:nvPr/>
        </p:nvSpPr>
        <p:spPr>
          <a:xfrm>
            <a:off x="6263640" y="2514600"/>
            <a:ext cx="5440680" cy="1737360"/>
          </a:xfrm>
          <a:prstGeom prst="roundRect">
            <a:avLst>
              <a:gd name="adj" fmla="val 3684"/>
            </a:avLst>
          </a:prstGeom>
          <a:solidFill>
            <a:srgbClr val="FFFFFF"/>
          </a:solidFill>
          <a:ln w="12700">
            <a:solidFill>
              <a:srgbClr val="D9DCE3"/>
            </a:solidFill>
            <a:prstDash val="solid"/>
          </a:ln>
          <a:effectLst>
            <a:outerShdw sx="100000" sy="100000" kx="0" ky="0" algn="bl" rotWithShape="0" blurRad="76200" dist="25400" dir="5400000">
              <a:srgbClr val="9AA3B0">
                <a:alpha val="25000"/>
              </a:srgbClr>
            </a:outerShdw>
          </a:effectLst>
        </p:spPr>
      </p:sp>
      <p:sp>
        <p:nvSpPr>
          <p:cNvPr id="11" name="Text 9"/>
          <p:cNvSpPr txBox="1"/>
          <p:nvPr/>
        </p:nvSpPr>
        <p:spPr>
          <a:xfrm>
            <a:off x="6537960" y="2697480"/>
            <a:ext cx="4937760" cy="365760"/>
          </a:xfrm>
          <a:prstGeom prst="rect">
            <a:avLst/>
          </a:prstGeom>
          <a:noFill/>
          <a:ln/>
        </p:spPr>
        <p:txBody>
          <a:bodyPr wrap="square" lIns="0" tIns="0" rIns="0" bIns="0" rtlCol="0" anchor="ctr"/>
          <a:lstStyle/>
          <a:p>
            <a:pPr indent="0" marL="0">
              <a:buNone/>
            </a:pPr>
            <a:r>
              <a:rPr lang="en-US" sz="1500" b="1" dirty="0">
                <a:solidFill>
                  <a:srgbClr val="22456E"/>
                </a:solidFill>
                <a:latin typeface="Yu Gothic" pitchFamily="34" charset="0"/>
                <a:ea typeface="Yu Gothic" pitchFamily="34" charset="-122"/>
                <a:cs typeface="Yu Gothic" pitchFamily="34" charset="-120"/>
              </a:rPr>
              <a:t>優先相談</a:t>
            </a:r>
            <a:endParaRPr lang="en-US" sz="1500" dirty="0"/>
          </a:p>
        </p:txBody>
      </p:sp>
      <p:sp>
        <p:nvSpPr>
          <p:cNvPr id="12" name="Text 10"/>
          <p:cNvSpPr txBox="1"/>
          <p:nvPr/>
        </p:nvSpPr>
        <p:spPr>
          <a:xfrm>
            <a:off x="6537960" y="3081528"/>
            <a:ext cx="4937760" cy="548640"/>
          </a:xfrm>
          <a:prstGeom prst="rect">
            <a:avLst/>
          </a:prstGeom>
          <a:noFill/>
          <a:ln/>
        </p:spPr>
        <p:txBody>
          <a:bodyPr wrap="square" lIns="0" tIns="0" rIns="0" bIns="0" rtlCol="0" anchor="ctr"/>
          <a:lstStyle/>
          <a:p>
            <a:pPr indent="0" marL="0">
              <a:buNone/>
            </a:pPr>
            <a:r>
              <a:rPr lang="en-US" sz="1200" dirty="0">
                <a:solidFill>
                  <a:srgbClr val="5A5F6A"/>
                </a:solidFill>
              </a:rPr>
              <a:t>PMDA対面助言等で  </a:t>
            </a:r>
            <a:pPr indent="0" marL="0">
              <a:buNone/>
            </a:pPr>
            <a:r>
              <a:rPr lang="en-US" sz="2400" b="1" dirty="0">
                <a:solidFill>
                  <a:srgbClr val="22252B"/>
                </a:solidFill>
                <a:latin typeface="Yu Mincho" pitchFamily="34" charset="0"/>
                <a:ea typeface="Yu Mincho" pitchFamily="34" charset="-122"/>
                <a:cs typeface="Yu Mincho" pitchFamily="34" charset="-120"/>
              </a:rPr>
              <a:t>優先扱い</a:t>
            </a:r>
            <a:endParaRPr lang="en-US" sz="1200" dirty="0"/>
          </a:p>
        </p:txBody>
      </p:sp>
      <p:sp>
        <p:nvSpPr>
          <p:cNvPr id="13" name="Text 11"/>
          <p:cNvSpPr txBox="1"/>
          <p:nvPr/>
        </p:nvSpPr>
        <p:spPr>
          <a:xfrm>
            <a:off x="6537960" y="3703320"/>
            <a:ext cx="4937760" cy="411480"/>
          </a:xfrm>
          <a:prstGeom prst="rect">
            <a:avLst/>
          </a:prstGeom>
          <a:noFill/>
          <a:ln/>
        </p:spPr>
        <p:txBody>
          <a:bodyPr wrap="square" lIns="0" tIns="0" rIns="0" bIns="0" rtlCol="0" anchor="ctr"/>
          <a:lstStyle/>
          <a:p>
            <a:pPr indent="0" marL="0">
              <a:buNone/>
            </a:pPr>
            <a:r>
              <a:rPr lang="en-US" sz="1100" dirty="0">
                <a:solidFill>
                  <a:srgbClr val="5A5F6A"/>
                </a:solidFill>
                <a:latin typeface="Yu Gothic" pitchFamily="34" charset="0"/>
                <a:ea typeface="Yu Gothic" pitchFamily="34" charset="-122"/>
                <a:cs typeface="Yu Gothic" pitchFamily="34" charset="-120"/>
              </a:rPr>
              <a:t>他機器に優先。相談待ちの行列に並ばない</a:t>
            </a:r>
            <a:endParaRPr lang="en-US" sz="1100" dirty="0"/>
          </a:p>
        </p:txBody>
      </p:sp>
      <p:sp>
        <p:nvSpPr>
          <p:cNvPr id="14" name="Shape 12"/>
          <p:cNvSpPr/>
          <p:nvPr/>
        </p:nvSpPr>
        <p:spPr>
          <a:xfrm>
            <a:off x="548640" y="4434840"/>
            <a:ext cx="5440680" cy="1737360"/>
          </a:xfrm>
          <a:prstGeom prst="roundRect">
            <a:avLst>
              <a:gd name="adj" fmla="val 3684"/>
            </a:avLst>
          </a:prstGeom>
          <a:solidFill>
            <a:srgbClr val="FFFFFF"/>
          </a:solidFill>
          <a:ln w="12700">
            <a:solidFill>
              <a:srgbClr val="D9DCE3"/>
            </a:solidFill>
            <a:prstDash val="solid"/>
          </a:ln>
          <a:effectLst>
            <a:outerShdw sx="100000" sy="100000" kx="0" ky="0" algn="bl" rotWithShape="0" blurRad="76200" dist="25400" dir="5400000">
              <a:srgbClr val="9AA3B0">
                <a:alpha val="25000"/>
              </a:srgbClr>
            </a:outerShdw>
          </a:effectLst>
        </p:spPr>
      </p:sp>
      <p:sp>
        <p:nvSpPr>
          <p:cNvPr id="15" name="Text 13"/>
          <p:cNvSpPr txBox="1"/>
          <p:nvPr/>
        </p:nvSpPr>
        <p:spPr>
          <a:xfrm>
            <a:off x="822960" y="4617720"/>
            <a:ext cx="4937760" cy="365760"/>
          </a:xfrm>
          <a:prstGeom prst="rect">
            <a:avLst/>
          </a:prstGeom>
          <a:noFill/>
          <a:ln/>
        </p:spPr>
        <p:txBody>
          <a:bodyPr wrap="square" lIns="0" tIns="0" rIns="0" bIns="0" rtlCol="0" anchor="ctr"/>
          <a:lstStyle/>
          <a:p>
            <a:pPr indent="0" marL="0">
              <a:buNone/>
            </a:pPr>
            <a:r>
              <a:rPr lang="en-US" sz="1500" b="1" dirty="0">
                <a:solidFill>
                  <a:srgbClr val="22456E"/>
                </a:solidFill>
                <a:latin typeface="Yu Gothic" pitchFamily="34" charset="0"/>
                <a:ea typeface="Yu Gothic" pitchFamily="34" charset="-122"/>
                <a:cs typeface="Yu Gothic" pitchFamily="34" charset="-120"/>
              </a:rPr>
              <a:t>コンシェルジュ</a:t>
            </a:r>
            <a:endParaRPr lang="en-US" sz="1500" dirty="0"/>
          </a:p>
        </p:txBody>
      </p:sp>
      <p:sp>
        <p:nvSpPr>
          <p:cNvPr id="16" name="Text 14"/>
          <p:cNvSpPr txBox="1"/>
          <p:nvPr/>
        </p:nvSpPr>
        <p:spPr>
          <a:xfrm>
            <a:off x="822960" y="5001768"/>
            <a:ext cx="4937760" cy="548640"/>
          </a:xfrm>
          <a:prstGeom prst="rect">
            <a:avLst/>
          </a:prstGeom>
          <a:noFill/>
          <a:ln/>
        </p:spPr>
        <p:txBody>
          <a:bodyPr wrap="square" lIns="0" tIns="0" rIns="0" bIns="0" rtlCol="0" anchor="ctr"/>
          <a:lstStyle/>
          <a:p>
            <a:pPr indent="0" marL="0">
              <a:buNone/>
            </a:pPr>
            <a:r>
              <a:rPr lang="en-US" sz="1200" dirty="0">
                <a:solidFill>
                  <a:srgbClr val="5A5F6A"/>
                </a:solidFill>
              </a:rPr>
              <a:t>PMDA指名の担当者が  </a:t>
            </a:r>
            <a:pPr indent="0" marL="0">
              <a:buNone/>
            </a:pPr>
            <a:r>
              <a:rPr lang="en-US" sz="2400" b="1" dirty="0">
                <a:solidFill>
                  <a:srgbClr val="22252B"/>
                </a:solidFill>
                <a:latin typeface="Yu Mincho" pitchFamily="34" charset="0"/>
                <a:ea typeface="Yu Mincho" pitchFamily="34" charset="-122"/>
                <a:cs typeface="Yu Mincho" pitchFamily="34" charset="-120"/>
              </a:rPr>
              <a:t>伴走支援</a:t>
            </a:r>
            <a:endParaRPr lang="en-US" sz="1200" dirty="0"/>
          </a:p>
        </p:txBody>
      </p:sp>
      <p:sp>
        <p:nvSpPr>
          <p:cNvPr id="17" name="Text 15"/>
          <p:cNvSpPr txBox="1"/>
          <p:nvPr/>
        </p:nvSpPr>
        <p:spPr>
          <a:xfrm>
            <a:off x="822960" y="5623560"/>
            <a:ext cx="4937760" cy="411480"/>
          </a:xfrm>
          <a:prstGeom prst="rect">
            <a:avLst/>
          </a:prstGeom>
          <a:noFill/>
          <a:ln/>
        </p:spPr>
        <p:txBody>
          <a:bodyPr wrap="square" lIns="0" tIns="0" rIns="0" bIns="0" rtlCol="0" anchor="ctr"/>
          <a:lstStyle/>
          <a:p>
            <a:pPr indent="0" marL="0">
              <a:buNone/>
            </a:pPr>
            <a:r>
              <a:rPr lang="en-US" sz="1100" dirty="0">
                <a:solidFill>
                  <a:srgbClr val="5A5F6A"/>
                </a:solidFill>
                <a:latin typeface="Yu Gothic" pitchFamily="34" charset="0"/>
                <a:ea typeface="Yu Gothic" pitchFamily="34" charset="-122"/>
                <a:cs typeface="Yu Gothic" pitchFamily="34" charset="-120"/>
              </a:rPr>
              <a:t>開発進捗管理・厚労省/審査部署との調整</a:t>
            </a:r>
            <a:endParaRPr lang="en-US" sz="1100" dirty="0"/>
          </a:p>
        </p:txBody>
      </p:sp>
      <p:sp>
        <p:nvSpPr>
          <p:cNvPr id="18" name="Shape 16"/>
          <p:cNvSpPr/>
          <p:nvPr/>
        </p:nvSpPr>
        <p:spPr>
          <a:xfrm>
            <a:off x="6263640" y="4434840"/>
            <a:ext cx="5440680" cy="1737360"/>
          </a:xfrm>
          <a:prstGeom prst="roundRect">
            <a:avLst>
              <a:gd name="adj" fmla="val 3684"/>
            </a:avLst>
          </a:prstGeom>
          <a:solidFill>
            <a:srgbClr val="FFFFFF"/>
          </a:solidFill>
          <a:ln w="12700">
            <a:solidFill>
              <a:srgbClr val="D9DCE3"/>
            </a:solidFill>
            <a:prstDash val="solid"/>
          </a:ln>
          <a:effectLst>
            <a:outerShdw sx="100000" sy="100000" kx="0" ky="0" algn="bl" rotWithShape="0" blurRad="76200" dist="25400" dir="5400000">
              <a:srgbClr val="9AA3B0">
                <a:alpha val="25000"/>
              </a:srgbClr>
            </a:outerShdw>
          </a:effectLst>
        </p:spPr>
      </p:sp>
      <p:sp>
        <p:nvSpPr>
          <p:cNvPr id="19" name="Text 17"/>
          <p:cNvSpPr txBox="1"/>
          <p:nvPr/>
        </p:nvSpPr>
        <p:spPr>
          <a:xfrm>
            <a:off x="6537960" y="4617720"/>
            <a:ext cx="4937760" cy="365760"/>
          </a:xfrm>
          <a:prstGeom prst="rect">
            <a:avLst/>
          </a:prstGeom>
          <a:noFill/>
          <a:ln/>
        </p:spPr>
        <p:txBody>
          <a:bodyPr wrap="square" lIns="0" tIns="0" rIns="0" bIns="0" rtlCol="0" anchor="ctr"/>
          <a:lstStyle/>
          <a:p>
            <a:pPr indent="0" marL="0">
              <a:buNone/>
            </a:pPr>
            <a:r>
              <a:rPr lang="en-US" sz="1500" b="1" dirty="0">
                <a:solidFill>
                  <a:srgbClr val="22456E"/>
                </a:solidFill>
                <a:latin typeface="Yu Gothic" pitchFamily="34" charset="0"/>
                <a:ea typeface="Yu Gothic" pitchFamily="34" charset="-122"/>
                <a:cs typeface="Yu Gothic" pitchFamily="34" charset="-120"/>
              </a:rPr>
              <a:t>費用支援</a:t>
            </a:r>
            <a:endParaRPr lang="en-US" sz="1500" dirty="0"/>
          </a:p>
        </p:txBody>
      </p:sp>
      <p:sp>
        <p:nvSpPr>
          <p:cNvPr id="20" name="Text 18"/>
          <p:cNvSpPr txBox="1"/>
          <p:nvPr/>
        </p:nvSpPr>
        <p:spPr>
          <a:xfrm>
            <a:off x="6537960" y="5001768"/>
            <a:ext cx="4937760" cy="548640"/>
          </a:xfrm>
          <a:prstGeom prst="rect">
            <a:avLst/>
          </a:prstGeom>
          <a:noFill/>
          <a:ln/>
        </p:spPr>
        <p:txBody>
          <a:bodyPr wrap="square" lIns="0" tIns="0" rIns="0" bIns="0" rtlCol="0" anchor="ctr"/>
          <a:lstStyle/>
          <a:p>
            <a:pPr indent="0" marL="0">
              <a:buNone/>
            </a:pPr>
            <a:r>
              <a:rPr lang="en-US" sz="1200" dirty="0">
                <a:solidFill>
                  <a:srgbClr val="5A5F6A"/>
                </a:solidFill>
              </a:rPr>
              <a:t>相談承認申請支援事業の  </a:t>
            </a:r>
            <a:pPr indent="0" marL="0">
              <a:buNone/>
            </a:pPr>
            <a:r>
              <a:rPr lang="en-US" sz="2400" b="1" dirty="0">
                <a:solidFill>
                  <a:srgbClr val="22252B"/>
                </a:solidFill>
                <a:latin typeface="Yu Mincho" pitchFamily="34" charset="0"/>
                <a:ea typeface="Yu Mincho" pitchFamily="34" charset="-122"/>
                <a:cs typeface="Yu Mincho" pitchFamily="34" charset="-120"/>
              </a:rPr>
              <a:t>対象品目</a:t>
            </a:r>
            <a:endParaRPr lang="en-US" sz="1200" dirty="0"/>
          </a:p>
        </p:txBody>
      </p:sp>
      <p:sp>
        <p:nvSpPr>
          <p:cNvPr id="21" name="Text 19"/>
          <p:cNvSpPr txBox="1"/>
          <p:nvPr/>
        </p:nvSpPr>
        <p:spPr>
          <a:xfrm>
            <a:off x="6537960" y="5623560"/>
            <a:ext cx="4937760" cy="411480"/>
          </a:xfrm>
          <a:prstGeom prst="rect">
            <a:avLst/>
          </a:prstGeom>
          <a:noFill/>
          <a:ln/>
        </p:spPr>
        <p:txBody>
          <a:bodyPr wrap="square" lIns="0" tIns="0" rIns="0" bIns="0" rtlCol="0" anchor="ctr"/>
          <a:lstStyle/>
          <a:p>
            <a:pPr indent="0" marL="0">
              <a:buNone/>
            </a:pPr>
            <a:r>
              <a:rPr lang="en-US" sz="1100" dirty="0">
                <a:solidFill>
                  <a:srgbClr val="5A5F6A"/>
                </a:solidFill>
                <a:latin typeface="Yu Gothic" pitchFamily="34" charset="0"/>
                <a:ea typeface="Yu Gothic" pitchFamily="34" charset="-122"/>
                <a:cs typeface="Yu Gothic" pitchFamily="34" charset="-120"/>
              </a:rPr>
              <a:t>革新的医療機器等相談承認申請支援事業</a:t>
            </a:r>
            <a:endParaRPr lang="en-US" sz="1100" dirty="0"/>
          </a:p>
        </p:txBody>
      </p:sp>
      <p:sp>
        <p:nvSpPr>
          <p:cNvPr id="22" name="Text 20"/>
          <p:cNvSpPr txBox="1"/>
          <p:nvPr/>
        </p:nvSpPr>
        <p:spPr>
          <a:xfrm>
            <a:off x="11430000" y="6473952"/>
            <a:ext cx="457200" cy="274320"/>
          </a:xfrm>
          <a:prstGeom prst="rect">
            <a:avLst/>
          </a:prstGeom>
          <a:noFill/>
          <a:ln/>
        </p:spPr>
        <p:txBody>
          <a:bodyPr wrap="square" lIns="0" tIns="0" rIns="0" bIns="0" rtlCol="0" anchor="ctr"/>
          <a:lstStyle/>
          <a:p>
            <a:pPr algn="r" indent="0" marL="0">
              <a:buNone/>
            </a:pPr>
            <a:r>
              <a:rPr lang="en-US" sz="1000" dirty="0">
                <a:solidFill>
                  <a:srgbClr val="5A5F6A"/>
                </a:solidFill>
                <a:latin typeface="Yu Gothic" pitchFamily="34" charset="0"/>
                <a:ea typeface="Yu Gothic" pitchFamily="34" charset="-122"/>
                <a:cs typeface="Yu Gothic"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88720" cy="365760"/>
          </a:xfrm>
          <a:prstGeom prst="rect">
            <a:avLst/>
          </a:prstGeom>
          <a:noFill/>
          <a:ln/>
        </p:spPr>
        <p:txBody>
          <a:bodyPr wrap="square" lIns="0" tIns="0" rIns="0" bIns="0" rtlCol="0" anchor="ctr"/>
          <a:lstStyle/>
          <a:p>
            <a:pPr indent="0" marL="0">
              <a:buNone/>
            </a:pPr>
            <a:r>
              <a:rPr lang="en-US" sz="1300" b="1" spc="300" kern="0" dirty="0">
                <a:solidFill>
                  <a:srgbClr val="22456E"/>
                </a:solidFill>
                <a:latin typeface="Yu Gothic" pitchFamily="34" charset="0"/>
                <a:ea typeface="Yu Gothic" pitchFamily="34" charset="-122"/>
                <a:cs typeface="Yu Gothic" pitchFamily="34" charset="-120"/>
              </a:rPr>
              <a:t>第 2 部</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22252B"/>
                </a:solidFill>
                <a:latin typeface="Yu Mincho" pitchFamily="34" charset="0"/>
                <a:ea typeface="Yu Mincho" pitchFamily="34" charset="-122"/>
                <a:cs typeface="Yu Mincho" pitchFamily="34" charset="-120"/>
              </a:rPr>
              <a:t>費用支援の中身 — 手数料の5割が戻ってくる</a:t>
            </a:r>
            <a:endParaRPr lang="en-US" sz="3000" dirty="0"/>
          </a:p>
        </p:txBody>
      </p:sp>
      <p:sp>
        <p:nvSpPr>
          <p:cNvPr id="4" name="Text 2"/>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5A5F6A"/>
                </a:solidFill>
                <a:latin typeface="Yu Gothic" pitchFamily="34" charset="0"/>
                <a:ea typeface="Yu Gothic" pitchFamily="34" charset="-122"/>
                <a:cs typeface="Yu Gothic" pitchFamily="34" charset="-120"/>
              </a:rPr>
              <a:t>PaTaKaRUSH 薬事戦略プロジェクト｜優先審査指定制度 キックオフ</a:t>
            </a:r>
            <a:endParaRPr lang="en-US" sz="900" dirty="0"/>
          </a:p>
        </p:txBody>
      </p:sp>
      <p:sp>
        <p:nvSpPr>
          <p:cNvPr id="5" name="Text 3"/>
          <p:cNvSpPr txBox="1"/>
          <p:nvPr/>
        </p:nvSpPr>
        <p:spPr>
          <a:xfrm>
            <a:off x="548640" y="1554480"/>
            <a:ext cx="11064240" cy="685800"/>
          </a:xfrm>
          <a:prstGeom prst="rect">
            <a:avLst/>
          </a:prstGeom>
          <a:noFill/>
          <a:ln/>
        </p:spPr>
        <p:txBody>
          <a:bodyPr wrap="square" lIns="0" tIns="0" rIns="0" bIns="0" rtlCol="0" anchor="ctr"/>
          <a:lstStyle/>
          <a:p>
            <a:pPr indent="0" marL="0">
              <a:lnSpc>
                <a:spcPct val="130000"/>
              </a:lnSpc>
              <a:buNone/>
            </a:pPr>
            <a:r>
              <a:rPr lang="en-US" sz="1400" dirty="0">
                <a:solidFill>
                  <a:srgbClr val="22252B"/>
                </a:solidFill>
                <a:latin typeface="Yu Gothic" pitchFamily="34" charset="0"/>
                <a:ea typeface="Yu Gothic" pitchFamily="34" charset="-122"/>
                <a:cs typeface="Yu Gothic" pitchFamily="34" charset="-120"/>
              </a:rPr>
              <a:t>正式名称は「革新的医療機器等相談承認申請支援事業」。PMDAが実施する国の補助金事業で、指定品目は自動的に対象になる。仕組みは</a:t>
            </a:r>
            <a:pPr indent="0" marL="0">
              <a:lnSpc>
                <a:spcPct val="130000"/>
              </a:lnSpc>
              <a:buNone/>
            </a:pPr>
            <a:r>
              <a:rPr lang="en-US" sz="1400" b="1" dirty="0">
                <a:solidFill>
                  <a:srgbClr val="22456E"/>
                </a:solidFill>
                <a:latin typeface="Yu Gothic" pitchFamily="34" charset="0"/>
                <a:ea typeface="Yu Gothic" pitchFamily="34" charset="-122"/>
                <a:cs typeface="Yu Gothic" pitchFamily="34" charset="-120"/>
              </a:rPr>
              <a:t>「先に全額払い、後から半分戻る」償還払い</a:t>
            </a:r>
            <a:pPr indent="0" marL="0">
              <a:lnSpc>
                <a:spcPct val="130000"/>
              </a:lnSpc>
              <a:buNone/>
            </a:pPr>
            <a:r>
              <a:rPr lang="en-US" sz="1400" dirty="0">
                <a:solidFill>
                  <a:srgbClr val="22252B"/>
                </a:solidFill>
                <a:latin typeface="Yu Gothic" pitchFamily="34" charset="0"/>
                <a:ea typeface="Yu Gothic" pitchFamily="34" charset="-122"/>
                <a:cs typeface="Yu Gothic" pitchFamily="34" charset="-120"/>
              </a:rPr>
              <a:t>。</a:t>
            </a:r>
            <a:endParaRPr lang="en-US" sz="1400" dirty="0"/>
          </a:p>
        </p:txBody>
      </p:sp>
      <p:sp>
        <p:nvSpPr>
          <p:cNvPr id="6" name="Shape 4"/>
          <p:cNvSpPr/>
          <p:nvPr/>
        </p:nvSpPr>
        <p:spPr>
          <a:xfrm>
            <a:off x="548640" y="2377440"/>
            <a:ext cx="3291840" cy="1051560"/>
          </a:xfrm>
          <a:prstGeom prst="roundRect">
            <a:avLst>
              <a:gd name="adj" fmla="val 6957"/>
            </a:avLst>
          </a:prstGeom>
          <a:solidFill>
            <a:srgbClr val="EAF0F7"/>
          </a:solidFill>
          <a:ln w="12700">
            <a:solidFill>
              <a:srgbClr val="B9C9DE"/>
            </a:solidFill>
            <a:prstDash val="solid"/>
          </a:ln>
        </p:spPr>
      </p:sp>
      <p:sp>
        <p:nvSpPr>
          <p:cNvPr id="7" name="Text 5"/>
          <p:cNvSpPr txBox="1"/>
          <p:nvPr/>
        </p:nvSpPr>
        <p:spPr>
          <a:xfrm>
            <a:off x="777240" y="2487168"/>
            <a:ext cx="2834640" cy="274320"/>
          </a:xfrm>
          <a:prstGeom prst="rect">
            <a:avLst/>
          </a:prstGeom>
          <a:noFill/>
          <a:ln/>
        </p:spPr>
        <p:txBody>
          <a:bodyPr wrap="square" lIns="0" tIns="0" rIns="0" bIns="0" rtlCol="0" anchor="ctr"/>
          <a:lstStyle/>
          <a:p>
            <a:pPr indent="0" marL="0">
              <a:buNone/>
            </a:pPr>
            <a:r>
              <a:rPr lang="en-US" sz="1000" b="1" spc="200" kern="0" dirty="0">
                <a:solidFill>
                  <a:srgbClr val="5A5F6A"/>
                </a:solidFill>
                <a:latin typeface="Yu Gothic" pitchFamily="34" charset="0"/>
                <a:ea typeface="Yu Gothic" pitchFamily="34" charset="-122"/>
                <a:cs typeface="Yu Gothic" pitchFamily="34" charset="-120"/>
              </a:rPr>
              <a:t>STEP 1</a:t>
            </a:r>
            <a:endParaRPr lang="en-US" sz="1000" dirty="0"/>
          </a:p>
        </p:txBody>
      </p:sp>
      <p:sp>
        <p:nvSpPr>
          <p:cNvPr id="8" name="Text 6"/>
          <p:cNvSpPr txBox="1"/>
          <p:nvPr/>
        </p:nvSpPr>
        <p:spPr>
          <a:xfrm>
            <a:off x="777240" y="2743200"/>
            <a:ext cx="2834640" cy="640080"/>
          </a:xfrm>
          <a:prstGeom prst="rect">
            <a:avLst/>
          </a:prstGeom>
          <a:noFill/>
          <a:ln/>
        </p:spPr>
        <p:txBody>
          <a:bodyPr wrap="square" lIns="0" tIns="0" rIns="0" bIns="0" rtlCol="0" anchor="ctr"/>
          <a:lstStyle/>
          <a:p>
            <a:pPr indent="0" marL="0">
              <a:lnSpc>
                <a:spcPct val="115000"/>
              </a:lnSpc>
              <a:buNone/>
            </a:pPr>
            <a:r>
              <a:rPr lang="en-US" sz="1350" b="1" dirty="0">
                <a:solidFill>
                  <a:srgbClr val="22456E"/>
                </a:solidFill>
                <a:latin typeface="Yu Gothic" pitchFamily="34" charset="0"/>
                <a:ea typeface="Yu Gothic" pitchFamily="34" charset="-122"/>
                <a:cs typeface="Yu Gothic" pitchFamily="34" charset="-120"/>
              </a:rPr>
              <a:t>PMDAに手数料を</a:t>
            </a:r>
            <a:endParaRPr lang="en-US" sz="1350" dirty="0"/>
          </a:p>
          <a:p>
            <a:pPr indent="0" marL="0">
              <a:lnSpc>
                <a:spcPct val="115000"/>
              </a:lnSpc>
              <a:buNone/>
            </a:pPr>
            <a:r>
              <a:rPr lang="en-US" sz="1350" b="1" dirty="0">
                <a:solidFill>
                  <a:srgbClr val="22456E"/>
                </a:solidFill>
                <a:latin typeface="Yu Gothic" pitchFamily="34" charset="0"/>
                <a:ea typeface="Yu Gothic" pitchFamily="34" charset="-122"/>
                <a:cs typeface="Yu Gothic" pitchFamily="34" charset="-120"/>
              </a:rPr>
              <a:t>全額納付</a:t>
            </a:r>
            <a:endParaRPr lang="en-US" sz="1350" dirty="0"/>
          </a:p>
        </p:txBody>
      </p:sp>
      <p:sp>
        <p:nvSpPr>
          <p:cNvPr id="9" name="Shape 7"/>
          <p:cNvSpPr/>
          <p:nvPr/>
        </p:nvSpPr>
        <p:spPr>
          <a:xfrm>
            <a:off x="3913632" y="2898648"/>
            <a:ext cx="457200" cy="0"/>
          </a:xfrm>
          <a:prstGeom prst="line">
            <a:avLst/>
          </a:prstGeom>
          <a:noFill/>
          <a:ln w="31750">
            <a:solidFill>
              <a:srgbClr val="22456E"/>
            </a:solidFill>
            <a:prstDash val="solid"/>
            <a:tailEnd type="triangle"/>
          </a:ln>
        </p:spPr>
      </p:sp>
      <p:sp>
        <p:nvSpPr>
          <p:cNvPr id="10" name="Shape 8"/>
          <p:cNvSpPr/>
          <p:nvPr/>
        </p:nvSpPr>
        <p:spPr>
          <a:xfrm>
            <a:off x="4434840" y="2377440"/>
            <a:ext cx="3291840" cy="1051560"/>
          </a:xfrm>
          <a:prstGeom prst="roundRect">
            <a:avLst>
              <a:gd name="adj" fmla="val 6957"/>
            </a:avLst>
          </a:prstGeom>
          <a:solidFill>
            <a:srgbClr val="EAF0F7"/>
          </a:solidFill>
          <a:ln w="12700">
            <a:solidFill>
              <a:srgbClr val="B9C9DE"/>
            </a:solidFill>
            <a:prstDash val="solid"/>
          </a:ln>
        </p:spPr>
      </p:sp>
      <p:sp>
        <p:nvSpPr>
          <p:cNvPr id="11" name="Text 9"/>
          <p:cNvSpPr txBox="1"/>
          <p:nvPr/>
        </p:nvSpPr>
        <p:spPr>
          <a:xfrm>
            <a:off x="4663440" y="2487168"/>
            <a:ext cx="2834640" cy="274320"/>
          </a:xfrm>
          <a:prstGeom prst="rect">
            <a:avLst/>
          </a:prstGeom>
          <a:noFill/>
          <a:ln/>
        </p:spPr>
        <p:txBody>
          <a:bodyPr wrap="square" lIns="0" tIns="0" rIns="0" bIns="0" rtlCol="0" anchor="ctr"/>
          <a:lstStyle/>
          <a:p>
            <a:pPr indent="0" marL="0">
              <a:buNone/>
            </a:pPr>
            <a:r>
              <a:rPr lang="en-US" sz="1000" b="1" spc="200" kern="0" dirty="0">
                <a:solidFill>
                  <a:srgbClr val="5A5F6A"/>
                </a:solidFill>
                <a:latin typeface="Yu Gothic" pitchFamily="34" charset="0"/>
                <a:ea typeface="Yu Gothic" pitchFamily="34" charset="-122"/>
                <a:cs typeface="Yu Gothic" pitchFamily="34" charset="-120"/>
              </a:rPr>
              <a:t>STEP 2</a:t>
            </a:r>
            <a:endParaRPr lang="en-US" sz="1000" dirty="0"/>
          </a:p>
        </p:txBody>
      </p:sp>
      <p:sp>
        <p:nvSpPr>
          <p:cNvPr id="12" name="Text 10"/>
          <p:cNvSpPr txBox="1"/>
          <p:nvPr/>
        </p:nvSpPr>
        <p:spPr>
          <a:xfrm>
            <a:off x="4663440" y="2743200"/>
            <a:ext cx="2834640" cy="640080"/>
          </a:xfrm>
          <a:prstGeom prst="rect">
            <a:avLst/>
          </a:prstGeom>
          <a:noFill/>
          <a:ln/>
        </p:spPr>
        <p:txBody>
          <a:bodyPr wrap="square" lIns="0" tIns="0" rIns="0" bIns="0" rtlCol="0" anchor="ctr"/>
          <a:lstStyle/>
          <a:p>
            <a:pPr indent="0" marL="0">
              <a:lnSpc>
                <a:spcPct val="115000"/>
              </a:lnSpc>
              <a:buNone/>
            </a:pPr>
            <a:r>
              <a:rPr lang="en-US" sz="1350" b="1" dirty="0">
                <a:solidFill>
                  <a:srgbClr val="22456E"/>
                </a:solidFill>
                <a:latin typeface="Yu Gothic" pitchFamily="34" charset="0"/>
                <a:ea typeface="Yu Gothic" pitchFamily="34" charset="-122"/>
                <a:cs typeface="Yu Gothic" pitchFamily="34" charset="-120"/>
              </a:rPr>
              <a:t>相談・審査を</a:t>
            </a:r>
            <a:endParaRPr lang="en-US" sz="1350" dirty="0"/>
          </a:p>
          <a:p>
            <a:pPr indent="0" marL="0">
              <a:lnSpc>
                <a:spcPct val="115000"/>
              </a:lnSpc>
              <a:buNone/>
            </a:pPr>
            <a:r>
              <a:rPr lang="en-US" sz="1350" b="1" dirty="0">
                <a:solidFill>
                  <a:srgbClr val="22456E"/>
                </a:solidFill>
                <a:latin typeface="Yu Gothic" pitchFamily="34" charset="0"/>
                <a:ea typeface="Yu Gothic" pitchFamily="34" charset="-122"/>
                <a:cs typeface="Yu Gothic" pitchFamily="34" charset="-120"/>
              </a:rPr>
              <a:t>受ける</a:t>
            </a:r>
            <a:endParaRPr lang="en-US" sz="1350" dirty="0"/>
          </a:p>
        </p:txBody>
      </p:sp>
      <p:sp>
        <p:nvSpPr>
          <p:cNvPr id="13" name="Shape 11"/>
          <p:cNvSpPr/>
          <p:nvPr/>
        </p:nvSpPr>
        <p:spPr>
          <a:xfrm>
            <a:off x="7799832" y="2898648"/>
            <a:ext cx="457200" cy="0"/>
          </a:xfrm>
          <a:prstGeom prst="line">
            <a:avLst/>
          </a:prstGeom>
          <a:noFill/>
          <a:ln w="31750">
            <a:solidFill>
              <a:srgbClr val="22456E"/>
            </a:solidFill>
            <a:prstDash val="solid"/>
            <a:tailEnd type="triangle"/>
          </a:ln>
        </p:spPr>
      </p:sp>
      <p:sp>
        <p:nvSpPr>
          <p:cNvPr id="14" name="Shape 12"/>
          <p:cNvSpPr/>
          <p:nvPr/>
        </p:nvSpPr>
        <p:spPr>
          <a:xfrm>
            <a:off x="8321040" y="2377440"/>
            <a:ext cx="3291840" cy="1051560"/>
          </a:xfrm>
          <a:prstGeom prst="roundRect">
            <a:avLst>
              <a:gd name="adj" fmla="val 6957"/>
            </a:avLst>
          </a:prstGeom>
          <a:solidFill>
            <a:srgbClr val="22456E"/>
          </a:solidFill>
          <a:ln w="12700">
            <a:solidFill>
              <a:srgbClr val="B9C9DE"/>
            </a:solidFill>
            <a:prstDash val="solid"/>
          </a:ln>
        </p:spPr>
      </p:sp>
      <p:sp>
        <p:nvSpPr>
          <p:cNvPr id="15" name="Text 13"/>
          <p:cNvSpPr txBox="1"/>
          <p:nvPr/>
        </p:nvSpPr>
        <p:spPr>
          <a:xfrm>
            <a:off x="8549640" y="2487168"/>
            <a:ext cx="2834640" cy="274320"/>
          </a:xfrm>
          <a:prstGeom prst="rect">
            <a:avLst/>
          </a:prstGeom>
          <a:noFill/>
          <a:ln/>
        </p:spPr>
        <p:txBody>
          <a:bodyPr wrap="square" lIns="0" tIns="0" rIns="0" bIns="0" rtlCol="0" anchor="ctr"/>
          <a:lstStyle/>
          <a:p>
            <a:pPr indent="0" marL="0">
              <a:buNone/>
            </a:pPr>
            <a:r>
              <a:rPr lang="en-US" sz="1000" b="1" spc="200" kern="0" dirty="0">
                <a:solidFill>
                  <a:srgbClr val="9DB8DA"/>
                </a:solidFill>
                <a:latin typeface="Yu Gothic" pitchFamily="34" charset="0"/>
                <a:ea typeface="Yu Gothic" pitchFamily="34" charset="-122"/>
                <a:cs typeface="Yu Gothic" pitchFamily="34" charset="-120"/>
              </a:rPr>
              <a:t>STEP 3</a:t>
            </a:r>
            <a:endParaRPr lang="en-US" sz="1000" dirty="0"/>
          </a:p>
        </p:txBody>
      </p:sp>
      <p:sp>
        <p:nvSpPr>
          <p:cNvPr id="16" name="Text 14"/>
          <p:cNvSpPr txBox="1"/>
          <p:nvPr/>
        </p:nvSpPr>
        <p:spPr>
          <a:xfrm>
            <a:off x="8549640" y="2743200"/>
            <a:ext cx="2834640" cy="640080"/>
          </a:xfrm>
          <a:prstGeom prst="rect">
            <a:avLst/>
          </a:prstGeom>
          <a:noFill/>
          <a:ln/>
        </p:spPr>
        <p:txBody>
          <a:bodyPr wrap="square" lIns="0" tIns="0" rIns="0" bIns="0" rtlCol="0" anchor="ctr"/>
          <a:lstStyle/>
          <a:p>
            <a:pPr indent="0" marL="0">
              <a:lnSpc>
                <a:spcPct val="115000"/>
              </a:lnSpc>
              <a:buNone/>
            </a:pPr>
            <a:r>
              <a:rPr lang="en-US" sz="1350" b="1" dirty="0">
                <a:solidFill>
                  <a:srgbClr val="FFFFFF"/>
                </a:solidFill>
                <a:latin typeface="Yu Gothic" pitchFamily="34" charset="0"/>
                <a:ea typeface="Yu Gothic" pitchFamily="34" charset="-122"/>
                <a:cs typeface="Yu Gothic" pitchFamily="34" charset="-120"/>
              </a:rPr>
              <a:t>手数料の5割が</a:t>
            </a:r>
            <a:endParaRPr lang="en-US" sz="1350" dirty="0"/>
          </a:p>
          <a:p>
            <a:pPr indent="0" marL="0">
              <a:lnSpc>
                <a:spcPct val="115000"/>
              </a:lnSpc>
              <a:buNone/>
            </a:pPr>
            <a:r>
              <a:rPr lang="en-US" sz="1350" b="1" dirty="0">
                <a:solidFill>
                  <a:srgbClr val="FFFFFF"/>
                </a:solidFill>
                <a:latin typeface="Yu Gothic" pitchFamily="34" charset="0"/>
                <a:ea typeface="Yu Gothic" pitchFamily="34" charset="-122"/>
                <a:cs typeface="Yu Gothic" pitchFamily="34" charset="-120"/>
              </a:rPr>
              <a:t>助成される</a:t>
            </a:r>
            <a:endParaRPr lang="en-US" sz="1350" dirty="0"/>
          </a:p>
        </p:txBody>
      </p:sp>
      <p:sp>
        <p:nvSpPr>
          <p:cNvPr id="17" name="Text 15"/>
          <p:cNvSpPr txBox="1"/>
          <p:nvPr/>
        </p:nvSpPr>
        <p:spPr>
          <a:xfrm>
            <a:off x="548640" y="3703320"/>
            <a:ext cx="5486400" cy="320040"/>
          </a:xfrm>
          <a:prstGeom prst="rect">
            <a:avLst/>
          </a:prstGeom>
          <a:noFill/>
          <a:ln/>
        </p:spPr>
        <p:txBody>
          <a:bodyPr wrap="square" lIns="0" tIns="0" rIns="0" bIns="0" rtlCol="0" anchor="ctr"/>
          <a:lstStyle/>
          <a:p>
            <a:pPr indent="0" marL="0">
              <a:buNone/>
            </a:pPr>
            <a:r>
              <a:rPr lang="en-US" sz="1350" b="1" dirty="0">
                <a:solidFill>
                  <a:srgbClr val="22456E"/>
                </a:solidFill>
                <a:latin typeface="Yu Gothic" pitchFamily="34" charset="0"/>
                <a:ea typeface="Yu Gothic" pitchFamily="34" charset="-122"/>
                <a:cs typeface="Yu Gothic" pitchFamily="34" charset="-120"/>
              </a:rPr>
              <a:t>助成の対象になる手数料</a:t>
            </a:r>
            <a:endParaRPr lang="en-US" sz="1350" dirty="0"/>
          </a:p>
        </p:txBody>
      </p:sp>
      <p:sp>
        <p:nvSpPr>
          <p:cNvPr id="18" name="Text 16"/>
          <p:cNvSpPr txBox="1"/>
          <p:nvPr/>
        </p:nvSpPr>
        <p:spPr>
          <a:xfrm>
            <a:off x="548640" y="4069080"/>
            <a:ext cx="5852160" cy="1920240"/>
          </a:xfrm>
          <a:prstGeom prst="rect">
            <a:avLst/>
          </a:prstGeom>
          <a:noFill/>
          <a:ln/>
        </p:spPr>
        <p:txBody>
          <a:bodyPr wrap="square" lIns="0" tIns="0" rIns="0" bIns="0" rtlCol="0" anchor="t"/>
          <a:lstStyle/>
          <a:p>
            <a:pPr marL="127000" indent="-127000">
              <a:lnSpc>
                <a:spcPct val="120000"/>
              </a:lnSpc>
              <a:spcAft>
                <a:spcPts val="600"/>
              </a:spcAft>
              <a:buSzPct val="100000"/>
              <a:buChar char="•"/>
            </a:pPr>
            <a:r>
              <a:rPr lang="en-US" sz="1150" dirty="0">
                <a:solidFill>
                  <a:srgbClr val="22252B"/>
                </a:solidFill>
                <a:latin typeface="Yu Gothic" pitchFamily="34" charset="0"/>
                <a:ea typeface="Yu Gothic" pitchFamily="34" charset="-122"/>
                <a:cs typeface="Yu Gothic" pitchFamily="34" charset="-120"/>
              </a:rPr>
              <a:t>対象品目に係るすべての区分のPMDA相談（レギュラトリーサイエンス戦略相談を除く）— 先駆け総合評価相談も含む</a:t>
            </a:r>
            <a:endParaRPr lang="en-US" sz="1150" dirty="0"/>
          </a:p>
          <a:p>
            <a:pPr marL="127000" indent="-127000">
              <a:lnSpc>
                <a:spcPct val="120000"/>
              </a:lnSpc>
              <a:spcAft>
                <a:spcPts val="600"/>
              </a:spcAft>
              <a:buSzPct val="100000"/>
              <a:buChar char="•"/>
            </a:pPr>
            <a:r>
              <a:rPr lang="en-US" sz="1150" dirty="0">
                <a:solidFill>
                  <a:srgbClr val="22252B"/>
                </a:solidFill>
                <a:latin typeface="Yu Gothic" pitchFamily="34" charset="0"/>
                <a:ea typeface="Yu Gothic" pitchFamily="34" charset="-122"/>
                <a:cs typeface="Yu Gothic" pitchFamily="34" charset="-120"/>
              </a:rPr>
              <a:t>承認申請時の審査手数料</a:t>
            </a:r>
            <a:endParaRPr lang="en-US" sz="1150" dirty="0"/>
          </a:p>
          <a:p>
            <a:pPr marL="127000" indent="-127000">
              <a:lnSpc>
                <a:spcPct val="120000"/>
              </a:lnSpc>
              <a:spcAft>
                <a:spcPts val="600"/>
              </a:spcAft>
              <a:buSzPct val="100000"/>
              <a:buChar char="•"/>
            </a:pPr>
            <a:r>
              <a:rPr lang="en-US" sz="1150" dirty="0">
                <a:solidFill>
                  <a:srgbClr val="22252B"/>
                </a:solidFill>
                <a:latin typeface="Yu Gothic" pitchFamily="34" charset="0"/>
                <a:ea typeface="Yu Gothic" pitchFamily="34" charset="-122"/>
                <a:cs typeface="Yu Gothic" pitchFamily="34" charset="-120"/>
              </a:rPr>
              <a:t>信頼性調査（適合性書面調査／GCP調査）の手数料</a:t>
            </a:r>
            <a:endParaRPr lang="en-US" sz="1150" dirty="0"/>
          </a:p>
          <a:p>
            <a:pPr marL="127000" indent="-127000">
              <a:lnSpc>
                <a:spcPct val="120000"/>
              </a:lnSpc>
              <a:spcAft>
                <a:spcPts val="600"/>
              </a:spcAft>
              <a:buSzPct val="100000"/>
              <a:buChar char="•"/>
            </a:pPr>
            <a:r>
              <a:rPr lang="en-US" sz="1150" dirty="0">
                <a:solidFill>
                  <a:srgbClr val="22252B"/>
                </a:solidFill>
                <a:latin typeface="Yu Gothic" pitchFamily="34" charset="0"/>
                <a:ea typeface="Yu Gothic" pitchFamily="34" charset="-122"/>
                <a:cs typeface="Yu Gothic" pitchFamily="34" charset="-120"/>
              </a:rPr>
              <a:t>QMS適合性調査の手数料</a:t>
            </a:r>
            <a:endParaRPr lang="en-US" sz="1150" dirty="0"/>
          </a:p>
        </p:txBody>
      </p:sp>
      <p:sp>
        <p:nvSpPr>
          <p:cNvPr id="19" name="Shape 17"/>
          <p:cNvSpPr/>
          <p:nvPr/>
        </p:nvSpPr>
        <p:spPr>
          <a:xfrm>
            <a:off x="6675120" y="3703320"/>
            <a:ext cx="4937760" cy="2377440"/>
          </a:xfrm>
          <a:prstGeom prst="roundRect">
            <a:avLst>
              <a:gd name="adj" fmla="val 2692"/>
            </a:avLst>
          </a:prstGeom>
          <a:solidFill>
            <a:srgbClr val="F7F0DC"/>
          </a:solidFill>
          <a:ln w="12700">
            <a:solidFill>
              <a:srgbClr val="9A6B00"/>
            </a:solidFill>
            <a:prstDash val="solid"/>
          </a:ln>
        </p:spPr>
      </p:sp>
      <p:sp>
        <p:nvSpPr>
          <p:cNvPr id="20" name="Text 18"/>
          <p:cNvSpPr txBox="1"/>
          <p:nvPr/>
        </p:nvSpPr>
        <p:spPr>
          <a:xfrm>
            <a:off x="6903720" y="3858768"/>
            <a:ext cx="4480560" cy="2103120"/>
          </a:xfrm>
          <a:prstGeom prst="rect">
            <a:avLst/>
          </a:prstGeom>
          <a:noFill/>
          <a:ln/>
        </p:spPr>
        <p:txBody>
          <a:bodyPr wrap="square" lIns="0" tIns="0" rIns="0" bIns="0" rtlCol="0" anchor="t"/>
          <a:lstStyle/>
          <a:p>
            <a:pPr indent="0" marL="0">
              <a:lnSpc>
                <a:spcPct val="125000"/>
              </a:lnSpc>
              <a:buNone/>
            </a:pPr>
            <a:r>
              <a:rPr lang="en-US" sz="1250" b="1" dirty="0">
                <a:solidFill>
                  <a:srgbClr val="9A6B00"/>
                </a:solidFill>
                <a:latin typeface="Yu Gothic" pitchFamily="34" charset="0"/>
                <a:ea typeface="Yu Gothic" pitchFamily="34" charset="-122"/>
                <a:cs typeface="Yu Gothic" pitchFamily="34" charset="-120"/>
              </a:rPr>
              <a:t>金額感と条件
</a:t>
            </a:r>
            <a:pPr indent="0" marL="0">
              <a:lnSpc>
                <a:spcPct val="125000"/>
              </a:lnSpc>
              <a:buNone/>
            </a:pPr>
            <a:r>
              <a:rPr lang="en-US" sz="1100" dirty="0">
                <a:solidFill>
                  <a:srgbClr val="22252B"/>
                </a:solidFill>
                <a:latin typeface="Yu Gothic" pitchFamily="34" charset="0"/>
                <a:ea typeface="Yu Gothic" pitchFamily="34" charset="-122"/>
                <a:cs typeface="Yu Gothic" pitchFamily="34" charset="-120"/>
              </a:rPr>
              <a:t>対面助言は1相談十数万〜数百万円、新医療機器の審査・調査手数料は合計1,000万円規模になり得るため、開発全体で数百万円超の軽減余地。
</a:t>
            </a:r>
            <a:pPr indent="0" marL="0">
              <a:lnSpc>
                <a:spcPct val="125000"/>
              </a:lnSpc>
              <a:buNone/>
            </a:pPr>
            <a:r>
              <a:rPr lang="en-US" sz="1100" dirty="0">
                <a:solidFill>
                  <a:srgbClr val="5A5F6A"/>
                </a:solidFill>
                <a:latin typeface="Yu Gothic" pitchFamily="34" charset="0"/>
                <a:ea typeface="Yu Gothic" pitchFamily="34" charset="-122"/>
                <a:cs typeface="Yu Gothic" pitchFamily="34" charset="-120"/>
              </a:rPr>
              <a:t>対象は中小・ベンチャー企業要件を満たす企業のみ。当社の事業主体は要件を満たすことを確認済み（2026-09-01）。他の補助金との合算調整あり。</a:t>
            </a:r>
            <a:endParaRPr lang="en-US" sz="1250" dirty="0"/>
          </a:p>
        </p:txBody>
      </p:sp>
      <p:sp>
        <p:nvSpPr>
          <p:cNvPr id="21" name="Text 19"/>
          <p:cNvSpPr txBox="1"/>
          <p:nvPr/>
        </p:nvSpPr>
        <p:spPr>
          <a:xfrm>
            <a:off x="548640" y="6172200"/>
            <a:ext cx="11064240" cy="320040"/>
          </a:xfrm>
          <a:prstGeom prst="rect">
            <a:avLst/>
          </a:prstGeom>
          <a:noFill/>
          <a:ln/>
        </p:spPr>
        <p:txBody>
          <a:bodyPr wrap="square" lIns="0" tIns="0" rIns="0" bIns="0" rtlCol="0" anchor="ctr"/>
          <a:lstStyle/>
          <a:p>
            <a:pPr indent="0" marL="0">
              <a:buNone/>
            </a:pPr>
            <a:r>
              <a:rPr lang="en-US" sz="1100" b="1" dirty="0">
                <a:solidFill>
                  <a:srgbClr val="22456E"/>
                </a:solidFill>
                <a:latin typeface="Yu Gothic" pitchFamily="34" charset="0"/>
                <a:ea typeface="Yu Gothic" pitchFamily="34" charset="-122"/>
                <a:cs typeface="Yu Gothic" pitchFamily="34" charset="-120"/>
              </a:rPr>
              <a:t>宿題: PMDAの実施手順書（年度版）を入手し、交付申請の時期・様式・正式な要件定義を確認する</a:t>
            </a:r>
            <a:endParaRPr lang="en-US" sz="1100" dirty="0"/>
          </a:p>
        </p:txBody>
      </p:sp>
      <p:sp>
        <p:nvSpPr>
          <p:cNvPr id="22" name="Text 20"/>
          <p:cNvSpPr txBox="1"/>
          <p:nvPr/>
        </p:nvSpPr>
        <p:spPr>
          <a:xfrm>
            <a:off x="11430000" y="6473952"/>
            <a:ext cx="457200" cy="274320"/>
          </a:xfrm>
          <a:prstGeom prst="rect">
            <a:avLst/>
          </a:prstGeom>
          <a:noFill/>
          <a:ln/>
        </p:spPr>
        <p:txBody>
          <a:bodyPr wrap="square" lIns="0" tIns="0" rIns="0" bIns="0" rtlCol="0" anchor="ctr"/>
          <a:lstStyle/>
          <a:p>
            <a:pPr algn="r" indent="0" marL="0">
              <a:buNone/>
            </a:pPr>
            <a:r>
              <a:rPr lang="en-US" sz="1000" dirty="0">
                <a:solidFill>
                  <a:srgbClr val="5A5F6A"/>
                </a:solidFill>
                <a:latin typeface="Yu Gothic" pitchFamily="34" charset="0"/>
                <a:ea typeface="Yu Gothic" pitchFamily="34" charset="-122"/>
                <a:cs typeface="Yu Gothic"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88720" cy="365760"/>
          </a:xfrm>
          <a:prstGeom prst="rect">
            <a:avLst/>
          </a:prstGeom>
          <a:noFill/>
          <a:ln/>
        </p:spPr>
        <p:txBody>
          <a:bodyPr wrap="square" lIns="0" tIns="0" rIns="0" bIns="0" rtlCol="0" anchor="ctr"/>
          <a:lstStyle/>
          <a:p>
            <a:pPr indent="0" marL="0">
              <a:buNone/>
            </a:pPr>
            <a:r>
              <a:rPr lang="en-US" sz="1300" b="1" spc="300" kern="0" dirty="0">
                <a:solidFill>
                  <a:srgbClr val="22456E"/>
                </a:solidFill>
                <a:latin typeface="Yu Gothic" pitchFamily="34" charset="0"/>
                <a:ea typeface="Yu Gothic" pitchFamily="34" charset="-122"/>
                <a:cs typeface="Yu Gothic" pitchFamily="34" charset="-120"/>
              </a:rPr>
              <a:t>第 3 部</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22252B"/>
                </a:solidFill>
                <a:latin typeface="Yu Mincho" pitchFamily="34" charset="0"/>
                <a:ea typeface="Yu Mincho" pitchFamily="34" charset="-122"/>
                <a:cs typeface="Yu Mincho" pitchFamily="34" charset="-120"/>
              </a:rPr>
              <a:t>指定の3要件 — すべての充足が必要</a:t>
            </a:r>
            <a:endParaRPr lang="en-US" sz="3000" dirty="0"/>
          </a:p>
        </p:txBody>
      </p:sp>
      <p:sp>
        <p:nvSpPr>
          <p:cNvPr id="4" name="Text 2"/>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5A5F6A"/>
                </a:solidFill>
                <a:latin typeface="Yu Gothic" pitchFamily="34" charset="0"/>
                <a:ea typeface="Yu Gothic" pitchFamily="34" charset="-122"/>
                <a:cs typeface="Yu Gothic" pitchFamily="34" charset="-120"/>
              </a:rPr>
              <a:t>PaTaKaRUSH 薬事戦略プロジェクト｜優先審査指定制度 キックオフ</a:t>
            </a:r>
            <a:endParaRPr lang="en-US" sz="900" dirty="0"/>
          </a:p>
        </p:txBody>
      </p:sp>
      <p:sp>
        <p:nvSpPr>
          <p:cNvPr id="5" name="Shape 3"/>
          <p:cNvSpPr/>
          <p:nvPr/>
        </p:nvSpPr>
        <p:spPr>
          <a:xfrm>
            <a:off x="548640" y="1691640"/>
            <a:ext cx="11064240" cy="914400"/>
          </a:xfrm>
          <a:prstGeom prst="roundRect">
            <a:avLst>
              <a:gd name="adj" fmla="val 6000"/>
            </a:avLst>
          </a:prstGeom>
          <a:solidFill>
            <a:srgbClr val="FFFFFF"/>
          </a:solidFill>
          <a:ln w="12700">
            <a:solidFill>
              <a:srgbClr val="D9DCE3"/>
            </a:solidFill>
            <a:prstDash val="solid"/>
          </a:ln>
        </p:spPr>
      </p:sp>
      <p:sp>
        <p:nvSpPr>
          <p:cNvPr id="6" name="Text 4"/>
          <p:cNvSpPr txBox="1"/>
          <p:nvPr/>
        </p:nvSpPr>
        <p:spPr>
          <a:xfrm>
            <a:off x="822960" y="1801368"/>
            <a:ext cx="1005840" cy="694944"/>
          </a:xfrm>
          <a:prstGeom prst="rect">
            <a:avLst/>
          </a:prstGeom>
          <a:noFill/>
          <a:ln/>
        </p:spPr>
        <p:txBody>
          <a:bodyPr wrap="square" lIns="0" tIns="0" rIns="0" bIns="0" rtlCol="0" anchor="ctr"/>
          <a:lstStyle/>
          <a:p>
            <a:pPr indent="0" marL="0">
              <a:buNone/>
            </a:pPr>
            <a:r>
              <a:rPr lang="en-US" sz="1700" b="1" dirty="0">
                <a:solidFill>
                  <a:srgbClr val="22456E"/>
                </a:solidFill>
                <a:latin typeface="Yu Mincho" pitchFamily="34" charset="0"/>
                <a:ea typeface="Yu Mincho" pitchFamily="34" charset="-122"/>
                <a:cs typeface="Yu Mincho" pitchFamily="34" charset="-120"/>
              </a:rPr>
              <a:t>要件1</a:t>
            </a:r>
            <a:endParaRPr lang="en-US" sz="1700" dirty="0"/>
          </a:p>
        </p:txBody>
      </p:sp>
      <p:sp>
        <p:nvSpPr>
          <p:cNvPr id="7" name="Text 5"/>
          <p:cNvSpPr txBox="1"/>
          <p:nvPr/>
        </p:nvSpPr>
        <p:spPr>
          <a:xfrm>
            <a:off x="1874520" y="1801368"/>
            <a:ext cx="4206240" cy="694944"/>
          </a:xfrm>
          <a:prstGeom prst="rect">
            <a:avLst/>
          </a:prstGeom>
          <a:noFill/>
          <a:ln/>
        </p:spPr>
        <p:txBody>
          <a:bodyPr wrap="square" lIns="0" tIns="0" rIns="0" bIns="0" rtlCol="0" anchor="ctr"/>
          <a:lstStyle/>
          <a:p>
            <a:pPr indent="0" marL="0">
              <a:lnSpc>
                <a:spcPct val="115000"/>
              </a:lnSpc>
              <a:buNone/>
            </a:pPr>
            <a:r>
              <a:rPr lang="en-US" sz="1450" b="1" dirty="0">
                <a:solidFill>
                  <a:srgbClr val="22252B"/>
                </a:solidFill>
                <a:latin typeface="Yu Gothic" pitchFamily="34" charset="0"/>
                <a:ea typeface="Yu Gothic" pitchFamily="34" charset="-122"/>
                <a:cs typeface="Yu Gothic" pitchFamily="34" charset="-120"/>
              </a:rPr>
              <a:t>治療法・診断法・予防法の画期性</a:t>
            </a:r>
            <a:endParaRPr lang="en-US" sz="1450" dirty="0"/>
          </a:p>
        </p:txBody>
      </p:sp>
      <p:sp>
        <p:nvSpPr>
          <p:cNvPr id="8" name="Text 6"/>
          <p:cNvSpPr txBox="1"/>
          <p:nvPr/>
        </p:nvSpPr>
        <p:spPr>
          <a:xfrm>
            <a:off x="6172200" y="1801368"/>
            <a:ext cx="3749040" cy="694944"/>
          </a:xfrm>
          <a:prstGeom prst="rect">
            <a:avLst/>
          </a:prstGeom>
          <a:noFill/>
          <a:ln/>
        </p:spPr>
        <p:txBody>
          <a:bodyPr wrap="square" lIns="0" tIns="0" rIns="0" bIns="0" rtlCol="0" anchor="ctr"/>
          <a:lstStyle/>
          <a:p>
            <a:pPr indent="0" marL="0">
              <a:lnSpc>
                <a:spcPct val="120000"/>
              </a:lnSpc>
              <a:buNone/>
            </a:pPr>
            <a:r>
              <a:rPr lang="en-US" sz="1150" dirty="0">
                <a:solidFill>
                  <a:srgbClr val="5A5F6A"/>
                </a:solidFill>
                <a:latin typeface="Yu Gothic" pitchFamily="34" charset="0"/>
                <a:ea typeface="Yu Gothic" pitchFamily="34" charset="-122"/>
                <a:cs typeface="Yu Gothic" pitchFamily="34" charset="-120"/>
              </a:rPr>
              <a:t>原理が既存の機器・標準的治療と「明らかに異なる」こと</a:t>
            </a:r>
            <a:endParaRPr lang="en-US" sz="1150" dirty="0"/>
          </a:p>
        </p:txBody>
      </p:sp>
      <p:sp>
        <p:nvSpPr>
          <p:cNvPr id="9" name="Shape 7"/>
          <p:cNvSpPr/>
          <p:nvPr/>
        </p:nvSpPr>
        <p:spPr>
          <a:xfrm>
            <a:off x="10012680" y="1993392"/>
            <a:ext cx="1417320" cy="310896"/>
          </a:xfrm>
          <a:prstGeom prst="roundRect">
            <a:avLst>
              <a:gd name="adj" fmla="val 50000"/>
            </a:avLst>
          </a:prstGeom>
          <a:solidFill>
            <a:srgbClr val="F9ECEC"/>
          </a:solidFill>
          <a:ln w="12700">
            <a:solidFill>
              <a:srgbClr val="B3383E"/>
            </a:solidFill>
            <a:prstDash val="solid"/>
          </a:ln>
        </p:spPr>
      </p:sp>
      <p:sp>
        <p:nvSpPr>
          <p:cNvPr id="10" name="Text 8"/>
          <p:cNvSpPr txBox="1"/>
          <p:nvPr/>
        </p:nvSpPr>
        <p:spPr>
          <a:xfrm>
            <a:off x="10012680" y="1986077"/>
            <a:ext cx="1417320" cy="329184"/>
          </a:xfrm>
          <a:prstGeom prst="rect">
            <a:avLst/>
          </a:prstGeom>
          <a:noFill/>
          <a:ln/>
        </p:spPr>
        <p:txBody>
          <a:bodyPr wrap="square" lIns="0" tIns="0" rIns="0" bIns="0" rtlCol="0" anchor="ctr"/>
          <a:lstStyle/>
          <a:p>
            <a:pPr algn="ctr" indent="0" marL="0">
              <a:buNone/>
            </a:pPr>
            <a:r>
              <a:rPr lang="en-US" sz="1100" b="1" dirty="0">
                <a:solidFill>
                  <a:srgbClr val="B3383E"/>
                </a:solidFill>
                <a:latin typeface="Yu Gothic" pitchFamily="34" charset="0"/>
                <a:ea typeface="Yu Gothic" pitchFamily="34" charset="-122"/>
                <a:cs typeface="Yu Gothic" pitchFamily="34" charset="-120"/>
              </a:rPr>
              <a:t>最大の関門</a:t>
            </a:r>
            <a:endParaRPr lang="en-US" sz="1100" dirty="0"/>
          </a:p>
        </p:txBody>
      </p:sp>
      <p:sp>
        <p:nvSpPr>
          <p:cNvPr id="11" name="Shape 9"/>
          <p:cNvSpPr/>
          <p:nvPr/>
        </p:nvSpPr>
        <p:spPr>
          <a:xfrm>
            <a:off x="548640" y="2752344"/>
            <a:ext cx="11064240" cy="914400"/>
          </a:xfrm>
          <a:prstGeom prst="roundRect">
            <a:avLst>
              <a:gd name="adj" fmla="val 6000"/>
            </a:avLst>
          </a:prstGeom>
          <a:solidFill>
            <a:srgbClr val="FFFFFF"/>
          </a:solidFill>
          <a:ln w="12700">
            <a:solidFill>
              <a:srgbClr val="D9DCE3"/>
            </a:solidFill>
            <a:prstDash val="solid"/>
          </a:ln>
        </p:spPr>
      </p:sp>
      <p:sp>
        <p:nvSpPr>
          <p:cNvPr id="12" name="Text 10"/>
          <p:cNvSpPr txBox="1"/>
          <p:nvPr/>
        </p:nvSpPr>
        <p:spPr>
          <a:xfrm>
            <a:off x="822960" y="2862072"/>
            <a:ext cx="1005840" cy="694944"/>
          </a:xfrm>
          <a:prstGeom prst="rect">
            <a:avLst/>
          </a:prstGeom>
          <a:noFill/>
          <a:ln/>
        </p:spPr>
        <p:txBody>
          <a:bodyPr wrap="square" lIns="0" tIns="0" rIns="0" bIns="0" rtlCol="0" anchor="ctr"/>
          <a:lstStyle/>
          <a:p>
            <a:pPr indent="0" marL="0">
              <a:buNone/>
            </a:pPr>
            <a:r>
              <a:rPr lang="en-US" sz="1700" b="1" dirty="0">
                <a:solidFill>
                  <a:srgbClr val="22456E"/>
                </a:solidFill>
                <a:latin typeface="Yu Mincho" pitchFamily="34" charset="0"/>
                <a:ea typeface="Yu Mincho" pitchFamily="34" charset="-122"/>
                <a:cs typeface="Yu Mincho" pitchFamily="34" charset="-120"/>
              </a:rPr>
              <a:t>要件2</a:t>
            </a:r>
            <a:endParaRPr lang="en-US" sz="1700" dirty="0"/>
          </a:p>
        </p:txBody>
      </p:sp>
      <p:sp>
        <p:nvSpPr>
          <p:cNvPr id="13" name="Text 11"/>
          <p:cNvSpPr txBox="1"/>
          <p:nvPr/>
        </p:nvSpPr>
        <p:spPr>
          <a:xfrm>
            <a:off x="1874520" y="2862072"/>
            <a:ext cx="4206240" cy="694944"/>
          </a:xfrm>
          <a:prstGeom prst="rect">
            <a:avLst/>
          </a:prstGeom>
          <a:noFill/>
          <a:ln/>
        </p:spPr>
        <p:txBody>
          <a:bodyPr wrap="square" lIns="0" tIns="0" rIns="0" bIns="0" rtlCol="0" anchor="ctr"/>
          <a:lstStyle/>
          <a:p>
            <a:pPr indent="0" marL="0">
              <a:lnSpc>
                <a:spcPct val="115000"/>
              </a:lnSpc>
              <a:buNone/>
            </a:pPr>
            <a:r>
              <a:rPr lang="en-US" sz="1450" b="1" dirty="0">
                <a:solidFill>
                  <a:srgbClr val="22252B"/>
                </a:solidFill>
                <a:latin typeface="Yu Gothic" pitchFamily="34" charset="0"/>
                <a:ea typeface="Yu Gothic" pitchFamily="34" charset="-122"/>
                <a:cs typeface="Yu Gothic" pitchFamily="34" charset="-120"/>
              </a:rPr>
              <a:t>対象疾患に係る医療上の有用性</a:t>
            </a:r>
            <a:endParaRPr lang="en-US" sz="1450" dirty="0"/>
          </a:p>
        </p:txBody>
      </p:sp>
      <p:sp>
        <p:nvSpPr>
          <p:cNvPr id="14" name="Text 12"/>
          <p:cNvSpPr txBox="1"/>
          <p:nvPr/>
        </p:nvSpPr>
        <p:spPr>
          <a:xfrm>
            <a:off x="6172200" y="2862072"/>
            <a:ext cx="3749040" cy="694944"/>
          </a:xfrm>
          <a:prstGeom prst="rect">
            <a:avLst/>
          </a:prstGeom>
          <a:noFill/>
          <a:ln/>
        </p:spPr>
        <p:txBody>
          <a:bodyPr wrap="square" lIns="0" tIns="0" rIns="0" bIns="0" rtlCol="0" anchor="ctr"/>
          <a:lstStyle/>
          <a:p>
            <a:pPr indent="0" marL="0">
              <a:lnSpc>
                <a:spcPct val="120000"/>
              </a:lnSpc>
              <a:buNone/>
            </a:pPr>
            <a:r>
              <a:rPr lang="en-US" sz="1150" dirty="0">
                <a:solidFill>
                  <a:srgbClr val="5A5F6A"/>
                </a:solidFill>
                <a:latin typeface="Yu Gothic" pitchFamily="34" charset="0"/>
                <a:ea typeface="Yu Gothic" pitchFamily="34" charset="-122"/>
                <a:cs typeface="Yu Gothic" pitchFamily="34" charset="-120"/>
              </a:rPr>
              <a:t>臨床試験等において高い有効性・安全性等が見込まれること</a:t>
            </a:r>
            <a:endParaRPr lang="en-US" sz="1150" dirty="0"/>
          </a:p>
        </p:txBody>
      </p:sp>
      <p:sp>
        <p:nvSpPr>
          <p:cNvPr id="15" name="Shape 13"/>
          <p:cNvSpPr/>
          <p:nvPr/>
        </p:nvSpPr>
        <p:spPr>
          <a:xfrm>
            <a:off x="10012680" y="3054096"/>
            <a:ext cx="1417320" cy="310896"/>
          </a:xfrm>
          <a:prstGeom prst="roundRect">
            <a:avLst>
              <a:gd name="adj" fmla="val 50000"/>
            </a:avLst>
          </a:prstGeom>
          <a:solidFill>
            <a:srgbClr val="F7F0DC"/>
          </a:solidFill>
          <a:ln w="12700">
            <a:solidFill>
              <a:srgbClr val="9A6B00"/>
            </a:solidFill>
            <a:prstDash val="solid"/>
          </a:ln>
        </p:spPr>
      </p:sp>
      <p:sp>
        <p:nvSpPr>
          <p:cNvPr id="16" name="Text 14"/>
          <p:cNvSpPr txBox="1"/>
          <p:nvPr/>
        </p:nvSpPr>
        <p:spPr>
          <a:xfrm>
            <a:off x="10012680" y="3046781"/>
            <a:ext cx="1417320" cy="329184"/>
          </a:xfrm>
          <a:prstGeom prst="rect">
            <a:avLst/>
          </a:prstGeom>
          <a:noFill/>
          <a:ln/>
        </p:spPr>
        <p:txBody>
          <a:bodyPr wrap="square" lIns="0" tIns="0" rIns="0" bIns="0" rtlCol="0" anchor="ctr"/>
          <a:lstStyle/>
          <a:p>
            <a:pPr algn="ctr" indent="0" marL="0">
              <a:buNone/>
            </a:pPr>
            <a:r>
              <a:rPr lang="en-US" sz="1100" b="1" dirty="0">
                <a:solidFill>
                  <a:srgbClr val="9A6B00"/>
                </a:solidFill>
                <a:latin typeface="Yu Gothic" pitchFamily="34" charset="0"/>
                <a:ea typeface="Yu Gothic" pitchFamily="34" charset="-122"/>
                <a:cs typeface="Yu Gothic" pitchFamily="34" charset="-120"/>
              </a:rPr>
              <a:t>臨床データが前提</a:t>
            </a:r>
            <a:endParaRPr lang="en-US" sz="1100" dirty="0"/>
          </a:p>
        </p:txBody>
      </p:sp>
      <p:sp>
        <p:nvSpPr>
          <p:cNvPr id="17" name="Shape 15"/>
          <p:cNvSpPr/>
          <p:nvPr/>
        </p:nvSpPr>
        <p:spPr>
          <a:xfrm>
            <a:off x="548640" y="3813048"/>
            <a:ext cx="11064240" cy="914400"/>
          </a:xfrm>
          <a:prstGeom prst="roundRect">
            <a:avLst>
              <a:gd name="adj" fmla="val 6000"/>
            </a:avLst>
          </a:prstGeom>
          <a:solidFill>
            <a:srgbClr val="FFFFFF"/>
          </a:solidFill>
          <a:ln w="12700">
            <a:solidFill>
              <a:srgbClr val="D9DCE3"/>
            </a:solidFill>
            <a:prstDash val="solid"/>
          </a:ln>
        </p:spPr>
      </p:sp>
      <p:sp>
        <p:nvSpPr>
          <p:cNvPr id="18" name="Text 16"/>
          <p:cNvSpPr txBox="1"/>
          <p:nvPr/>
        </p:nvSpPr>
        <p:spPr>
          <a:xfrm>
            <a:off x="822960" y="3922776"/>
            <a:ext cx="1005840" cy="694944"/>
          </a:xfrm>
          <a:prstGeom prst="rect">
            <a:avLst/>
          </a:prstGeom>
          <a:noFill/>
          <a:ln/>
        </p:spPr>
        <p:txBody>
          <a:bodyPr wrap="square" lIns="0" tIns="0" rIns="0" bIns="0" rtlCol="0" anchor="ctr"/>
          <a:lstStyle/>
          <a:p>
            <a:pPr indent="0" marL="0">
              <a:buNone/>
            </a:pPr>
            <a:r>
              <a:rPr lang="en-US" sz="1700" b="1" dirty="0">
                <a:solidFill>
                  <a:srgbClr val="22456E"/>
                </a:solidFill>
                <a:latin typeface="Yu Mincho" pitchFamily="34" charset="0"/>
                <a:ea typeface="Yu Mincho" pitchFamily="34" charset="-122"/>
                <a:cs typeface="Yu Mincho" pitchFamily="34" charset="-120"/>
              </a:rPr>
              <a:t>要件3</a:t>
            </a:r>
            <a:endParaRPr lang="en-US" sz="1700" dirty="0"/>
          </a:p>
        </p:txBody>
      </p:sp>
      <p:sp>
        <p:nvSpPr>
          <p:cNvPr id="19" name="Text 17"/>
          <p:cNvSpPr txBox="1"/>
          <p:nvPr/>
        </p:nvSpPr>
        <p:spPr>
          <a:xfrm>
            <a:off x="1874520" y="3922776"/>
            <a:ext cx="4206240" cy="694944"/>
          </a:xfrm>
          <a:prstGeom prst="rect">
            <a:avLst/>
          </a:prstGeom>
          <a:noFill/>
          <a:ln/>
        </p:spPr>
        <p:txBody>
          <a:bodyPr wrap="square" lIns="0" tIns="0" rIns="0" bIns="0" rtlCol="0" anchor="ctr"/>
          <a:lstStyle/>
          <a:p>
            <a:pPr indent="0" marL="0">
              <a:lnSpc>
                <a:spcPct val="115000"/>
              </a:lnSpc>
              <a:buNone/>
            </a:pPr>
            <a:r>
              <a:rPr lang="en-US" sz="1450" b="1" dirty="0">
                <a:solidFill>
                  <a:srgbClr val="22252B"/>
                </a:solidFill>
                <a:latin typeface="Yu Gothic" pitchFamily="34" charset="0"/>
                <a:ea typeface="Yu Gothic" pitchFamily="34" charset="-122"/>
                <a:cs typeface="Yu Gothic" pitchFamily="34" charset="-120"/>
              </a:rPr>
              <a:t>世界に先駆けた日本での開発・申請</a:t>
            </a:r>
            <a:endParaRPr lang="en-US" sz="1450" dirty="0"/>
          </a:p>
        </p:txBody>
      </p:sp>
      <p:sp>
        <p:nvSpPr>
          <p:cNvPr id="20" name="Text 18"/>
          <p:cNvSpPr txBox="1"/>
          <p:nvPr/>
        </p:nvSpPr>
        <p:spPr>
          <a:xfrm>
            <a:off x="6172200" y="3922776"/>
            <a:ext cx="3749040" cy="694944"/>
          </a:xfrm>
          <a:prstGeom prst="rect">
            <a:avLst/>
          </a:prstGeom>
          <a:noFill/>
          <a:ln/>
        </p:spPr>
        <p:txBody>
          <a:bodyPr wrap="square" lIns="0" tIns="0" rIns="0" bIns="0" rtlCol="0" anchor="ctr"/>
          <a:lstStyle/>
          <a:p>
            <a:pPr indent="0" marL="0">
              <a:lnSpc>
                <a:spcPct val="120000"/>
              </a:lnSpc>
              <a:buNone/>
            </a:pPr>
            <a:r>
              <a:rPr lang="en-US" sz="1150" dirty="0">
                <a:solidFill>
                  <a:srgbClr val="5A5F6A"/>
                </a:solidFill>
                <a:latin typeface="Yu Gothic" pitchFamily="34" charset="0"/>
                <a:ea typeface="Yu Gothic" pitchFamily="34" charset="-122"/>
                <a:cs typeface="Yu Gothic" pitchFamily="34" charset="-120"/>
              </a:rPr>
              <a:t>日本先行（又は同時）申請の意思と、迅速審査に対応できる体制</a:t>
            </a:r>
            <a:endParaRPr lang="en-US" sz="1150" dirty="0"/>
          </a:p>
        </p:txBody>
      </p:sp>
      <p:sp>
        <p:nvSpPr>
          <p:cNvPr id="21" name="Shape 19"/>
          <p:cNvSpPr/>
          <p:nvPr/>
        </p:nvSpPr>
        <p:spPr>
          <a:xfrm>
            <a:off x="10012680" y="4114800"/>
            <a:ext cx="1417320" cy="310896"/>
          </a:xfrm>
          <a:prstGeom prst="roundRect">
            <a:avLst>
              <a:gd name="adj" fmla="val 50000"/>
            </a:avLst>
          </a:prstGeom>
          <a:solidFill>
            <a:srgbClr val="E7F1EA"/>
          </a:solidFill>
          <a:ln w="12700">
            <a:solidFill>
              <a:srgbClr val="2E6E4E"/>
            </a:solidFill>
            <a:prstDash val="solid"/>
          </a:ln>
        </p:spPr>
      </p:sp>
      <p:sp>
        <p:nvSpPr>
          <p:cNvPr id="22" name="Text 20"/>
          <p:cNvSpPr txBox="1"/>
          <p:nvPr/>
        </p:nvSpPr>
        <p:spPr>
          <a:xfrm>
            <a:off x="10012680" y="4107485"/>
            <a:ext cx="1417320" cy="329184"/>
          </a:xfrm>
          <a:prstGeom prst="rect">
            <a:avLst/>
          </a:prstGeom>
          <a:noFill/>
          <a:ln/>
        </p:spPr>
        <p:txBody>
          <a:bodyPr wrap="square" lIns="0" tIns="0" rIns="0" bIns="0" rtlCol="0" anchor="ctr"/>
          <a:lstStyle/>
          <a:p>
            <a:pPr algn="ctr" indent="0" marL="0">
              <a:buNone/>
            </a:pPr>
            <a:r>
              <a:rPr lang="en-US" sz="1100" b="1" dirty="0">
                <a:solidFill>
                  <a:srgbClr val="2E6E4E"/>
                </a:solidFill>
                <a:latin typeface="Yu Gothic" pitchFamily="34" charset="0"/>
                <a:ea typeface="Yu Gothic" pitchFamily="34" charset="-122"/>
                <a:cs typeface="Yu Gothic" pitchFamily="34" charset="-120"/>
              </a:rPr>
              <a:t>主張しやすい</a:t>
            </a:r>
            <a:endParaRPr lang="en-US" sz="1100" dirty="0"/>
          </a:p>
        </p:txBody>
      </p:sp>
      <p:sp>
        <p:nvSpPr>
          <p:cNvPr id="23" name="Shape 21"/>
          <p:cNvSpPr/>
          <p:nvPr/>
        </p:nvSpPr>
        <p:spPr>
          <a:xfrm>
            <a:off x="548640" y="5029200"/>
            <a:ext cx="11064240" cy="1298448"/>
          </a:xfrm>
          <a:prstGeom prst="roundRect">
            <a:avLst>
              <a:gd name="adj" fmla="val 4225"/>
            </a:avLst>
          </a:prstGeom>
          <a:solidFill>
            <a:srgbClr val="F5F3EA"/>
          </a:solidFill>
          <a:ln w="9525">
            <a:solidFill>
              <a:srgbClr val="E0DBC8"/>
            </a:solidFill>
            <a:prstDash val="solid"/>
          </a:ln>
        </p:spPr>
      </p:sp>
      <p:sp>
        <p:nvSpPr>
          <p:cNvPr id="24" name="Text 22"/>
          <p:cNvSpPr txBox="1"/>
          <p:nvPr/>
        </p:nvSpPr>
        <p:spPr>
          <a:xfrm>
            <a:off x="777240" y="5157216"/>
            <a:ext cx="2011680" cy="256032"/>
          </a:xfrm>
          <a:prstGeom prst="rect">
            <a:avLst/>
          </a:prstGeom>
          <a:noFill/>
          <a:ln/>
        </p:spPr>
        <p:txBody>
          <a:bodyPr wrap="square" lIns="0" tIns="0" rIns="0" bIns="0" rtlCol="0" anchor="ctr"/>
          <a:lstStyle/>
          <a:p>
            <a:pPr indent="0" marL="0">
              <a:buNone/>
            </a:pPr>
            <a:r>
              <a:rPr lang="en-US" sz="1000" b="1" spc="200" kern="0" dirty="0">
                <a:solidFill>
                  <a:srgbClr val="8A7B4E"/>
                </a:solidFill>
                <a:latin typeface="Yu Gothic" pitchFamily="34" charset="0"/>
                <a:ea typeface="Yu Gothic" pitchFamily="34" charset="-122"/>
                <a:cs typeface="Yu Gothic" pitchFamily="34" charset="-120"/>
              </a:rPr>
              <a:t>原 文 抜 粋</a:t>
            </a:r>
            <a:endParaRPr lang="en-US" sz="1000" dirty="0"/>
          </a:p>
        </p:txBody>
      </p:sp>
      <p:sp>
        <p:nvSpPr>
          <p:cNvPr id="25" name="Text 23"/>
          <p:cNvSpPr txBox="1"/>
          <p:nvPr/>
        </p:nvSpPr>
        <p:spPr>
          <a:xfrm>
            <a:off x="777240" y="5431536"/>
            <a:ext cx="10607040" cy="521208"/>
          </a:xfrm>
          <a:prstGeom prst="rect">
            <a:avLst/>
          </a:prstGeom>
          <a:noFill/>
          <a:ln/>
        </p:spPr>
        <p:txBody>
          <a:bodyPr wrap="square" lIns="0" tIns="0" rIns="0" bIns="0" rtlCol="0" anchor="t"/>
          <a:lstStyle/>
          <a:p>
            <a:pPr indent="0" marL="0">
              <a:lnSpc>
                <a:spcPct val="125000"/>
              </a:lnSpc>
              <a:buNone/>
            </a:pPr>
            <a:r>
              <a:rPr lang="en-US" sz="1200" dirty="0">
                <a:solidFill>
                  <a:srgbClr val="22252B"/>
                </a:solidFill>
                <a:latin typeface="Yu Mincho" pitchFamily="34" charset="0"/>
                <a:ea typeface="Yu Mincho" pitchFamily="34" charset="-122"/>
                <a:cs typeface="Yu Mincho" pitchFamily="34" charset="-120"/>
              </a:rPr>
              <a:t>３つのすべての要件を満たす場合であっても、当該医療機器と</a:t>
            </a:r>
            <a:pPr indent="0" marL="0">
              <a:lnSpc>
                <a:spcPct val="125000"/>
              </a:lnSpc>
              <a:buNone/>
            </a:pPr>
            <a:r>
              <a:rPr lang="en-US" sz="1200" b="1" dirty="0">
                <a:solidFill>
                  <a:srgbClr val="B3383E"/>
                </a:solidFill>
                <a:latin typeface="Yu Mincho" pitchFamily="34" charset="0"/>
                <a:ea typeface="Yu Mincho" pitchFamily="34" charset="-122"/>
                <a:cs typeface="Yu Mincho" pitchFamily="34" charset="-120"/>
              </a:rPr>
              <a:t>同等の原理に基づく使用目的又は効果を有する他の医療機器が既に承認されている場合には原則として指定しない</a:t>
            </a:r>
            <a:pPr indent="0" marL="0">
              <a:lnSpc>
                <a:spcPct val="125000"/>
              </a:lnSpc>
              <a:buNone/>
            </a:pPr>
            <a:r>
              <a:rPr lang="en-US" sz="1200" dirty="0">
                <a:solidFill>
                  <a:srgbClr val="22252B"/>
                </a:solidFill>
                <a:latin typeface="Yu Mincho" pitchFamily="34" charset="0"/>
                <a:ea typeface="Yu Mincho" pitchFamily="34" charset="-122"/>
                <a:cs typeface="Yu Mincho" pitchFamily="34" charset="-120"/>
              </a:rPr>
              <a:t>。</a:t>
            </a:r>
            <a:endParaRPr lang="en-US" sz="1200" dirty="0"/>
          </a:p>
        </p:txBody>
      </p:sp>
      <p:sp>
        <p:nvSpPr>
          <p:cNvPr id="26" name="Text 24"/>
          <p:cNvSpPr txBox="1"/>
          <p:nvPr/>
        </p:nvSpPr>
        <p:spPr>
          <a:xfrm>
            <a:off x="777240" y="5961888"/>
            <a:ext cx="10607040" cy="274320"/>
          </a:xfrm>
          <a:prstGeom prst="rect">
            <a:avLst/>
          </a:prstGeom>
          <a:noFill/>
          <a:ln/>
        </p:spPr>
        <p:txBody>
          <a:bodyPr wrap="square" lIns="0" tIns="0" rIns="0" bIns="0" rtlCol="0" anchor="ctr"/>
          <a:lstStyle/>
          <a:p>
            <a:pPr algn="r" indent="0" marL="0">
              <a:buNone/>
            </a:pPr>
            <a:r>
              <a:rPr lang="en-US" sz="950" dirty="0">
                <a:solidFill>
                  <a:srgbClr val="5A5F6A"/>
                </a:solidFill>
                <a:latin typeface="Yu Gothic" pitchFamily="34" charset="0"/>
                <a:ea typeface="Yu Gothic" pitchFamily="34" charset="-122"/>
                <a:cs typeface="Yu Gothic" pitchFamily="34" charset="-120"/>
              </a:rPr>
              <a:t>— 通知 2. 指定の要件（大前提）</a:t>
            </a:r>
            <a:endParaRPr lang="en-US" sz="950" dirty="0"/>
          </a:p>
        </p:txBody>
      </p:sp>
      <p:sp>
        <p:nvSpPr>
          <p:cNvPr id="27" name="Text 25"/>
          <p:cNvSpPr txBox="1"/>
          <p:nvPr/>
        </p:nvSpPr>
        <p:spPr>
          <a:xfrm>
            <a:off x="11430000" y="6473952"/>
            <a:ext cx="457200" cy="274320"/>
          </a:xfrm>
          <a:prstGeom prst="rect">
            <a:avLst/>
          </a:prstGeom>
          <a:noFill/>
          <a:ln/>
        </p:spPr>
        <p:txBody>
          <a:bodyPr wrap="square" lIns="0" tIns="0" rIns="0" bIns="0" rtlCol="0" anchor="ctr"/>
          <a:lstStyle/>
          <a:p>
            <a:pPr algn="r" indent="0" marL="0">
              <a:buNone/>
            </a:pPr>
            <a:r>
              <a:rPr lang="en-US" sz="1000" dirty="0">
                <a:solidFill>
                  <a:srgbClr val="5A5F6A"/>
                </a:solidFill>
                <a:latin typeface="Yu Gothic" pitchFamily="34" charset="0"/>
                <a:ea typeface="Yu Gothic" pitchFamily="34" charset="-122"/>
                <a:cs typeface="Yu Gothic"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88720" cy="365760"/>
          </a:xfrm>
          <a:prstGeom prst="rect">
            <a:avLst/>
          </a:prstGeom>
          <a:noFill/>
          <a:ln/>
        </p:spPr>
        <p:txBody>
          <a:bodyPr wrap="square" lIns="0" tIns="0" rIns="0" bIns="0" rtlCol="0" anchor="ctr"/>
          <a:lstStyle/>
          <a:p>
            <a:pPr indent="0" marL="0">
              <a:buNone/>
            </a:pPr>
            <a:r>
              <a:rPr lang="en-US" sz="1300" b="1" spc="300" kern="0" dirty="0">
                <a:solidFill>
                  <a:srgbClr val="22456E"/>
                </a:solidFill>
                <a:latin typeface="Yu Gothic" pitchFamily="34" charset="0"/>
                <a:ea typeface="Yu Gothic" pitchFamily="34" charset="-122"/>
                <a:cs typeface="Yu Gothic" pitchFamily="34" charset="-120"/>
              </a:rPr>
              <a:t>第 3 部</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22252B"/>
                </a:solidFill>
                <a:latin typeface="Yu Mincho" pitchFamily="34" charset="0"/>
                <a:ea typeface="Yu Mincho" pitchFamily="34" charset="-122"/>
                <a:cs typeface="Yu Mincho" pitchFamily="34" charset="-120"/>
              </a:rPr>
              <a:t>要件1「画期性」— 条件をかみ砕く</a:t>
            </a:r>
            <a:endParaRPr lang="en-US" sz="3000" dirty="0"/>
          </a:p>
        </p:txBody>
      </p:sp>
      <p:sp>
        <p:nvSpPr>
          <p:cNvPr id="4" name="Text 2"/>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5A5F6A"/>
                </a:solidFill>
                <a:latin typeface="Yu Gothic" pitchFamily="34" charset="0"/>
                <a:ea typeface="Yu Gothic" pitchFamily="34" charset="-122"/>
                <a:cs typeface="Yu Gothic" pitchFamily="34" charset="-120"/>
              </a:rPr>
              <a:t>PaTaKaRUSH 薬事戦略プロジェクト｜優先審査指定制度 キックオフ</a:t>
            </a:r>
            <a:endParaRPr lang="en-US" sz="900" dirty="0"/>
          </a:p>
        </p:txBody>
      </p:sp>
      <p:sp>
        <p:nvSpPr>
          <p:cNvPr id="5" name="Shape 3"/>
          <p:cNvSpPr/>
          <p:nvPr/>
        </p:nvSpPr>
        <p:spPr>
          <a:xfrm>
            <a:off x="9966960" y="786384"/>
            <a:ext cx="1645920" cy="310896"/>
          </a:xfrm>
          <a:prstGeom prst="roundRect">
            <a:avLst>
              <a:gd name="adj" fmla="val 50000"/>
            </a:avLst>
          </a:prstGeom>
          <a:solidFill>
            <a:srgbClr val="F9ECEC"/>
          </a:solidFill>
          <a:ln w="12700">
            <a:solidFill>
              <a:srgbClr val="B3383E"/>
            </a:solidFill>
            <a:prstDash val="solid"/>
          </a:ln>
        </p:spPr>
      </p:sp>
      <p:sp>
        <p:nvSpPr>
          <p:cNvPr id="6" name="Text 4"/>
          <p:cNvSpPr txBox="1"/>
          <p:nvPr/>
        </p:nvSpPr>
        <p:spPr>
          <a:xfrm>
            <a:off x="9966960" y="779069"/>
            <a:ext cx="1645920" cy="329184"/>
          </a:xfrm>
          <a:prstGeom prst="rect">
            <a:avLst/>
          </a:prstGeom>
          <a:noFill/>
          <a:ln/>
        </p:spPr>
        <p:txBody>
          <a:bodyPr wrap="square" lIns="0" tIns="0" rIns="0" bIns="0" rtlCol="0" anchor="ctr"/>
          <a:lstStyle/>
          <a:p>
            <a:pPr algn="ctr" indent="0" marL="0">
              <a:buNone/>
            </a:pPr>
            <a:r>
              <a:rPr lang="en-US" sz="1100" b="1" dirty="0">
                <a:solidFill>
                  <a:srgbClr val="B3383E"/>
                </a:solidFill>
                <a:latin typeface="Yu Gothic" pitchFamily="34" charset="0"/>
                <a:ea typeface="Yu Gothic" pitchFamily="34" charset="-122"/>
                <a:cs typeface="Yu Gothic" pitchFamily="34" charset="-120"/>
              </a:rPr>
              <a:t>最大の関門</a:t>
            </a:r>
            <a:endParaRPr lang="en-US" sz="1100" dirty="0"/>
          </a:p>
        </p:txBody>
      </p:sp>
      <p:sp>
        <p:nvSpPr>
          <p:cNvPr id="7" name="Text 5"/>
          <p:cNvSpPr txBox="1"/>
          <p:nvPr/>
        </p:nvSpPr>
        <p:spPr>
          <a:xfrm>
            <a:off x="548640" y="1600200"/>
            <a:ext cx="5486400" cy="320040"/>
          </a:xfrm>
          <a:prstGeom prst="rect">
            <a:avLst/>
          </a:prstGeom>
          <a:noFill/>
          <a:ln/>
        </p:spPr>
        <p:txBody>
          <a:bodyPr wrap="square" lIns="0" tIns="0" rIns="0" bIns="0" rtlCol="0" anchor="ctr"/>
          <a:lstStyle/>
          <a:p>
            <a:pPr indent="0" marL="0">
              <a:buNone/>
            </a:pPr>
            <a:r>
              <a:rPr lang="en-US" sz="1350" b="1" dirty="0">
                <a:solidFill>
                  <a:srgbClr val="2E6E4E"/>
                </a:solidFill>
                <a:latin typeface="Yu Gothic" pitchFamily="34" charset="0"/>
                <a:ea typeface="Yu Gothic" pitchFamily="34" charset="-122"/>
                <a:cs typeface="Yu Gothic" pitchFamily="34" charset="-120"/>
              </a:rPr>
              <a:t>満たすべき条件は2つ</a:t>
            </a:r>
            <a:endParaRPr lang="en-US" sz="1350" dirty="0"/>
          </a:p>
        </p:txBody>
      </p:sp>
      <p:sp>
        <p:nvSpPr>
          <p:cNvPr id="8" name="Shape 6"/>
          <p:cNvSpPr/>
          <p:nvPr/>
        </p:nvSpPr>
        <p:spPr>
          <a:xfrm>
            <a:off x="548640" y="1965960"/>
            <a:ext cx="5440680" cy="1042416"/>
          </a:xfrm>
          <a:prstGeom prst="roundRect">
            <a:avLst>
              <a:gd name="adj" fmla="val 6140"/>
            </a:avLst>
          </a:prstGeom>
          <a:solidFill>
            <a:srgbClr val="E7F1EA"/>
          </a:solidFill>
          <a:ln w="12700">
            <a:solidFill>
              <a:srgbClr val="2E6E4E"/>
            </a:solidFill>
            <a:prstDash val="solid"/>
          </a:ln>
        </p:spPr>
      </p:sp>
      <p:sp>
        <p:nvSpPr>
          <p:cNvPr id="9" name="Text 7"/>
          <p:cNvSpPr txBox="1"/>
          <p:nvPr/>
        </p:nvSpPr>
        <p:spPr>
          <a:xfrm>
            <a:off x="822960" y="2075688"/>
            <a:ext cx="4937760" cy="859536"/>
          </a:xfrm>
          <a:prstGeom prst="rect">
            <a:avLst/>
          </a:prstGeom>
          <a:noFill/>
          <a:ln/>
        </p:spPr>
        <p:txBody>
          <a:bodyPr wrap="square" lIns="0" tIns="0" rIns="0" bIns="0" rtlCol="0" anchor="t"/>
          <a:lstStyle/>
          <a:p>
            <a:pPr indent="0" marL="0">
              <a:lnSpc>
                <a:spcPct val="120000"/>
              </a:lnSpc>
              <a:buNone/>
            </a:pPr>
            <a:r>
              <a:rPr lang="en-US" sz="1350" b="1" dirty="0">
                <a:solidFill>
                  <a:srgbClr val="2E6E4E"/>
                </a:solidFill>
                <a:latin typeface="Yu Gothic" pitchFamily="34" charset="0"/>
                <a:ea typeface="Yu Gothic" pitchFamily="34" charset="-122"/>
                <a:cs typeface="Yu Gothic" pitchFamily="34" charset="-120"/>
              </a:rPr>
              <a:t>1. 原理が「明らかに異なる」</a:t>
            </a:r>
            <a:endParaRPr lang="en-US" sz="1350" dirty="0"/>
          </a:p>
          <a:p>
            <a:pPr indent="0" marL="0">
              <a:lnSpc>
                <a:spcPct val="120000"/>
              </a:lnSpc>
              <a:buNone/>
            </a:pPr>
            <a:r>
              <a:rPr lang="en-US" sz="1050" dirty="0">
                <a:solidFill>
                  <a:srgbClr val="22252B"/>
                </a:solidFill>
                <a:latin typeface="Yu Gothic" pitchFamily="34" charset="0"/>
                <a:ea typeface="Yu Gothic" pitchFamily="34" charset="-122"/>
                <a:cs typeface="Yu Gothic" pitchFamily="34" charset="-120"/>
              </a:rPr>
              <a:t>既存の医療機器や、標準的な治療・訓練のやり方と比べて、仕組みそのものが違うこと。見た目や楽しさの違いでは足りない</a:t>
            </a:r>
            <a:endParaRPr lang="en-US" sz="1350" dirty="0"/>
          </a:p>
        </p:txBody>
      </p:sp>
      <p:sp>
        <p:nvSpPr>
          <p:cNvPr id="10" name="Shape 8"/>
          <p:cNvSpPr/>
          <p:nvPr/>
        </p:nvSpPr>
        <p:spPr>
          <a:xfrm>
            <a:off x="548640" y="3136392"/>
            <a:ext cx="5440680" cy="1042416"/>
          </a:xfrm>
          <a:prstGeom prst="roundRect">
            <a:avLst>
              <a:gd name="adj" fmla="val 6140"/>
            </a:avLst>
          </a:prstGeom>
          <a:solidFill>
            <a:srgbClr val="E7F1EA"/>
          </a:solidFill>
          <a:ln w="12700">
            <a:solidFill>
              <a:srgbClr val="2E6E4E"/>
            </a:solidFill>
            <a:prstDash val="solid"/>
          </a:ln>
        </p:spPr>
      </p:sp>
      <p:sp>
        <p:nvSpPr>
          <p:cNvPr id="11" name="Text 9"/>
          <p:cNvSpPr txBox="1"/>
          <p:nvPr/>
        </p:nvSpPr>
        <p:spPr>
          <a:xfrm>
            <a:off x="822960" y="3246120"/>
            <a:ext cx="4937760" cy="859536"/>
          </a:xfrm>
          <a:prstGeom prst="rect">
            <a:avLst/>
          </a:prstGeom>
          <a:noFill/>
          <a:ln/>
        </p:spPr>
        <p:txBody>
          <a:bodyPr wrap="square" lIns="0" tIns="0" rIns="0" bIns="0" rtlCol="0" anchor="t"/>
          <a:lstStyle/>
          <a:p>
            <a:pPr indent="0" marL="0">
              <a:lnSpc>
                <a:spcPct val="120000"/>
              </a:lnSpc>
              <a:buNone/>
            </a:pPr>
            <a:r>
              <a:rPr lang="en-US" sz="1350" b="1" dirty="0">
                <a:solidFill>
                  <a:srgbClr val="2E6E4E"/>
                </a:solidFill>
                <a:latin typeface="Yu Gothic" pitchFamily="34" charset="0"/>
                <a:ea typeface="Yu Gothic" pitchFamily="34" charset="-122"/>
                <a:cs typeface="Yu Gothic" pitchFamily="34" charset="-120"/>
              </a:rPr>
              <a:t>2. そのやり方が「画期的」</a:t>
            </a:r>
            <a:endParaRPr lang="en-US" sz="1350" dirty="0"/>
          </a:p>
          <a:p>
            <a:pPr indent="0" marL="0">
              <a:lnSpc>
                <a:spcPct val="120000"/>
              </a:lnSpc>
              <a:buNone/>
            </a:pPr>
            <a:r>
              <a:rPr lang="en-US" sz="1050" dirty="0">
                <a:solidFill>
                  <a:srgbClr val="22252B"/>
                </a:solidFill>
                <a:latin typeface="Yu Gothic" pitchFamily="34" charset="0"/>
                <a:ea typeface="Yu Gothic" pitchFamily="34" charset="-122"/>
                <a:cs typeface="Yu Gothic" pitchFamily="34" charset="-120"/>
              </a:rPr>
              <a:t>違うだけでなく、治療法として新しい価値を生むこと（例: 今までできなかった訓練ができる）</a:t>
            </a:r>
            <a:endParaRPr lang="en-US" sz="1350" dirty="0"/>
          </a:p>
        </p:txBody>
      </p:sp>
      <p:sp>
        <p:nvSpPr>
          <p:cNvPr id="12" name="Text 10"/>
          <p:cNvSpPr txBox="1"/>
          <p:nvPr/>
        </p:nvSpPr>
        <p:spPr>
          <a:xfrm>
            <a:off x="6172200" y="1600200"/>
            <a:ext cx="5486400" cy="320040"/>
          </a:xfrm>
          <a:prstGeom prst="rect">
            <a:avLst/>
          </a:prstGeom>
          <a:noFill/>
          <a:ln/>
        </p:spPr>
        <p:txBody>
          <a:bodyPr wrap="square" lIns="0" tIns="0" rIns="0" bIns="0" rtlCol="0" anchor="ctr"/>
          <a:lstStyle/>
          <a:p>
            <a:pPr indent="0" marL="0">
              <a:buNone/>
            </a:pPr>
            <a:r>
              <a:rPr lang="en-US" sz="1350" b="1" dirty="0">
                <a:solidFill>
                  <a:srgbClr val="B3383E"/>
                </a:solidFill>
                <a:latin typeface="Yu Gothic" pitchFamily="34" charset="0"/>
                <a:ea typeface="Yu Gothic" pitchFamily="34" charset="-122"/>
                <a:cs typeface="Yu Gothic" pitchFamily="34" charset="-120"/>
              </a:rPr>
              <a:t>通知が名指しで釘を刺す落とし穴</a:t>
            </a:r>
            <a:endParaRPr lang="en-US" sz="1350" dirty="0"/>
          </a:p>
        </p:txBody>
      </p:sp>
      <p:sp>
        <p:nvSpPr>
          <p:cNvPr id="13" name="Shape 11"/>
          <p:cNvSpPr/>
          <p:nvPr/>
        </p:nvSpPr>
        <p:spPr>
          <a:xfrm>
            <a:off x="6172200" y="1965960"/>
            <a:ext cx="5440680" cy="2212848"/>
          </a:xfrm>
          <a:prstGeom prst="roundRect">
            <a:avLst>
              <a:gd name="adj" fmla="val 2893"/>
            </a:avLst>
          </a:prstGeom>
          <a:solidFill>
            <a:srgbClr val="F9ECEC"/>
          </a:solidFill>
          <a:ln w="12700">
            <a:solidFill>
              <a:srgbClr val="B3383E"/>
            </a:solidFill>
            <a:prstDash val="solid"/>
          </a:ln>
        </p:spPr>
      </p:sp>
      <p:sp>
        <p:nvSpPr>
          <p:cNvPr id="14" name="Text 12"/>
          <p:cNvSpPr txBox="1"/>
          <p:nvPr/>
        </p:nvSpPr>
        <p:spPr>
          <a:xfrm>
            <a:off x="6446520" y="2121408"/>
            <a:ext cx="4937760" cy="1920240"/>
          </a:xfrm>
          <a:prstGeom prst="rect">
            <a:avLst/>
          </a:prstGeom>
          <a:noFill/>
          <a:ln/>
        </p:spPr>
        <p:txBody>
          <a:bodyPr wrap="square" lIns="0" tIns="0" rIns="0" bIns="0" rtlCol="0" anchor="t"/>
          <a:lstStyle/>
          <a:p>
            <a:pPr indent="0" marL="0">
              <a:lnSpc>
                <a:spcPct val="122000"/>
              </a:lnSpc>
              <a:buNone/>
            </a:pPr>
            <a:r>
              <a:rPr lang="en-US" sz="1300" b="1" dirty="0">
                <a:solidFill>
                  <a:srgbClr val="B3383E"/>
                </a:solidFill>
                <a:latin typeface="Yu Gothic" pitchFamily="34" charset="0"/>
                <a:ea typeface="Yu Gothic" pitchFamily="34" charset="-122"/>
                <a:cs typeface="Yu Gothic" pitchFamily="34" charset="-120"/>
              </a:rPr>
              <a:t>「病院で受ける指導と同じ内容を、家でやらせて頑張らせるだけのアプリ」は画期的と認めない</a:t>
            </a:r>
            <a:endParaRPr lang="en-US" sz="1300" dirty="0"/>
          </a:p>
          <a:p>
            <a:pPr indent="0" marL="0">
              <a:lnSpc>
                <a:spcPct val="122000"/>
              </a:lnSpc>
              <a:buNone/>
            </a:pPr>
            <a:r>
              <a:rPr lang="en-US" sz="1000" dirty="0">
                <a:solidFill>
                  <a:srgbClr val="5A5F6A"/>
                </a:solidFill>
                <a:latin typeface="Yu Gothic" pitchFamily="34" charset="0"/>
                <a:ea typeface="Yu Gothic" pitchFamily="34" charset="-122"/>
                <a:cs typeface="Yu Gothic" pitchFamily="34" charset="-120"/>
              </a:rPr>
              <a:t>（原文: 医療現場で実施されている患者指導等と同様の内容を提供することで、自宅等における患者自身の行動変容を促すことを意図したプログラム等は、原則、画期性があるとは認められない — 通知2.(1)）</a:t>
            </a:r>
            <a:endParaRPr lang="en-US" sz="1300" dirty="0"/>
          </a:p>
          <a:p>
            <a:pPr indent="0" marL="0">
              <a:lnSpc>
                <a:spcPct val="122000"/>
              </a:lnSpc>
              <a:buNone/>
            </a:pPr>
            <a:r>
              <a:rPr lang="en-US" sz="1100" dirty="0">
                <a:solidFill>
                  <a:srgbClr val="22252B"/>
                </a:solidFill>
                <a:latin typeface="Yu Gothic" pitchFamily="34" charset="0"/>
                <a:ea typeface="Yu Gothic" pitchFamily="34" charset="-122"/>
                <a:cs typeface="Yu Gothic" pitchFamily="34" charset="-120"/>
              </a:rPr>
              <a:t>パタカラ体操そのものは標準的指導。「体操をゲームで楽しく続けさせる」という説明のままでは、この類型として切られる。</a:t>
            </a:r>
            <a:endParaRPr lang="en-US" sz="1300" dirty="0"/>
          </a:p>
        </p:txBody>
      </p:sp>
      <p:sp>
        <p:nvSpPr>
          <p:cNvPr id="15" name="Shape 13"/>
          <p:cNvSpPr/>
          <p:nvPr/>
        </p:nvSpPr>
        <p:spPr>
          <a:xfrm>
            <a:off x="548640" y="4526280"/>
            <a:ext cx="11064240" cy="1600200"/>
          </a:xfrm>
          <a:prstGeom prst="roundRect">
            <a:avLst>
              <a:gd name="adj" fmla="val 4000"/>
            </a:avLst>
          </a:prstGeom>
          <a:solidFill>
            <a:srgbClr val="22456E"/>
          </a:solidFill>
          <a:ln w="12700">
            <a:solidFill>
              <a:srgbClr val="22456E"/>
            </a:solidFill>
            <a:prstDash val="solid"/>
          </a:ln>
        </p:spPr>
      </p:sp>
      <p:sp>
        <p:nvSpPr>
          <p:cNvPr id="16" name="Text 14"/>
          <p:cNvSpPr txBox="1"/>
          <p:nvPr/>
        </p:nvSpPr>
        <p:spPr>
          <a:xfrm>
            <a:off x="914400" y="4709160"/>
            <a:ext cx="10332720" cy="320040"/>
          </a:xfrm>
          <a:prstGeom prst="rect">
            <a:avLst/>
          </a:prstGeom>
          <a:noFill/>
          <a:ln/>
        </p:spPr>
        <p:txBody>
          <a:bodyPr wrap="square" lIns="0" tIns="0" rIns="0" bIns="0" rtlCol="0" anchor="ctr"/>
          <a:lstStyle/>
          <a:p>
            <a:pPr indent="0" marL="0">
              <a:buNone/>
            </a:pPr>
            <a:r>
              <a:rPr lang="en-US" sz="1200" b="1" spc="200" kern="0" dirty="0">
                <a:solidFill>
                  <a:srgbClr val="9DB8DA"/>
                </a:solidFill>
                <a:latin typeface="Yu Gothic" pitchFamily="34" charset="0"/>
                <a:ea typeface="Yu Gothic" pitchFamily="34" charset="-122"/>
                <a:cs typeface="Yu Gothic" pitchFamily="34" charset="-120"/>
              </a:rPr>
              <a:t>つまり、審査で問われる質問はひとつ</a:t>
            </a:r>
            <a:endParaRPr lang="en-US" sz="1200" dirty="0"/>
          </a:p>
        </p:txBody>
      </p:sp>
      <p:sp>
        <p:nvSpPr>
          <p:cNvPr id="17" name="Text 15"/>
          <p:cNvSpPr txBox="1"/>
          <p:nvPr/>
        </p:nvSpPr>
        <p:spPr>
          <a:xfrm>
            <a:off x="914400" y="5029200"/>
            <a:ext cx="10332720" cy="1005840"/>
          </a:xfrm>
          <a:prstGeom prst="rect">
            <a:avLst/>
          </a:prstGeom>
          <a:noFill/>
          <a:ln/>
        </p:spPr>
        <p:txBody>
          <a:bodyPr wrap="square" lIns="0" tIns="0" rIns="0" bIns="0" rtlCol="0" anchor="ctr"/>
          <a:lstStyle/>
          <a:p>
            <a:pPr indent="0" marL="0">
              <a:lnSpc>
                <a:spcPct val="130000"/>
              </a:lnSpc>
              <a:buNone/>
            </a:pPr>
            <a:r>
              <a:rPr lang="en-US" sz="1900" b="1" dirty="0">
                <a:solidFill>
                  <a:srgbClr val="FFFFFF"/>
                </a:solidFill>
                <a:latin typeface="Yu Mincho" pitchFamily="34" charset="0"/>
                <a:ea typeface="Yu Mincho" pitchFamily="34" charset="-122"/>
                <a:cs typeface="Yu Mincho" pitchFamily="34" charset="-120"/>
              </a:rPr>
              <a:t>「人の指導者にできることをデジタルに置き換えただけか？</a:t>
            </a:r>
            <a:endParaRPr lang="en-US" sz="1900" dirty="0"/>
          </a:p>
          <a:p>
            <a:pPr indent="0" marL="0">
              <a:lnSpc>
                <a:spcPct val="130000"/>
              </a:lnSpc>
              <a:buNone/>
            </a:pPr>
            <a:r>
              <a:rPr lang="en-US" sz="1900" b="1" dirty="0">
                <a:solidFill>
                  <a:srgbClr val="FFFFFF"/>
                </a:solidFill>
                <a:latin typeface="Yu Mincho" pitchFamily="34" charset="0"/>
                <a:ea typeface="Yu Mincho" pitchFamily="34" charset="-122"/>
                <a:cs typeface="Yu Mincho" pitchFamily="34" charset="-120"/>
              </a:rPr>
              <a:t>それとも、人にはできない訓練を実現しているか？」</a:t>
            </a:r>
            <a:endParaRPr lang="en-US" sz="1900" dirty="0"/>
          </a:p>
        </p:txBody>
      </p:sp>
      <p:sp>
        <p:nvSpPr>
          <p:cNvPr id="18" name="Text 16"/>
          <p:cNvSpPr txBox="1"/>
          <p:nvPr/>
        </p:nvSpPr>
        <p:spPr>
          <a:xfrm>
            <a:off x="11430000" y="6473952"/>
            <a:ext cx="457200" cy="274320"/>
          </a:xfrm>
          <a:prstGeom prst="rect">
            <a:avLst/>
          </a:prstGeom>
          <a:noFill/>
          <a:ln/>
        </p:spPr>
        <p:txBody>
          <a:bodyPr wrap="square" lIns="0" tIns="0" rIns="0" bIns="0" rtlCol="0" anchor="ctr"/>
          <a:lstStyle/>
          <a:p>
            <a:pPr algn="r" indent="0" marL="0">
              <a:buNone/>
            </a:pPr>
            <a:r>
              <a:rPr lang="en-US" sz="1000" dirty="0">
                <a:solidFill>
                  <a:srgbClr val="5A5F6A"/>
                </a:solidFill>
                <a:latin typeface="Yu Gothic" pitchFamily="34" charset="0"/>
                <a:ea typeface="Yu Gothic" pitchFamily="34" charset="-122"/>
                <a:cs typeface="Yu Gothic"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88720" cy="365760"/>
          </a:xfrm>
          <a:prstGeom prst="rect">
            <a:avLst/>
          </a:prstGeom>
          <a:noFill/>
          <a:ln/>
        </p:spPr>
        <p:txBody>
          <a:bodyPr wrap="square" lIns="0" tIns="0" rIns="0" bIns="0" rtlCol="0" anchor="ctr"/>
          <a:lstStyle/>
          <a:p>
            <a:pPr indent="0" marL="0">
              <a:buNone/>
            </a:pPr>
            <a:r>
              <a:rPr lang="en-US" sz="1300" b="1" spc="300" kern="0" dirty="0">
                <a:solidFill>
                  <a:srgbClr val="22456E"/>
                </a:solidFill>
                <a:latin typeface="Yu Gothic" pitchFamily="34" charset="0"/>
                <a:ea typeface="Yu Gothic" pitchFamily="34" charset="-122"/>
                <a:cs typeface="Yu Gothic" pitchFamily="34" charset="-120"/>
              </a:rPr>
              <a:t>第 3 部</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22252B"/>
                </a:solidFill>
                <a:latin typeface="Yu Mincho" pitchFamily="34" charset="0"/>
                <a:ea typeface="Yu Mincho" pitchFamily="34" charset="-122"/>
                <a:cs typeface="Yu Mincho" pitchFamily="34" charset="-120"/>
              </a:rPr>
              <a:t>要件1のクリア戦略 — 「人にはできない訓練」の三本柱</a:t>
            </a:r>
            <a:endParaRPr lang="en-US" sz="3000" dirty="0"/>
          </a:p>
        </p:txBody>
      </p:sp>
      <p:sp>
        <p:nvSpPr>
          <p:cNvPr id="4" name="Text 2"/>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5A5F6A"/>
                </a:solidFill>
                <a:latin typeface="Yu Gothic" pitchFamily="34" charset="0"/>
                <a:ea typeface="Yu Gothic" pitchFamily="34" charset="-122"/>
                <a:cs typeface="Yu Gothic" pitchFamily="34" charset="-120"/>
              </a:rPr>
              <a:t>PaTaKaRUSH 薬事戦略プロジェクト｜優先審査指定制度 キックオフ</a:t>
            </a:r>
            <a:endParaRPr lang="en-US" sz="900" dirty="0"/>
          </a:p>
        </p:txBody>
      </p:sp>
      <p:sp>
        <p:nvSpPr>
          <p:cNvPr id="5" name="Text 3"/>
          <p:cNvSpPr txBox="1"/>
          <p:nvPr/>
        </p:nvSpPr>
        <p:spPr>
          <a:xfrm>
            <a:off x="548640" y="1554480"/>
            <a:ext cx="11064240" cy="685800"/>
          </a:xfrm>
          <a:prstGeom prst="rect">
            <a:avLst/>
          </a:prstGeom>
          <a:noFill/>
          <a:ln/>
        </p:spPr>
        <p:txBody>
          <a:bodyPr wrap="square" lIns="0" tIns="0" rIns="0" bIns="0" rtlCol="0" anchor="ctr"/>
          <a:lstStyle/>
          <a:p>
            <a:pPr indent="0" marL="0">
              <a:lnSpc>
                <a:spcPct val="130000"/>
              </a:lnSpc>
              <a:buNone/>
            </a:pPr>
            <a:r>
              <a:rPr lang="en-US" sz="1350" dirty="0">
                <a:solidFill>
                  <a:srgbClr val="22252B"/>
                </a:solidFill>
                <a:latin typeface="Yu Gothic" pitchFamily="34" charset="0"/>
                <a:ea typeface="Yu Gothic" pitchFamily="34" charset="-122"/>
                <a:cs typeface="Yu Gothic" pitchFamily="34" charset="-120"/>
              </a:rPr>
              <a:t>出願特許（特開2026-74706）と実装済みの適応型難易度制御を組み合わせ、本品を</a:t>
            </a:r>
            <a:pPr indent="0" marL="0">
              <a:lnSpc>
                <a:spcPct val="130000"/>
              </a:lnSpc>
              <a:buNone/>
            </a:pPr>
            <a:r>
              <a:rPr lang="en-US" sz="1350" b="1" dirty="0">
                <a:solidFill>
                  <a:srgbClr val="22456E"/>
                </a:solidFill>
                <a:latin typeface="Yu Gothic" pitchFamily="34" charset="0"/>
                <a:ea typeface="Yu Gothic" pitchFamily="34" charset="-122"/>
                <a:cs typeface="Yu Gothic" pitchFamily="34" charset="-120"/>
              </a:rPr>
              <a:t>「1発声単位の定量評価に基づき、測定→評価→訓練→再測定のループを単一アプリで実施する適応型口腔機能訓練」</a:t>
            </a:r>
            <a:pPr indent="0" marL="0">
              <a:lnSpc>
                <a:spcPct val="130000"/>
              </a:lnSpc>
              <a:buNone/>
            </a:pPr>
            <a:r>
              <a:rPr lang="en-US" sz="1350" dirty="0">
                <a:solidFill>
                  <a:srgbClr val="22252B"/>
                </a:solidFill>
                <a:latin typeface="Yu Gothic" pitchFamily="34" charset="0"/>
                <a:ea typeface="Yu Gothic" pitchFamily="34" charset="-122"/>
                <a:cs typeface="Yu Gothic" pitchFamily="34" charset="-120"/>
              </a:rPr>
              <a:t>として説明する。</a:t>
            </a:r>
            <a:endParaRPr lang="en-US" sz="1350" dirty="0"/>
          </a:p>
        </p:txBody>
      </p:sp>
      <p:sp>
        <p:nvSpPr>
          <p:cNvPr id="6" name="Shape 4"/>
          <p:cNvSpPr/>
          <p:nvPr/>
        </p:nvSpPr>
        <p:spPr>
          <a:xfrm>
            <a:off x="548640" y="2331720"/>
            <a:ext cx="3520440" cy="2377440"/>
          </a:xfrm>
          <a:prstGeom prst="roundRect">
            <a:avLst>
              <a:gd name="adj" fmla="val 3077"/>
            </a:avLst>
          </a:prstGeom>
          <a:solidFill>
            <a:srgbClr val="EAF0F7"/>
          </a:solidFill>
          <a:ln w="12700">
            <a:solidFill>
              <a:srgbClr val="B9C9DE"/>
            </a:solidFill>
            <a:prstDash val="solid"/>
          </a:ln>
        </p:spPr>
      </p:sp>
      <p:sp>
        <p:nvSpPr>
          <p:cNvPr id="7" name="Text 5"/>
          <p:cNvSpPr txBox="1"/>
          <p:nvPr/>
        </p:nvSpPr>
        <p:spPr>
          <a:xfrm>
            <a:off x="777240" y="2487168"/>
            <a:ext cx="3063240" cy="411480"/>
          </a:xfrm>
          <a:prstGeom prst="rect">
            <a:avLst/>
          </a:prstGeom>
          <a:noFill/>
          <a:ln/>
        </p:spPr>
        <p:txBody>
          <a:bodyPr wrap="square" lIns="0" tIns="0" rIns="0" bIns="0" rtlCol="0" anchor="ctr"/>
          <a:lstStyle/>
          <a:p>
            <a:pPr indent="0" marL="0">
              <a:buNone/>
            </a:pPr>
            <a:r>
              <a:rPr lang="en-US" sz="1900" b="1" dirty="0">
                <a:solidFill>
                  <a:srgbClr val="22456E"/>
                </a:solidFill>
                <a:latin typeface="Yu Mincho" pitchFamily="34" charset="0"/>
                <a:ea typeface="Yu Mincho" pitchFamily="34" charset="-122"/>
                <a:cs typeface="Yu Mincho" pitchFamily="34" charset="-120"/>
              </a:rPr>
              <a:t>1　測る</a:t>
            </a:r>
            <a:endParaRPr lang="en-US" sz="1900" dirty="0"/>
          </a:p>
        </p:txBody>
      </p:sp>
      <p:sp>
        <p:nvSpPr>
          <p:cNvPr id="8" name="Text 6"/>
          <p:cNvSpPr txBox="1"/>
          <p:nvPr/>
        </p:nvSpPr>
        <p:spPr>
          <a:xfrm>
            <a:off x="777240" y="2944368"/>
            <a:ext cx="3063240" cy="502920"/>
          </a:xfrm>
          <a:prstGeom prst="rect">
            <a:avLst/>
          </a:prstGeom>
          <a:noFill/>
          <a:ln/>
        </p:spPr>
        <p:txBody>
          <a:bodyPr wrap="square" lIns="0" tIns="0" rIns="0" bIns="0" rtlCol="0" anchor="ctr"/>
          <a:lstStyle/>
          <a:p>
            <a:pPr indent="0" marL="0">
              <a:lnSpc>
                <a:spcPct val="115000"/>
              </a:lnSpc>
              <a:buNone/>
            </a:pPr>
            <a:r>
              <a:rPr lang="en-US" sz="1200" b="1" dirty="0">
                <a:solidFill>
                  <a:srgbClr val="22252B"/>
                </a:solidFill>
                <a:latin typeface="Yu Gothic" pitchFamily="34" charset="0"/>
                <a:ea typeface="Yu Gothic" pitchFamily="34" charset="-122"/>
                <a:cs typeface="Yu Gothic" pitchFamily="34" charset="-120"/>
              </a:rPr>
              <a:t>連続発声を1回ずつ認識</a:t>
            </a:r>
            <a:endParaRPr lang="en-US" sz="1200" dirty="0"/>
          </a:p>
        </p:txBody>
      </p:sp>
      <p:sp>
        <p:nvSpPr>
          <p:cNvPr id="9" name="Text 7"/>
          <p:cNvSpPr txBox="1"/>
          <p:nvPr/>
        </p:nvSpPr>
        <p:spPr>
          <a:xfrm>
            <a:off x="777240" y="3474720"/>
            <a:ext cx="3063240" cy="914400"/>
          </a:xfrm>
          <a:prstGeom prst="rect">
            <a:avLst/>
          </a:prstGeom>
          <a:noFill/>
          <a:ln/>
        </p:spPr>
        <p:txBody>
          <a:bodyPr wrap="square" lIns="0" tIns="0" rIns="0" bIns="0" rtlCol="0" anchor="t"/>
          <a:lstStyle/>
          <a:p>
            <a:pPr indent="0" marL="0">
              <a:lnSpc>
                <a:spcPct val="122000"/>
              </a:lnSpc>
              <a:buNone/>
            </a:pPr>
            <a:r>
              <a:rPr lang="en-US" sz="1000" dirty="0">
                <a:solidFill>
                  <a:srgbClr val="5A5F6A"/>
                </a:solidFill>
                <a:latin typeface="Yu Gothic" pitchFamily="34" charset="0"/>
                <a:ea typeface="Yu Gothic" pitchFamily="34" charset="-122"/>
                <a:cs typeface="Yu Gothic" pitchFamily="34" charset="-120"/>
              </a:rPr>
              <a:t>一般的な音声認識では「パパパパパ」を認識できない。専用開発の音声認識モデルで1発声単位のリアルタイム認識を実現</a:t>
            </a:r>
            <a:endParaRPr lang="en-US" sz="1000" dirty="0"/>
          </a:p>
        </p:txBody>
      </p:sp>
      <p:sp>
        <p:nvSpPr>
          <p:cNvPr id="10" name="Text 8"/>
          <p:cNvSpPr txBox="1"/>
          <p:nvPr/>
        </p:nvSpPr>
        <p:spPr>
          <a:xfrm>
            <a:off x="777240" y="4389120"/>
            <a:ext cx="3063240" cy="274320"/>
          </a:xfrm>
          <a:prstGeom prst="rect">
            <a:avLst/>
          </a:prstGeom>
          <a:noFill/>
          <a:ln/>
        </p:spPr>
        <p:txBody>
          <a:bodyPr wrap="square" lIns="0" tIns="0" rIns="0" bIns="0" rtlCol="0" anchor="ctr"/>
          <a:lstStyle/>
          <a:p>
            <a:pPr indent="0" marL="0">
              <a:buNone/>
            </a:pPr>
            <a:r>
              <a:rPr lang="en-US" sz="950" b="1" dirty="0">
                <a:solidFill>
                  <a:srgbClr val="22456E"/>
                </a:solidFill>
                <a:latin typeface="Yu Gothic" pitchFamily="34" charset="0"/>
                <a:ea typeface="Yu Gothic" pitchFamily="34" charset="-122"/>
                <a:cs typeface="Yu Gothic" pitchFamily="34" charset="-120"/>
              </a:rPr>
              <a:t>特許 請求項2-3</a:t>
            </a:r>
            <a:endParaRPr lang="en-US" sz="950" dirty="0"/>
          </a:p>
        </p:txBody>
      </p:sp>
      <p:sp>
        <p:nvSpPr>
          <p:cNvPr id="11" name="Shape 9"/>
          <p:cNvSpPr/>
          <p:nvPr/>
        </p:nvSpPr>
        <p:spPr>
          <a:xfrm>
            <a:off x="4343400" y="2331720"/>
            <a:ext cx="3520440" cy="2377440"/>
          </a:xfrm>
          <a:prstGeom prst="roundRect">
            <a:avLst>
              <a:gd name="adj" fmla="val 3077"/>
            </a:avLst>
          </a:prstGeom>
          <a:solidFill>
            <a:srgbClr val="EAF0F7"/>
          </a:solidFill>
          <a:ln w="12700">
            <a:solidFill>
              <a:srgbClr val="B9C9DE"/>
            </a:solidFill>
            <a:prstDash val="solid"/>
          </a:ln>
        </p:spPr>
      </p:sp>
      <p:sp>
        <p:nvSpPr>
          <p:cNvPr id="12" name="Text 10"/>
          <p:cNvSpPr txBox="1"/>
          <p:nvPr/>
        </p:nvSpPr>
        <p:spPr>
          <a:xfrm>
            <a:off x="4572000" y="2487168"/>
            <a:ext cx="3063240" cy="411480"/>
          </a:xfrm>
          <a:prstGeom prst="rect">
            <a:avLst/>
          </a:prstGeom>
          <a:noFill/>
          <a:ln/>
        </p:spPr>
        <p:txBody>
          <a:bodyPr wrap="square" lIns="0" tIns="0" rIns="0" bIns="0" rtlCol="0" anchor="ctr"/>
          <a:lstStyle/>
          <a:p>
            <a:pPr indent="0" marL="0">
              <a:buNone/>
            </a:pPr>
            <a:r>
              <a:rPr lang="en-US" sz="1900" b="1" dirty="0">
                <a:solidFill>
                  <a:srgbClr val="22456E"/>
                </a:solidFill>
                <a:latin typeface="Yu Mincho" pitchFamily="34" charset="0"/>
                <a:ea typeface="Yu Mincho" pitchFamily="34" charset="-122"/>
                <a:cs typeface="Yu Mincho" pitchFamily="34" charset="-120"/>
              </a:rPr>
              <a:t>2　揃える</a:t>
            </a:r>
            <a:endParaRPr lang="en-US" sz="1900" dirty="0"/>
          </a:p>
        </p:txBody>
      </p:sp>
      <p:sp>
        <p:nvSpPr>
          <p:cNvPr id="13" name="Text 11"/>
          <p:cNvSpPr txBox="1"/>
          <p:nvPr/>
        </p:nvSpPr>
        <p:spPr>
          <a:xfrm>
            <a:off x="4572000" y="2944368"/>
            <a:ext cx="3063240" cy="502920"/>
          </a:xfrm>
          <a:prstGeom prst="rect">
            <a:avLst/>
          </a:prstGeom>
          <a:noFill/>
          <a:ln/>
        </p:spPr>
        <p:txBody>
          <a:bodyPr wrap="square" lIns="0" tIns="0" rIns="0" bIns="0" rtlCol="0" anchor="ctr"/>
          <a:lstStyle/>
          <a:p>
            <a:pPr indent="0" marL="0">
              <a:lnSpc>
                <a:spcPct val="115000"/>
              </a:lnSpc>
              <a:buNone/>
            </a:pPr>
            <a:r>
              <a:rPr lang="en-US" sz="1200" b="1" dirty="0">
                <a:solidFill>
                  <a:srgbClr val="22252B"/>
                </a:solidFill>
                <a:latin typeface="Yu Gothic" pitchFamily="34" charset="0"/>
                <a:ea typeface="Yu Gothic" pitchFamily="34" charset="-122"/>
                <a:cs typeface="Yu Gothic" pitchFamily="34" charset="-120"/>
              </a:rPr>
              <a:t>在宅でも測定条件を標準化</a:t>
            </a:r>
            <a:endParaRPr lang="en-US" sz="1200" dirty="0"/>
          </a:p>
        </p:txBody>
      </p:sp>
      <p:sp>
        <p:nvSpPr>
          <p:cNvPr id="14" name="Text 12"/>
          <p:cNvSpPr txBox="1"/>
          <p:nvPr/>
        </p:nvSpPr>
        <p:spPr>
          <a:xfrm>
            <a:off x="4572000" y="3474720"/>
            <a:ext cx="3063240" cy="914400"/>
          </a:xfrm>
          <a:prstGeom prst="rect">
            <a:avLst/>
          </a:prstGeom>
          <a:noFill/>
          <a:ln/>
        </p:spPr>
        <p:txBody>
          <a:bodyPr wrap="square" lIns="0" tIns="0" rIns="0" bIns="0" rtlCol="0" anchor="t"/>
          <a:lstStyle/>
          <a:p>
            <a:pPr indent="0" marL="0">
              <a:lnSpc>
                <a:spcPct val="122000"/>
              </a:lnSpc>
              <a:buNone/>
            </a:pPr>
            <a:r>
              <a:rPr lang="en-US" sz="1000" dirty="0">
                <a:solidFill>
                  <a:srgbClr val="5A5F6A"/>
                </a:solidFill>
                <a:latin typeface="Yu Gothic" pitchFamily="34" charset="0"/>
                <a:ea typeface="Yu Gothic" pitchFamily="34" charset="-122"/>
                <a:cs typeface="Yu Gothic" pitchFamily="34" charset="-120"/>
              </a:rPr>
              <a:t>顔距離インジケータと音量閾値制御で、指導者がいなくても毎回同じ条件で訓練・評価できる</a:t>
            </a:r>
            <a:endParaRPr lang="en-US" sz="1000" dirty="0"/>
          </a:p>
        </p:txBody>
      </p:sp>
      <p:sp>
        <p:nvSpPr>
          <p:cNvPr id="15" name="Text 13"/>
          <p:cNvSpPr txBox="1"/>
          <p:nvPr/>
        </p:nvSpPr>
        <p:spPr>
          <a:xfrm>
            <a:off x="4572000" y="4389120"/>
            <a:ext cx="3063240" cy="274320"/>
          </a:xfrm>
          <a:prstGeom prst="rect">
            <a:avLst/>
          </a:prstGeom>
          <a:noFill/>
          <a:ln/>
        </p:spPr>
        <p:txBody>
          <a:bodyPr wrap="square" lIns="0" tIns="0" rIns="0" bIns="0" rtlCol="0" anchor="ctr"/>
          <a:lstStyle/>
          <a:p>
            <a:pPr indent="0" marL="0">
              <a:buNone/>
            </a:pPr>
            <a:r>
              <a:rPr lang="en-US" sz="950" b="1" dirty="0">
                <a:solidFill>
                  <a:srgbClr val="22456E"/>
                </a:solidFill>
                <a:latin typeface="Yu Gothic" pitchFamily="34" charset="0"/>
                <a:ea typeface="Yu Gothic" pitchFamily="34" charset="-122"/>
                <a:cs typeface="Yu Gothic" pitchFamily="34" charset="-120"/>
              </a:rPr>
              <a:t>特許 請求項4-8</a:t>
            </a:r>
            <a:endParaRPr lang="en-US" sz="950" dirty="0"/>
          </a:p>
        </p:txBody>
      </p:sp>
      <p:sp>
        <p:nvSpPr>
          <p:cNvPr id="16" name="Shape 14"/>
          <p:cNvSpPr/>
          <p:nvPr/>
        </p:nvSpPr>
        <p:spPr>
          <a:xfrm>
            <a:off x="8138160" y="2331720"/>
            <a:ext cx="3520440" cy="2377440"/>
          </a:xfrm>
          <a:prstGeom prst="roundRect">
            <a:avLst>
              <a:gd name="adj" fmla="val 3077"/>
            </a:avLst>
          </a:prstGeom>
          <a:solidFill>
            <a:srgbClr val="EAF0F7"/>
          </a:solidFill>
          <a:ln w="12700">
            <a:solidFill>
              <a:srgbClr val="B9C9DE"/>
            </a:solidFill>
            <a:prstDash val="solid"/>
          </a:ln>
        </p:spPr>
      </p:sp>
      <p:sp>
        <p:nvSpPr>
          <p:cNvPr id="17" name="Text 15"/>
          <p:cNvSpPr txBox="1"/>
          <p:nvPr/>
        </p:nvSpPr>
        <p:spPr>
          <a:xfrm>
            <a:off x="8366760" y="2487168"/>
            <a:ext cx="3063240" cy="411480"/>
          </a:xfrm>
          <a:prstGeom prst="rect">
            <a:avLst/>
          </a:prstGeom>
          <a:noFill/>
          <a:ln/>
        </p:spPr>
        <p:txBody>
          <a:bodyPr wrap="square" lIns="0" tIns="0" rIns="0" bIns="0" rtlCol="0" anchor="ctr"/>
          <a:lstStyle/>
          <a:p>
            <a:pPr indent="0" marL="0">
              <a:buNone/>
            </a:pPr>
            <a:r>
              <a:rPr lang="en-US" sz="1900" b="1" dirty="0">
                <a:solidFill>
                  <a:srgbClr val="22456E"/>
                </a:solidFill>
                <a:latin typeface="Yu Mincho" pitchFamily="34" charset="0"/>
                <a:ea typeface="Yu Mincho" pitchFamily="34" charset="-122"/>
                <a:cs typeface="Yu Mincho" pitchFamily="34" charset="-120"/>
              </a:rPr>
              <a:t>3　合わせる</a:t>
            </a:r>
            <a:endParaRPr lang="en-US" sz="1900" dirty="0"/>
          </a:p>
        </p:txBody>
      </p:sp>
      <p:sp>
        <p:nvSpPr>
          <p:cNvPr id="18" name="Text 16"/>
          <p:cNvSpPr txBox="1"/>
          <p:nvPr/>
        </p:nvSpPr>
        <p:spPr>
          <a:xfrm>
            <a:off x="8366760" y="2944368"/>
            <a:ext cx="3063240" cy="502920"/>
          </a:xfrm>
          <a:prstGeom prst="rect">
            <a:avLst/>
          </a:prstGeom>
          <a:noFill/>
          <a:ln/>
        </p:spPr>
        <p:txBody>
          <a:bodyPr wrap="square" lIns="0" tIns="0" rIns="0" bIns="0" rtlCol="0" anchor="ctr"/>
          <a:lstStyle/>
          <a:p>
            <a:pPr indent="0" marL="0">
              <a:lnSpc>
                <a:spcPct val="115000"/>
              </a:lnSpc>
              <a:buNone/>
            </a:pPr>
            <a:r>
              <a:rPr lang="en-US" sz="1200" b="1" dirty="0">
                <a:solidFill>
                  <a:srgbClr val="22252B"/>
                </a:solidFill>
                <a:latin typeface="Yu Gothic" pitchFamily="34" charset="0"/>
                <a:ea typeface="Yu Gothic" pitchFamily="34" charset="-122"/>
                <a:cs typeface="Yu Gothic" pitchFamily="34" charset="-120"/>
              </a:rPr>
              <a:t>難易度を動的に適応</a:t>
            </a:r>
            <a:endParaRPr lang="en-US" sz="1200" dirty="0"/>
          </a:p>
        </p:txBody>
      </p:sp>
      <p:sp>
        <p:nvSpPr>
          <p:cNvPr id="19" name="Text 17"/>
          <p:cNvSpPr txBox="1"/>
          <p:nvPr/>
        </p:nvSpPr>
        <p:spPr>
          <a:xfrm>
            <a:off x="8366760" y="3474720"/>
            <a:ext cx="3063240" cy="914400"/>
          </a:xfrm>
          <a:prstGeom prst="rect">
            <a:avLst/>
          </a:prstGeom>
          <a:noFill/>
          <a:ln/>
        </p:spPr>
        <p:txBody>
          <a:bodyPr wrap="square" lIns="0" tIns="0" rIns="0" bIns="0" rtlCol="0" anchor="t"/>
          <a:lstStyle/>
          <a:p>
            <a:pPr indent="0" marL="0">
              <a:lnSpc>
                <a:spcPct val="122000"/>
              </a:lnSpc>
              <a:buNone/>
            </a:pPr>
            <a:r>
              <a:rPr lang="en-US" sz="1000" dirty="0">
                <a:solidFill>
                  <a:srgbClr val="5A5F6A"/>
                </a:solidFill>
                <a:latin typeface="Yu Gothic" pitchFamily="34" charset="0"/>
                <a:ea typeface="Yu Gothic" pitchFamily="34" charset="-122"/>
                <a:cs typeface="Yu Gothic" pitchFamily="34" charset="-120"/>
              </a:rPr>
              <a:t>「パタカラ連打」— 発声に応じて難易度が上がり、常に能力の限界近くの負荷で訓練させる</a:t>
            </a:r>
            <a:endParaRPr lang="en-US" sz="1000" dirty="0"/>
          </a:p>
        </p:txBody>
      </p:sp>
      <p:sp>
        <p:nvSpPr>
          <p:cNvPr id="20" name="Text 18"/>
          <p:cNvSpPr txBox="1"/>
          <p:nvPr/>
        </p:nvSpPr>
        <p:spPr>
          <a:xfrm>
            <a:off x="8366760" y="4389120"/>
            <a:ext cx="3063240" cy="274320"/>
          </a:xfrm>
          <a:prstGeom prst="rect">
            <a:avLst/>
          </a:prstGeom>
          <a:noFill/>
          <a:ln/>
        </p:spPr>
        <p:txBody>
          <a:bodyPr wrap="square" lIns="0" tIns="0" rIns="0" bIns="0" rtlCol="0" anchor="ctr"/>
          <a:lstStyle/>
          <a:p>
            <a:pPr indent="0" marL="0">
              <a:buNone/>
            </a:pPr>
            <a:r>
              <a:rPr lang="en-US" sz="950" b="1" dirty="0">
                <a:solidFill>
                  <a:srgbClr val="22456E"/>
                </a:solidFill>
                <a:latin typeface="Yu Gothic" pitchFamily="34" charset="0"/>
                <a:ea typeface="Yu Gothic" pitchFamily="34" charset="-122"/>
                <a:cs typeface="Yu Gothic" pitchFamily="34" charset="-120"/>
              </a:rPr>
              <a:t>実装済み（権利化検討中）</a:t>
            </a:r>
            <a:endParaRPr lang="en-US" sz="950" dirty="0"/>
          </a:p>
        </p:txBody>
      </p:sp>
      <p:sp>
        <p:nvSpPr>
          <p:cNvPr id="21" name="Shape 19"/>
          <p:cNvSpPr/>
          <p:nvPr/>
        </p:nvSpPr>
        <p:spPr>
          <a:xfrm>
            <a:off x="548640" y="4937760"/>
            <a:ext cx="11064240" cy="658368"/>
          </a:xfrm>
          <a:prstGeom prst="roundRect">
            <a:avLst>
              <a:gd name="adj" fmla="val 8333"/>
            </a:avLst>
          </a:prstGeom>
          <a:solidFill>
            <a:srgbClr val="FFFFFF"/>
          </a:solidFill>
          <a:ln w="12700">
            <a:solidFill>
              <a:srgbClr val="D9DCE3"/>
            </a:solidFill>
            <a:prstDash val="solid"/>
          </a:ln>
        </p:spPr>
      </p:sp>
      <p:sp>
        <p:nvSpPr>
          <p:cNvPr id="22" name="Text 20"/>
          <p:cNvSpPr txBox="1"/>
          <p:nvPr/>
        </p:nvSpPr>
        <p:spPr>
          <a:xfrm>
            <a:off x="822960" y="5029200"/>
            <a:ext cx="10515600" cy="475488"/>
          </a:xfrm>
          <a:prstGeom prst="rect">
            <a:avLst/>
          </a:prstGeom>
          <a:noFill/>
          <a:ln/>
        </p:spPr>
        <p:txBody>
          <a:bodyPr wrap="square" lIns="0" tIns="0" rIns="0" bIns="0" rtlCol="0" anchor="ctr"/>
          <a:lstStyle/>
          <a:p>
            <a:pPr indent="0" marL="0">
              <a:buNone/>
            </a:pPr>
            <a:r>
              <a:rPr lang="en-US" sz="1150" b="1" dirty="0">
                <a:solidFill>
                  <a:srgbClr val="5A5F6A"/>
                </a:solidFill>
                <a:latin typeface="Yu Gothic" pitchFamily="34" charset="0"/>
                <a:ea typeface="Yu Gothic" pitchFamily="34" charset="-122"/>
                <a:cs typeface="Yu Gothic" pitchFamily="34" charset="-120"/>
              </a:rPr>
              <a:t>従来： </a:t>
            </a:r>
            <a:pPr indent="0" marL="0">
              <a:buNone/>
            </a:pPr>
            <a:r>
              <a:rPr lang="en-US" sz="1150" dirty="0">
                <a:solidFill>
                  <a:srgbClr val="22252B"/>
                </a:solidFill>
                <a:latin typeface="Yu Gothic" pitchFamily="34" charset="0"/>
                <a:ea typeface="Yu Gothic" pitchFamily="34" charset="-122"/>
                <a:cs typeface="Yu Gothic" pitchFamily="34" charset="-120"/>
              </a:rPr>
              <a:t>実施の正確さも強度も確認できない、一律負荷の自主体操　</a:t>
            </a:r>
            <a:pPr indent="0" marL="0">
              <a:buNone/>
            </a:pPr>
            <a:r>
              <a:rPr lang="en-US" sz="1150" b="1" dirty="0">
                <a:solidFill>
                  <a:srgbClr val="22456E"/>
                </a:solidFill>
                <a:latin typeface="Yu Gothic" pitchFamily="34" charset="0"/>
                <a:ea typeface="Yu Gothic" pitchFamily="34" charset="-122"/>
                <a:cs typeface="Yu Gothic" pitchFamily="34" charset="-120"/>
              </a:rPr>
              <a:t>→　本品： </a:t>
            </a:r>
            <a:pPr indent="0" marL="0">
              <a:buNone/>
            </a:pPr>
            <a:r>
              <a:rPr lang="en-US" sz="1150" dirty="0">
                <a:solidFill>
                  <a:srgbClr val="22252B"/>
                </a:solidFill>
                <a:latin typeface="Yu Gothic" pitchFamily="34" charset="0"/>
                <a:ea typeface="Yu Gothic" pitchFamily="34" charset="-122"/>
                <a:cs typeface="Yu Gothic" pitchFamily="34" charset="-120"/>
              </a:rPr>
              <a:t>指導者が常時付き添っても提供できない、1発声ごとに測定→評価→訓練→再測定を繰り返す適応訓練</a:t>
            </a:r>
            <a:endParaRPr lang="en-US" sz="1150" dirty="0"/>
          </a:p>
        </p:txBody>
      </p:sp>
      <p:sp>
        <p:nvSpPr>
          <p:cNvPr id="23" name="Shape 21"/>
          <p:cNvSpPr/>
          <p:nvPr/>
        </p:nvSpPr>
        <p:spPr>
          <a:xfrm>
            <a:off x="548640" y="5760720"/>
            <a:ext cx="11064240" cy="658368"/>
          </a:xfrm>
          <a:prstGeom prst="roundRect">
            <a:avLst>
              <a:gd name="adj" fmla="val 8333"/>
            </a:avLst>
          </a:prstGeom>
          <a:solidFill>
            <a:srgbClr val="F7F0DC"/>
          </a:solidFill>
          <a:ln w="12700">
            <a:solidFill>
              <a:srgbClr val="9A6B00"/>
            </a:solidFill>
            <a:prstDash val="solid"/>
          </a:ln>
        </p:spPr>
      </p:sp>
      <p:sp>
        <p:nvSpPr>
          <p:cNvPr id="24" name="Text 22"/>
          <p:cNvSpPr txBox="1"/>
          <p:nvPr/>
        </p:nvSpPr>
        <p:spPr>
          <a:xfrm>
            <a:off x="822960" y="5852160"/>
            <a:ext cx="10515600" cy="475488"/>
          </a:xfrm>
          <a:prstGeom prst="rect">
            <a:avLst/>
          </a:prstGeom>
          <a:noFill/>
          <a:ln/>
        </p:spPr>
        <p:txBody>
          <a:bodyPr wrap="square" lIns="0" tIns="0" rIns="0" bIns="0" rtlCol="0" anchor="ctr"/>
          <a:lstStyle/>
          <a:p>
            <a:pPr indent="0" marL="0">
              <a:buNone/>
            </a:pPr>
            <a:r>
              <a:rPr lang="en-US" sz="1100" b="1" dirty="0">
                <a:solidFill>
                  <a:srgbClr val="9A6B00"/>
                </a:solidFill>
                <a:latin typeface="Yu Gothic" pitchFamily="34" charset="0"/>
                <a:ea typeface="Yu Gothic" pitchFamily="34" charset="-122"/>
                <a:cs typeface="Yu Gothic" pitchFamily="34" charset="-120"/>
              </a:rPr>
              <a:t>残る宿題： </a:t>
            </a:r>
            <a:pPr indent="0" marL="0">
              <a:buNone/>
            </a:pPr>
            <a:r>
              <a:rPr lang="en-US" sz="1100" dirty="0">
                <a:solidFill>
                  <a:srgbClr val="22252B"/>
                </a:solidFill>
                <a:latin typeface="Yu Gothic" pitchFamily="34" charset="0"/>
                <a:ea typeface="Yu Gothic" pitchFamily="34" charset="-122"/>
                <a:cs typeface="Yu Gothic" pitchFamily="34" charset="-120"/>
              </a:rPr>
              <a:t>①「パタカラ連打」の難易度ロジックの仕様文書化（個人成績ベースの最適化か）　②適応制御の追加出願の検討　③世界に類似品がないことの調査（詳細: docs/regulatory/10）</a:t>
            </a:r>
            <a:endParaRPr lang="en-US" sz="1100" dirty="0"/>
          </a:p>
        </p:txBody>
      </p:sp>
      <p:sp>
        <p:nvSpPr>
          <p:cNvPr id="25" name="Text 23"/>
          <p:cNvSpPr txBox="1"/>
          <p:nvPr/>
        </p:nvSpPr>
        <p:spPr>
          <a:xfrm>
            <a:off x="11430000" y="6473952"/>
            <a:ext cx="457200" cy="274320"/>
          </a:xfrm>
          <a:prstGeom prst="rect">
            <a:avLst/>
          </a:prstGeom>
          <a:noFill/>
          <a:ln/>
        </p:spPr>
        <p:txBody>
          <a:bodyPr wrap="square" lIns="0" tIns="0" rIns="0" bIns="0" rtlCol="0" anchor="ctr"/>
          <a:lstStyle/>
          <a:p>
            <a:pPr algn="r" indent="0" marL="0">
              <a:buNone/>
            </a:pPr>
            <a:r>
              <a:rPr lang="en-US" sz="1000" dirty="0">
                <a:solidFill>
                  <a:srgbClr val="5A5F6A"/>
                </a:solidFill>
                <a:latin typeface="Yu Gothic" pitchFamily="34" charset="0"/>
                <a:ea typeface="Yu Gothic" pitchFamily="34" charset="-122"/>
                <a:cs typeface="Yu Gothic"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88720" cy="365760"/>
          </a:xfrm>
          <a:prstGeom prst="rect">
            <a:avLst/>
          </a:prstGeom>
          <a:noFill/>
          <a:ln/>
        </p:spPr>
        <p:txBody>
          <a:bodyPr wrap="square" lIns="0" tIns="0" rIns="0" bIns="0" rtlCol="0" anchor="ctr"/>
          <a:lstStyle/>
          <a:p>
            <a:pPr indent="0" marL="0">
              <a:buNone/>
            </a:pPr>
            <a:r>
              <a:rPr lang="en-US" sz="1300" b="1" spc="300" kern="0" dirty="0">
                <a:solidFill>
                  <a:srgbClr val="22456E"/>
                </a:solidFill>
                <a:latin typeface="Yu Gothic" pitchFamily="34" charset="0"/>
                <a:ea typeface="Yu Gothic" pitchFamily="34" charset="-122"/>
                <a:cs typeface="Yu Gothic" pitchFamily="34" charset="-120"/>
              </a:rPr>
              <a:t>第 3 部</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22252B"/>
                </a:solidFill>
                <a:latin typeface="Yu Mincho" pitchFamily="34" charset="0"/>
                <a:ea typeface="Yu Mincho" pitchFamily="34" charset="-122"/>
                <a:cs typeface="Yu Mincho" pitchFamily="34" charset="-120"/>
              </a:rPr>
              <a:t>背景 — なぜ「適応型難易度制御」を柱にするのか</a:t>
            </a:r>
            <a:endParaRPr lang="en-US" sz="3000" dirty="0"/>
          </a:p>
        </p:txBody>
      </p:sp>
      <p:sp>
        <p:nvSpPr>
          <p:cNvPr id="4" name="Text 2"/>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5A5F6A"/>
                </a:solidFill>
                <a:latin typeface="Yu Gothic" pitchFamily="34" charset="0"/>
                <a:ea typeface="Yu Gothic" pitchFamily="34" charset="-122"/>
                <a:cs typeface="Yu Gothic" pitchFamily="34" charset="-120"/>
              </a:rPr>
              <a:t>PaTaKaRUSH 薬事戦略プロジェクト｜優先審査指定制度 キックオフ</a:t>
            </a:r>
            <a:endParaRPr lang="en-US" sz="900" dirty="0"/>
          </a:p>
        </p:txBody>
      </p:sp>
      <p:sp>
        <p:nvSpPr>
          <p:cNvPr id="5" name="Shape 3"/>
          <p:cNvSpPr/>
          <p:nvPr/>
        </p:nvSpPr>
        <p:spPr>
          <a:xfrm>
            <a:off x="548640" y="1600200"/>
            <a:ext cx="5440680" cy="1481328"/>
          </a:xfrm>
          <a:prstGeom prst="roundRect">
            <a:avLst>
              <a:gd name="adj" fmla="val 4321"/>
            </a:avLst>
          </a:prstGeom>
          <a:solidFill>
            <a:srgbClr val="FFFFFF"/>
          </a:solidFill>
          <a:ln w="12700">
            <a:solidFill>
              <a:srgbClr val="D9DCE3"/>
            </a:solidFill>
            <a:prstDash val="solid"/>
          </a:ln>
        </p:spPr>
      </p:sp>
      <p:sp>
        <p:nvSpPr>
          <p:cNvPr id="6" name="Text 4"/>
          <p:cNvSpPr txBox="1"/>
          <p:nvPr/>
        </p:nvSpPr>
        <p:spPr>
          <a:xfrm>
            <a:off x="822960" y="1755648"/>
            <a:ext cx="4937760" cy="1188720"/>
          </a:xfrm>
          <a:prstGeom prst="rect">
            <a:avLst/>
          </a:prstGeom>
          <a:noFill/>
          <a:ln/>
        </p:spPr>
        <p:txBody>
          <a:bodyPr wrap="square" lIns="0" tIns="0" rIns="0" bIns="0" rtlCol="0" anchor="t"/>
          <a:lstStyle/>
          <a:p>
            <a:pPr indent="0" marL="0">
              <a:lnSpc>
                <a:spcPct val="125000"/>
              </a:lnSpc>
              <a:buNone/>
            </a:pPr>
            <a:r>
              <a:rPr lang="en-US" sz="1250" b="1" dirty="0">
                <a:solidFill>
                  <a:srgbClr val="22456E"/>
                </a:solidFill>
                <a:latin typeface="Yu Gothic" pitchFamily="34" charset="0"/>
                <a:ea typeface="Yu Gothic" pitchFamily="34" charset="-122"/>
                <a:cs typeface="Yu Gothic" pitchFamily="34" charset="-120"/>
              </a:rPr>
              <a:t>通知が言っていること
</a:t>
            </a:r>
            <a:pPr indent="0" marL="0">
              <a:lnSpc>
                <a:spcPct val="125000"/>
              </a:lnSpc>
              <a:buNone/>
            </a:pPr>
            <a:r>
              <a:rPr lang="en-US" sz="1100" dirty="0">
                <a:solidFill>
                  <a:srgbClr val="22252B"/>
                </a:solidFill>
                <a:latin typeface="Yu Gothic" pitchFamily="34" charset="0"/>
                <a:ea typeface="Yu Gothic" pitchFamily="34" charset="-122"/>
                <a:cs typeface="Yu Gothic" pitchFamily="34" charset="-120"/>
              </a:rPr>
              <a:t>「原理が明らかに異なり、画期的であること」「患者指導の焼き直しは画期性なし」— ここまで。</a:t>
            </a:r>
            <a:endParaRPr lang="en-US" sz="1250" dirty="0"/>
          </a:p>
        </p:txBody>
      </p:sp>
      <p:sp>
        <p:nvSpPr>
          <p:cNvPr id="7" name="Shape 5"/>
          <p:cNvSpPr/>
          <p:nvPr/>
        </p:nvSpPr>
        <p:spPr>
          <a:xfrm>
            <a:off x="6172200" y="1600200"/>
            <a:ext cx="5440680" cy="1481328"/>
          </a:xfrm>
          <a:prstGeom prst="roundRect">
            <a:avLst>
              <a:gd name="adj" fmla="val 4321"/>
            </a:avLst>
          </a:prstGeom>
          <a:solidFill>
            <a:srgbClr val="FFFFFF"/>
          </a:solidFill>
          <a:ln w="12700">
            <a:solidFill>
              <a:srgbClr val="D9DCE3"/>
            </a:solidFill>
            <a:prstDash val="solid"/>
          </a:ln>
        </p:spPr>
      </p:sp>
      <p:sp>
        <p:nvSpPr>
          <p:cNvPr id="8" name="Text 6"/>
          <p:cNvSpPr txBox="1"/>
          <p:nvPr/>
        </p:nvSpPr>
        <p:spPr>
          <a:xfrm>
            <a:off x="6446520" y="1755648"/>
            <a:ext cx="4937760" cy="1188720"/>
          </a:xfrm>
          <a:prstGeom prst="rect">
            <a:avLst/>
          </a:prstGeom>
          <a:noFill/>
          <a:ln/>
        </p:spPr>
        <p:txBody>
          <a:bodyPr wrap="square" lIns="0" tIns="0" rIns="0" bIns="0" rtlCol="0" anchor="t"/>
          <a:lstStyle/>
          <a:p>
            <a:pPr indent="0" marL="0">
              <a:lnSpc>
                <a:spcPct val="125000"/>
              </a:lnSpc>
              <a:buNone/>
            </a:pPr>
            <a:r>
              <a:rPr lang="en-US" sz="1250" b="1" dirty="0">
                <a:solidFill>
                  <a:srgbClr val="B3383E"/>
                </a:solidFill>
                <a:latin typeface="Yu Gothic" pitchFamily="34" charset="0"/>
                <a:ea typeface="Yu Gothic" pitchFamily="34" charset="-122"/>
                <a:cs typeface="Yu Gothic" pitchFamily="34" charset="-120"/>
              </a:rPr>
              <a:t>通知が言っていないこと
</a:t>
            </a:r>
            <a:pPr indent="0" marL="0">
              <a:lnSpc>
                <a:spcPct val="125000"/>
              </a:lnSpc>
              <a:buNone/>
            </a:pPr>
            <a:r>
              <a:rPr lang="en-US" sz="1100" dirty="0">
                <a:solidFill>
                  <a:srgbClr val="22252B"/>
                </a:solidFill>
                <a:latin typeface="Yu Gothic" pitchFamily="34" charset="0"/>
                <a:ea typeface="Yu Gothic" pitchFamily="34" charset="-122"/>
                <a:cs typeface="Yu Gothic" pitchFamily="34" charset="-120"/>
              </a:rPr>
              <a:t>「何なら画期的と認めるか」の定義。「適応型難易度制御」という言葉も通知には登場しない。</a:t>
            </a:r>
            <a:endParaRPr lang="en-US" sz="1250" dirty="0"/>
          </a:p>
        </p:txBody>
      </p:sp>
      <p:sp>
        <p:nvSpPr>
          <p:cNvPr id="9" name="Text 7"/>
          <p:cNvSpPr txBox="1"/>
          <p:nvPr/>
        </p:nvSpPr>
        <p:spPr>
          <a:xfrm>
            <a:off x="548640" y="3291840"/>
            <a:ext cx="11064240" cy="365760"/>
          </a:xfrm>
          <a:prstGeom prst="rect">
            <a:avLst/>
          </a:prstGeom>
          <a:noFill/>
          <a:ln/>
        </p:spPr>
        <p:txBody>
          <a:bodyPr wrap="square" lIns="0" tIns="0" rIns="0" bIns="0" rtlCol="0" anchor="ctr"/>
          <a:lstStyle/>
          <a:p>
            <a:pPr indent="0" marL="0">
              <a:buNone/>
            </a:pPr>
            <a:r>
              <a:rPr lang="en-US" sz="1350" b="1" dirty="0">
                <a:solidFill>
                  <a:srgbClr val="22456E"/>
                </a:solidFill>
                <a:latin typeface="Yu Gothic" pitchFamily="34" charset="0"/>
                <a:ea typeface="Yu Gothic" pitchFamily="34" charset="-122"/>
                <a:cs typeface="Yu Gothic" pitchFamily="34" charset="-120"/>
              </a:rPr>
              <a:t>答えは承認前例にある — ENDEAVORRIDE/EndeavorRxの「治療原理」の核が適応型アルゴリズム（SSME）だった</a:t>
            </a:r>
            <a:endParaRPr lang="en-US" sz="1350" dirty="0"/>
          </a:p>
        </p:txBody>
      </p:sp>
      <p:sp>
        <p:nvSpPr>
          <p:cNvPr id="10" name="Shape 8"/>
          <p:cNvSpPr/>
          <p:nvPr/>
        </p:nvSpPr>
        <p:spPr>
          <a:xfrm>
            <a:off x="548640" y="3703320"/>
            <a:ext cx="11064240" cy="1737360"/>
          </a:xfrm>
          <a:prstGeom prst="roundRect">
            <a:avLst>
              <a:gd name="adj" fmla="val 3158"/>
            </a:avLst>
          </a:prstGeom>
          <a:solidFill>
            <a:srgbClr val="F5F3EA"/>
          </a:solidFill>
          <a:ln w="9525">
            <a:solidFill>
              <a:srgbClr val="E0DBC8"/>
            </a:solidFill>
            <a:prstDash val="solid"/>
          </a:ln>
        </p:spPr>
      </p:sp>
      <p:sp>
        <p:nvSpPr>
          <p:cNvPr id="11" name="Text 9"/>
          <p:cNvSpPr txBox="1"/>
          <p:nvPr/>
        </p:nvSpPr>
        <p:spPr>
          <a:xfrm>
            <a:off x="822960" y="3840480"/>
            <a:ext cx="10515600" cy="1508760"/>
          </a:xfrm>
          <a:prstGeom prst="rect">
            <a:avLst/>
          </a:prstGeom>
          <a:noFill/>
          <a:ln/>
        </p:spPr>
        <p:txBody>
          <a:bodyPr wrap="square" lIns="0" tIns="0" rIns="0" bIns="0" rtlCol="0" anchor="t"/>
          <a:lstStyle/>
          <a:p>
            <a:pPr indent="0" marL="0">
              <a:lnSpc>
                <a:spcPct val="125000"/>
              </a:lnSpc>
              <a:buNone/>
            </a:pPr>
            <a:r>
              <a:rPr lang="en-US" sz="1200" dirty="0">
                <a:solidFill>
                  <a:srgbClr val="22252B"/>
                </a:solidFill>
                <a:latin typeface="Yu Mincho" pitchFamily="34" charset="0"/>
                <a:ea typeface="Yu Mincho" pitchFamily="34" charset="-122"/>
                <a:cs typeface="Yu Mincho" pitchFamily="34" charset="-120"/>
              </a:rPr>
              <a:t>「SSMEは、患者さまごとに最適化された二重課題を行うことで大脳皮質を刺激し、患者さまの不注意、多動性、および衝動性を改善するように促します」</a:t>
            </a:r>
            <a:endParaRPr lang="en-US" sz="1200" dirty="0"/>
          </a:p>
          <a:p>
            <a:pPr algn="r" indent="0" marL="0">
              <a:lnSpc>
                <a:spcPct val="125000"/>
              </a:lnSpc>
              <a:buNone/>
            </a:pPr>
            <a:r>
              <a:rPr lang="en-US" sz="950" dirty="0">
                <a:solidFill>
                  <a:srgbClr val="5A5F6A"/>
                </a:solidFill>
                <a:latin typeface="Yu Gothic" pitchFamily="34" charset="0"/>
                <a:ea typeface="Yu Gothic" pitchFamily="34" charset="-122"/>
                <a:cs typeface="Yu Gothic" pitchFamily="34" charset="-120"/>
              </a:rPr>
              <a:t>— 塩野義製薬プレスリリース（2025年2月18日）
</a:t>
            </a:r>
            <a:endParaRPr lang="en-US" sz="1200" dirty="0"/>
          </a:p>
          <a:p>
            <a:pPr indent="0" marL="0">
              <a:lnSpc>
                <a:spcPct val="125000"/>
              </a:lnSpc>
              <a:buNone/>
            </a:pPr>
            <a:r>
              <a:rPr lang="en-US" sz="1200" dirty="0">
                <a:solidFill>
                  <a:srgbClr val="22252B"/>
                </a:solidFill>
                <a:latin typeface="Yu Mincho" pitchFamily="34" charset="0"/>
                <a:ea typeface="Yu Mincho" pitchFamily="34" charset="-122"/>
                <a:cs typeface="Yu Mincho" pitchFamily="34" charset="-120"/>
              </a:rPr>
              <a:t>"adaptive algorithms … automatically adjust the difficulty level for a personalized treatment experience"（適応型アルゴリズムが難易度を自動調整し、個別化された治療体験を提供する）</a:t>
            </a:r>
            <a:endParaRPr lang="en-US" sz="1200" dirty="0"/>
          </a:p>
          <a:p>
            <a:pPr algn="r" indent="0" marL="0">
              <a:lnSpc>
                <a:spcPct val="125000"/>
              </a:lnSpc>
              <a:buNone/>
            </a:pPr>
            <a:r>
              <a:rPr lang="en-US" sz="950" dirty="0">
                <a:solidFill>
                  <a:srgbClr val="5A5F6A"/>
                </a:solidFill>
                <a:latin typeface="Yu Gothic" pitchFamily="34" charset="0"/>
                <a:ea typeface="Yu Gothic" pitchFamily="34" charset="-122"/>
                <a:cs typeface="Yu Gothic" pitchFamily="34" charset="-120"/>
              </a:rPr>
              <a:t>— FDA De Novo Summary DEN200026（2020年）</a:t>
            </a:r>
            <a:endParaRPr lang="en-US" sz="1200" dirty="0"/>
          </a:p>
        </p:txBody>
      </p:sp>
      <p:sp>
        <p:nvSpPr>
          <p:cNvPr id="12" name="Text 10"/>
          <p:cNvSpPr txBox="1"/>
          <p:nvPr/>
        </p:nvSpPr>
        <p:spPr>
          <a:xfrm>
            <a:off x="548640" y="5486400"/>
            <a:ext cx="11064240" cy="502920"/>
          </a:xfrm>
          <a:prstGeom prst="rect">
            <a:avLst/>
          </a:prstGeom>
          <a:noFill/>
          <a:ln/>
        </p:spPr>
        <p:txBody>
          <a:bodyPr wrap="square" lIns="0" tIns="0" rIns="0" bIns="0" rtlCol="0" anchor="ctr"/>
          <a:lstStyle/>
          <a:p>
            <a:pPr indent="0" marL="0">
              <a:lnSpc>
                <a:spcPct val="122000"/>
              </a:lnSpc>
              <a:buNone/>
            </a:pPr>
            <a:r>
              <a:rPr lang="en-US" sz="1100" dirty="0">
                <a:solidFill>
                  <a:srgbClr val="22252B"/>
                </a:solidFill>
                <a:latin typeface="Yu Gothic" pitchFamily="34" charset="0"/>
                <a:ea typeface="Yu Gothic" pitchFamily="34" charset="-122"/>
                <a:cs typeface="Yu Gothic" pitchFamily="34" charset="-120"/>
              </a:rPr>
              <a:t>ゲームアプリが「指導の焼き直し」ではなく「それ自体が治療原理を持つ機器」として承認された唯一の身近な前例で、当局に受け入れられた説明の核がこれ。前例で通った型に乗るのが最も説得力が高い、という戦略判断。</a:t>
            </a:r>
            <a:endParaRPr lang="en-US" sz="1100" dirty="0"/>
          </a:p>
        </p:txBody>
      </p:sp>
      <p:sp>
        <p:nvSpPr>
          <p:cNvPr id="13" name="Shape 11"/>
          <p:cNvSpPr/>
          <p:nvPr/>
        </p:nvSpPr>
        <p:spPr>
          <a:xfrm>
            <a:off x="548640" y="5961888"/>
            <a:ext cx="11064240" cy="438912"/>
          </a:xfrm>
          <a:prstGeom prst="roundRect">
            <a:avLst>
              <a:gd name="adj" fmla="val 12500"/>
            </a:avLst>
          </a:prstGeom>
          <a:solidFill>
            <a:srgbClr val="F7F0DC"/>
          </a:solidFill>
          <a:ln w="12700">
            <a:solidFill>
              <a:srgbClr val="9A6B00"/>
            </a:solidFill>
            <a:prstDash val="solid"/>
          </a:ln>
        </p:spPr>
      </p:sp>
      <p:sp>
        <p:nvSpPr>
          <p:cNvPr id="14" name="Text 12"/>
          <p:cNvSpPr txBox="1"/>
          <p:nvPr/>
        </p:nvSpPr>
        <p:spPr>
          <a:xfrm>
            <a:off x="822960" y="5998464"/>
            <a:ext cx="10515600" cy="365760"/>
          </a:xfrm>
          <a:prstGeom prst="rect">
            <a:avLst/>
          </a:prstGeom>
          <a:noFill/>
          <a:ln/>
        </p:spPr>
        <p:txBody>
          <a:bodyPr wrap="square" lIns="0" tIns="0" rIns="0" bIns="0" rtlCol="0" anchor="ctr"/>
          <a:lstStyle/>
          <a:p>
            <a:pPr indent="0" marL="0">
              <a:buNone/>
            </a:pPr>
            <a:r>
              <a:rPr lang="en-US" sz="1100" b="1" dirty="0">
                <a:solidFill>
                  <a:srgbClr val="9A6B00"/>
                </a:solidFill>
                <a:latin typeface="Yu Gothic" pitchFamily="34" charset="0"/>
                <a:ea typeface="Yu Gothic" pitchFamily="34" charset="-122"/>
                <a:cs typeface="Yu Gothic" pitchFamily="34" charset="-120"/>
              </a:rPr>
              <a:t>注意： </a:t>
            </a:r>
            <a:pPr indent="0" marL="0">
              <a:buNone/>
            </a:pPr>
            <a:r>
              <a:rPr lang="en-US" sz="1100" dirty="0">
                <a:solidFill>
                  <a:srgbClr val="22252B"/>
                </a:solidFill>
                <a:latin typeface="Yu Gothic" pitchFamily="34" charset="0"/>
                <a:ea typeface="Yu Gothic" pitchFamily="34" charset="-122"/>
                <a:cs typeface="Yu Gothic" pitchFamily="34" charset="-120"/>
              </a:rPr>
              <a:t>適応型制御は要件1の必要条件でも十分条件でもない「勝ち筋の仮説」。最終検証はPMDA相談・ヒアリングで行う。</a:t>
            </a:r>
            <a:endParaRPr lang="en-US" sz="1100" dirty="0"/>
          </a:p>
        </p:txBody>
      </p:sp>
      <p:sp>
        <p:nvSpPr>
          <p:cNvPr id="15" name="Text 13"/>
          <p:cNvSpPr txBox="1"/>
          <p:nvPr/>
        </p:nvSpPr>
        <p:spPr>
          <a:xfrm>
            <a:off x="11430000" y="6473952"/>
            <a:ext cx="457200" cy="274320"/>
          </a:xfrm>
          <a:prstGeom prst="rect">
            <a:avLst/>
          </a:prstGeom>
          <a:noFill/>
          <a:ln/>
        </p:spPr>
        <p:txBody>
          <a:bodyPr wrap="square" lIns="0" tIns="0" rIns="0" bIns="0" rtlCol="0" anchor="ctr"/>
          <a:lstStyle/>
          <a:p>
            <a:pPr algn="r" indent="0" marL="0">
              <a:buNone/>
            </a:pPr>
            <a:r>
              <a:rPr lang="en-US" sz="1000" dirty="0">
                <a:solidFill>
                  <a:srgbClr val="5A5F6A"/>
                </a:solidFill>
                <a:latin typeface="Yu Gothic" pitchFamily="34" charset="0"/>
                <a:ea typeface="Yu Gothic" pitchFamily="34" charset="-122"/>
                <a:cs typeface="Yu Gothic"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88720" cy="365760"/>
          </a:xfrm>
          <a:prstGeom prst="rect">
            <a:avLst/>
          </a:prstGeom>
          <a:noFill/>
          <a:ln/>
        </p:spPr>
        <p:txBody>
          <a:bodyPr wrap="square" lIns="0" tIns="0" rIns="0" bIns="0" rtlCol="0" anchor="ctr"/>
          <a:lstStyle/>
          <a:p>
            <a:pPr indent="0" marL="0">
              <a:buNone/>
            </a:pPr>
            <a:r>
              <a:rPr lang="en-US" sz="1300" b="1" spc="300" kern="0" dirty="0">
                <a:solidFill>
                  <a:srgbClr val="22456E"/>
                </a:solidFill>
                <a:latin typeface="Yu Gothic" pitchFamily="34" charset="0"/>
                <a:ea typeface="Yu Gothic" pitchFamily="34" charset="-122"/>
                <a:cs typeface="Yu Gothic" pitchFamily="34" charset="-120"/>
              </a:rPr>
              <a:t>第 3 部</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22252B"/>
                </a:solidFill>
                <a:latin typeface="Yu Mincho" pitchFamily="34" charset="0"/>
                <a:ea typeface="Yu Mincho" pitchFamily="34" charset="-122"/>
                <a:cs typeface="Yu Mincho" pitchFamily="34" charset="-120"/>
              </a:rPr>
              <a:t>要件2　対象疾患に係る医療上の有用性</a:t>
            </a:r>
            <a:endParaRPr lang="en-US" sz="3000" dirty="0"/>
          </a:p>
        </p:txBody>
      </p:sp>
      <p:sp>
        <p:nvSpPr>
          <p:cNvPr id="4" name="Text 2"/>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5A5F6A"/>
                </a:solidFill>
                <a:latin typeface="Yu Gothic" pitchFamily="34" charset="0"/>
                <a:ea typeface="Yu Gothic" pitchFamily="34" charset="-122"/>
                <a:cs typeface="Yu Gothic" pitchFamily="34" charset="-120"/>
              </a:rPr>
              <a:t>PaTaKaRUSH 薬事戦略プロジェクト｜優先審査指定制度 キックオフ</a:t>
            </a:r>
            <a:endParaRPr lang="en-US" sz="900" dirty="0"/>
          </a:p>
        </p:txBody>
      </p:sp>
      <p:sp>
        <p:nvSpPr>
          <p:cNvPr id="5" name="Shape 3"/>
          <p:cNvSpPr/>
          <p:nvPr/>
        </p:nvSpPr>
        <p:spPr>
          <a:xfrm>
            <a:off x="9966960" y="786384"/>
            <a:ext cx="1645920" cy="310896"/>
          </a:xfrm>
          <a:prstGeom prst="roundRect">
            <a:avLst>
              <a:gd name="adj" fmla="val 50000"/>
            </a:avLst>
          </a:prstGeom>
          <a:solidFill>
            <a:srgbClr val="F7F0DC"/>
          </a:solidFill>
          <a:ln w="12700">
            <a:solidFill>
              <a:srgbClr val="9A6B00"/>
            </a:solidFill>
            <a:prstDash val="solid"/>
          </a:ln>
        </p:spPr>
      </p:sp>
      <p:sp>
        <p:nvSpPr>
          <p:cNvPr id="6" name="Text 4"/>
          <p:cNvSpPr txBox="1"/>
          <p:nvPr/>
        </p:nvSpPr>
        <p:spPr>
          <a:xfrm>
            <a:off x="9966960" y="779069"/>
            <a:ext cx="1645920" cy="329184"/>
          </a:xfrm>
          <a:prstGeom prst="rect">
            <a:avLst/>
          </a:prstGeom>
          <a:noFill/>
          <a:ln/>
        </p:spPr>
        <p:txBody>
          <a:bodyPr wrap="square" lIns="0" tIns="0" rIns="0" bIns="0" rtlCol="0" anchor="ctr"/>
          <a:lstStyle/>
          <a:p>
            <a:pPr algn="ctr" indent="0" marL="0">
              <a:buNone/>
            </a:pPr>
            <a:r>
              <a:rPr lang="en-US" sz="1100" b="1" dirty="0">
                <a:solidFill>
                  <a:srgbClr val="9A6B00"/>
                </a:solidFill>
                <a:latin typeface="Yu Gothic" pitchFamily="34" charset="0"/>
                <a:ea typeface="Yu Gothic" pitchFamily="34" charset="-122"/>
                <a:cs typeface="Yu Gothic" pitchFamily="34" charset="-120"/>
              </a:rPr>
              <a:t>臨床データが前提</a:t>
            </a:r>
            <a:endParaRPr lang="en-US" sz="1100" dirty="0"/>
          </a:p>
        </p:txBody>
      </p:sp>
      <p:sp>
        <p:nvSpPr>
          <p:cNvPr id="7" name="Shape 5"/>
          <p:cNvSpPr/>
          <p:nvPr/>
        </p:nvSpPr>
        <p:spPr>
          <a:xfrm>
            <a:off x="548640" y="1600200"/>
            <a:ext cx="11064240" cy="2514600"/>
          </a:xfrm>
          <a:prstGeom prst="roundRect">
            <a:avLst>
              <a:gd name="adj" fmla="val 2182"/>
            </a:avLst>
          </a:prstGeom>
          <a:solidFill>
            <a:srgbClr val="F5F3EA"/>
          </a:solidFill>
          <a:ln w="9525">
            <a:solidFill>
              <a:srgbClr val="E0DBC8"/>
            </a:solidFill>
            <a:prstDash val="solid"/>
          </a:ln>
        </p:spPr>
      </p:sp>
      <p:sp>
        <p:nvSpPr>
          <p:cNvPr id="8" name="Text 6"/>
          <p:cNvSpPr txBox="1"/>
          <p:nvPr/>
        </p:nvSpPr>
        <p:spPr>
          <a:xfrm>
            <a:off x="777240" y="1728216"/>
            <a:ext cx="2011680" cy="256032"/>
          </a:xfrm>
          <a:prstGeom prst="rect">
            <a:avLst/>
          </a:prstGeom>
          <a:noFill/>
          <a:ln/>
        </p:spPr>
        <p:txBody>
          <a:bodyPr wrap="square" lIns="0" tIns="0" rIns="0" bIns="0" rtlCol="0" anchor="ctr"/>
          <a:lstStyle/>
          <a:p>
            <a:pPr indent="0" marL="0">
              <a:buNone/>
            </a:pPr>
            <a:r>
              <a:rPr lang="en-US" sz="1000" b="1" spc="200" kern="0" dirty="0">
                <a:solidFill>
                  <a:srgbClr val="8A7B4E"/>
                </a:solidFill>
                <a:latin typeface="Yu Gothic" pitchFamily="34" charset="0"/>
                <a:ea typeface="Yu Gothic" pitchFamily="34" charset="-122"/>
                <a:cs typeface="Yu Gothic" pitchFamily="34" charset="-120"/>
              </a:rPr>
              <a:t>原 文 抜 粋</a:t>
            </a:r>
            <a:endParaRPr lang="en-US" sz="1000" dirty="0"/>
          </a:p>
        </p:txBody>
      </p:sp>
      <p:sp>
        <p:nvSpPr>
          <p:cNvPr id="9" name="Text 7"/>
          <p:cNvSpPr txBox="1"/>
          <p:nvPr/>
        </p:nvSpPr>
        <p:spPr>
          <a:xfrm>
            <a:off x="777240" y="2002536"/>
            <a:ext cx="10607040" cy="1737360"/>
          </a:xfrm>
          <a:prstGeom prst="rect">
            <a:avLst/>
          </a:prstGeom>
          <a:noFill/>
          <a:ln/>
        </p:spPr>
        <p:txBody>
          <a:bodyPr wrap="square" lIns="0" tIns="0" rIns="0" bIns="0" rtlCol="0" anchor="t"/>
          <a:lstStyle/>
          <a:p>
            <a:pPr indent="0" marL="0">
              <a:lnSpc>
                <a:spcPct val="125000"/>
              </a:lnSpc>
              <a:buNone/>
            </a:pPr>
            <a:r>
              <a:rPr lang="en-US" sz="1150" dirty="0">
                <a:solidFill>
                  <a:srgbClr val="22252B"/>
                </a:solidFill>
                <a:latin typeface="Yu Mincho" pitchFamily="34" charset="0"/>
                <a:ea typeface="Yu Mincho" pitchFamily="34" charset="-122"/>
                <a:cs typeface="Yu Mincho" pitchFamily="34" charset="-120"/>
              </a:rPr>
              <a:t>ア　根治療法となり得る既存の治療法がない（中略）疾患において、臨床上の必要性が高く、</a:t>
            </a:r>
            <a:pPr indent="0" marL="0">
              <a:lnSpc>
                <a:spcPct val="125000"/>
              </a:lnSpc>
              <a:buNone/>
            </a:pPr>
            <a:r>
              <a:rPr lang="en-US" sz="1150" b="1" dirty="0">
                <a:solidFill>
                  <a:srgbClr val="B3383E"/>
                </a:solidFill>
                <a:latin typeface="Yu Mincho" pitchFamily="34" charset="0"/>
                <a:ea typeface="Yu Mincho" pitchFamily="34" charset="-122"/>
                <a:cs typeface="Yu Mincho" pitchFamily="34" charset="-120"/>
              </a:rPr>
              <a:t>臨床試験等（公的な競争的資金により実施された臨床研究を含む。）において有効性及び安全性が見込まれる</a:t>
            </a:r>
            <a:pPr indent="0" marL="0">
              <a:lnSpc>
                <a:spcPct val="125000"/>
              </a:lnSpc>
              <a:buNone/>
            </a:pPr>
            <a:r>
              <a:rPr lang="en-US" sz="1150" dirty="0">
                <a:solidFill>
                  <a:srgbClr val="22252B"/>
                </a:solidFill>
                <a:latin typeface="Yu Mincho" pitchFamily="34" charset="0"/>
                <a:ea typeface="Yu Mincho" pitchFamily="34" charset="-122"/>
                <a:cs typeface="Yu Mincho" pitchFamily="34" charset="-120"/>
              </a:rPr>
              <a:t>こと。</a:t>
            </a:r>
            <a:endParaRPr lang="en-US" sz="1150" dirty="0"/>
          </a:p>
          <a:p>
            <a:pPr indent="0" marL="0">
              <a:lnSpc>
                <a:spcPct val="125000"/>
              </a:lnSpc>
              <a:buNone/>
            </a:pPr>
            <a:r>
              <a:rPr lang="en-US" sz="1150" dirty="0">
                <a:solidFill>
                  <a:srgbClr val="22252B"/>
                </a:solidFill>
                <a:latin typeface="Yu Mincho" pitchFamily="34" charset="0"/>
                <a:ea typeface="Yu Mincho" pitchFamily="34" charset="-122"/>
                <a:cs typeface="Yu Mincho" pitchFamily="34" charset="-120"/>
              </a:rPr>
              <a:t>イ　臨床試験等において、既存の治療法（中略）に比べて</a:t>
            </a:r>
            <a:pPr indent="0" marL="0">
              <a:lnSpc>
                <a:spcPct val="125000"/>
              </a:lnSpc>
              <a:buNone/>
            </a:pPr>
            <a:r>
              <a:rPr lang="en-US" sz="1150" b="1" dirty="0">
                <a:solidFill>
                  <a:srgbClr val="B3383E"/>
                </a:solidFill>
                <a:latin typeface="Yu Mincho" pitchFamily="34" charset="0"/>
                <a:ea typeface="Yu Mincho" pitchFamily="34" charset="-122"/>
                <a:cs typeface="Yu Mincho" pitchFamily="34" charset="-120"/>
              </a:rPr>
              <a:t>高い有効性及び安全性が見込まれる</a:t>
            </a:r>
            <a:pPr indent="0" marL="0">
              <a:lnSpc>
                <a:spcPct val="125000"/>
              </a:lnSpc>
              <a:buNone/>
            </a:pPr>
            <a:r>
              <a:rPr lang="en-US" sz="1150" dirty="0">
                <a:solidFill>
                  <a:srgbClr val="22252B"/>
                </a:solidFill>
                <a:latin typeface="Yu Mincho" pitchFamily="34" charset="0"/>
                <a:ea typeface="Yu Mincho" pitchFamily="34" charset="-122"/>
                <a:cs typeface="Yu Mincho" pitchFamily="34" charset="-120"/>
              </a:rPr>
              <a:t>こと。</a:t>
            </a:r>
            <a:endParaRPr lang="en-US" sz="1150" dirty="0"/>
          </a:p>
          <a:p>
            <a:pPr indent="0" marL="0">
              <a:lnSpc>
                <a:spcPct val="125000"/>
              </a:lnSpc>
              <a:buNone/>
            </a:pPr>
            <a:r>
              <a:rPr lang="en-US" sz="1150" dirty="0">
                <a:solidFill>
                  <a:srgbClr val="22252B"/>
                </a:solidFill>
                <a:latin typeface="Yu Mincho" pitchFamily="34" charset="0"/>
                <a:ea typeface="Yu Mincho" pitchFamily="34" charset="-122"/>
                <a:cs typeface="Yu Mincho" pitchFamily="34" charset="-120"/>
              </a:rPr>
              <a:t>ウ　（中略）同等以上の有効性及び安全性が見込まれていることに加え、</a:t>
            </a:r>
            <a:pPr indent="0" marL="0">
              <a:lnSpc>
                <a:spcPct val="125000"/>
              </a:lnSpc>
              <a:buNone/>
            </a:pPr>
            <a:r>
              <a:rPr lang="en-US" sz="1150" b="1" dirty="0">
                <a:solidFill>
                  <a:srgbClr val="B3383E"/>
                </a:solidFill>
                <a:latin typeface="Yu Mincho" pitchFamily="34" charset="0"/>
                <a:ea typeface="Yu Mincho" pitchFamily="34" charset="-122"/>
                <a:cs typeface="Yu Mincho" pitchFamily="34" charset="-120"/>
              </a:rPr>
              <a:t>患者の肉体的・精神的な負担等の観点から（中略）医療上特に有用</a:t>
            </a:r>
            <a:pPr indent="0" marL="0">
              <a:lnSpc>
                <a:spcPct val="125000"/>
              </a:lnSpc>
              <a:buNone/>
            </a:pPr>
            <a:r>
              <a:rPr lang="en-US" sz="1150" dirty="0">
                <a:solidFill>
                  <a:srgbClr val="22252B"/>
                </a:solidFill>
                <a:latin typeface="Yu Mincho" pitchFamily="34" charset="0"/>
                <a:ea typeface="Yu Mincho" pitchFamily="34" charset="-122"/>
                <a:cs typeface="Yu Mincho" pitchFamily="34" charset="-120"/>
              </a:rPr>
              <a:t>であると見込まれること。</a:t>
            </a:r>
            <a:endParaRPr lang="en-US" sz="1150" dirty="0"/>
          </a:p>
        </p:txBody>
      </p:sp>
      <p:sp>
        <p:nvSpPr>
          <p:cNvPr id="10" name="Text 8"/>
          <p:cNvSpPr txBox="1"/>
          <p:nvPr/>
        </p:nvSpPr>
        <p:spPr>
          <a:xfrm>
            <a:off x="777240" y="3749040"/>
            <a:ext cx="10607040" cy="274320"/>
          </a:xfrm>
          <a:prstGeom prst="rect">
            <a:avLst/>
          </a:prstGeom>
          <a:noFill/>
          <a:ln/>
        </p:spPr>
        <p:txBody>
          <a:bodyPr wrap="square" lIns="0" tIns="0" rIns="0" bIns="0" rtlCol="0" anchor="ctr"/>
          <a:lstStyle/>
          <a:p>
            <a:pPr algn="r" indent="0" marL="0">
              <a:buNone/>
            </a:pPr>
            <a:r>
              <a:rPr lang="en-US" sz="950" dirty="0">
                <a:solidFill>
                  <a:srgbClr val="5A5F6A"/>
                </a:solidFill>
                <a:latin typeface="Yu Gothic" pitchFamily="34" charset="0"/>
                <a:ea typeface="Yu Gothic" pitchFamily="34" charset="-122"/>
                <a:cs typeface="Yu Gothic" pitchFamily="34" charset="-120"/>
              </a:rPr>
              <a:t>— 通知 2.（2）指定要件2（ア〜ウのいずれかに該当）</a:t>
            </a:r>
            <a:endParaRPr lang="en-US" sz="950" dirty="0"/>
          </a:p>
        </p:txBody>
      </p:sp>
      <p:sp>
        <p:nvSpPr>
          <p:cNvPr id="11" name="Shape 9"/>
          <p:cNvSpPr/>
          <p:nvPr/>
        </p:nvSpPr>
        <p:spPr>
          <a:xfrm>
            <a:off x="548640" y="4251960"/>
            <a:ext cx="11064240" cy="2148840"/>
          </a:xfrm>
          <a:prstGeom prst="roundRect">
            <a:avLst>
              <a:gd name="adj" fmla="val 2553"/>
            </a:avLst>
          </a:prstGeom>
          <a:solidFill>
            <a:srgbClr val="EAF0F7"/>
          </a:solidFill>
          <a:ln w="12700">
            <a:solidFill>
              <a:srgbClr val="B9C9DE"/>
            </a:solidFill>
            <a:prstDash val="solid"/>
          </a:ln>
        </p:spPr>
      </p:sp>
      <p:sp>
        <p:nvSpPr>
          <p:cNvPr id="12" name="Text 10"/>
          <p:cNvSpPr txBox="1"/>
          <p:nvPr/>
        </p:nvSpPr>
        <p:spPr>
          <a:xfrm>
            <a:off x="822960" y="4416552"/>
            <a:ext cx="10515600" cy="320040"/>
          </a:xfrm>
          <a:prstGeom prst="rect">
            <a:avLst/>
          </a:prstGeom>
          <a:noFill/>
          <a:ln/>
        </p:spPr>
        <p:txBody>
          <a:bodyPr wrap="square" lIns="0" tIns="0" rIns="0" bIns="0" rtlCol="0" anchor="ctr"/>
          <a:lstStyle/>
          <a:p>
            <a:pPr indent="0" marL="0">
              <a:buNone/>
            </a:pPr>
            <a:r>
              <a:rPr lang="en-US" sz="1250" b="1" dirty="0">
                <a:solidFill>
                  <a:srgbClr val="22456E"/>
                </a:solidFill>
                <a:latin typeface="Yu Gothic" pitchFamily="34" charset="0"/>
                <a:ea typeface="Yu Gothic" pitchFamily="34" charset="-122"/>
                <a:cs typeface="Yu Gothic" pitchFamily="34" charset="-120"/>
              </a:rPr>
              <a:t>PaTaKaRUSH への当てはめ</a:t>
            </a:r>
            <a:endParaRPr lang="en-US" sz="1250" dirty="0"/>
          </a:p>
        </p:txBody>
      </p:sp>
      <p:sp>
        <p:nvSpPr>
          <p:cNvPr id="13" name="Text 11"/>
          <p:cNvSpPr txBox="1"/>
          <p:nvPr/>
        </p:nvSpPr>
        <p:spPr>
          <a:xfrm>
            <a:off x="822960" y="4782312"/>
            <a:ext cx="10515600" cy="1463040"/>
          </a:xfrm>
          <a:prstGeom prst="rect">
            <a:avLst/>
          </a:prstGeom>
          <a:noFill/>
          <a:ln/>
        </p:spPr>
        <p:txBody>
          <a:bodyPr wrap="square" lIns="0" tIns="0" rIns="0" bIns="0" rtlCol="0" anchor="t"/>
          <a:lstStyle/>
          <a:p>
            <a:pPr indent="0" marL="0">
              <a:lnSpc>
                <a:spcPct val="130000"/>
              </a:lnSpc>
              <a:buNone/>
            </a:pPr>
            <a:r>
              <a:rPr lang="en-US" sz="1250" dirty="0">
                <a:solidFill>
                  <a:srgbClr val="22252B"/>
                </a:solidFill>
                <a:latin typeface="Yu Gothic" pitchFamily="34" charset="0"/>
                <a:ea typeface="Yu Gothic" pitchFamily="34" charset="-122"/>
                <a:cs typeface="Yu Gothic" pitchFamily="34" charset="-120"/>
              </a:rPr>
              <a:t>いずれの類型も「臨床試験等において見込まれる」ことが前提のため、</a:t>
            </a:r>
            <a:pPr indent="0" marL="0">
              <a:lnSpc>
                <a:spcPct val="130000"/>
              </a:lnSpc>
              <a:buNone/>
            </a:pPr>
            <a:r>
              <a:rPr lang="en-US" sz="1250" b="1" dirty="0">
                <a:solidFill>
                  <a:srgbClr val="B3383E"/>
                </a:solidFill>
                <a:latin typeface="Yu Gothic" pitchFamily="34" charset="0"/>
                <a:ea typeface="Yu Gothic" pitchFamily="34" charset="-122"/>
                <a:cs typeface="Yu Gothic" pitchFamily="34" charset="-120"/>
              </a:rPr>
              <a:t>データゼロでの指定申請は困難</a:t>
            </a:r>
            <a:pPr indent="0" marL="0">
              <a:lnSpc>
                <a:spcPct val="130000"/>
              </a:lnSpc>
              <a:buNone/>
            </a:pPr>
            <a:r>
              <a:rPr lang="en-US" sz="1250" dirty="0">
                <a:solidFill>
                  <a:srgbClr val="22252B"/>
                </a:solidFill>
                <a:latin typeface="Yu Gothic" pitchFamily="34" charset="0"/>
                <a:ea typeface="Yu Gothic" pitchFamily="34" charset="-122"/>
                <a:cs typeface="Yu Gothic" pitchFamily="34" charset="-120"/>
              </a:rPr>
              <a:t>。口腔機能低下症／発達不全症には既存の訓練指導があるため、主張はイ（高い有効性）またはウ（同等以上＋継続率・アドヒアランス向上等の負担軽減）。探索的臨床研究（AMED等の公的競争的資金の活用も通知が明示）を先行させ、その結果を根拠資料とする順序が現実的。</a:t>
            </a:r>
            <a:endParaRPr lang="en-US" sz="1250" dirty="0"/>
          </a:p>
        </p:txBody>
      </p:sp>
      <p:sp>
        <p:nvSpPr>
          <p:cNvPr id="14" name="Text 12"/>
          <p:cNvSpPr txBox="1"/>
          <p:nvPr/>
        </p:nvSpPr>
        <p:spPr>
          <a:xfrm>
            <a:off x="11430000" y="6473952"/>
            <a:ext cx="457200" cy="274320"/>
          </a:xfrm>
          <a:prstGeom prst="rect">
            <a:avLst/>
          </a:prstGeom>
          <a:noFill/>
          <a:ln/>
        </p:spPr>
        <p:txBody>
          <a:bodyPr wrap="square" lIns="0" tIns="0" rIns="0" bIns="0" rtlCol="0" anchor="ctr"/>
          <a:lstStyle/>
          <a:p>
            <a:pPr algn="r" indent="0" marL="0">
              <a:buNone/>
            </a:pPr>
            <a:r>
              <a:rPr lang="en-US" sz="1000" dirty="0">
                <a:solidFill>
                  <a:srgbClr val="5A5F6A"/>
                </a:solidFill>
                <a:latin typeface="Yu Gothic" pitchFamily="34" charset="0"/>
                <a:ea typeface="Yu Gothic" pitchFamily="34" charset="-122"/>
                <a:cs typeface="Yu Gothic"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88720" cy="365760"/>
          </a:xfrm>
          <a:prstGeom prst="rect">
            <a:avLst/>
          </a:prstGeom>
          <a:noFill/>
          <a:ln/>
        </p:spPr>
        <p:txBody>
          <a:bodyPr wrap="square" lIns="0" tIns="0" rIns="0" bIns="0" rtlCol="0" anchor="ctr"/>
          <a:lstStyle/>
          <a:p>
            <a:pPr indent="0" marL="0">
              <a:buNone/>
            </a:pPr>
            <a:r>
              <a:rPr lang="en-US" sz="1300" b="1" spc="300" kern="0" dirty="0">
                <a:solidFill>
                  <a:srgbClr val="22456E"/>
                </a:solidFill>
                <a:latin typeface="Yu Gothic" pitchFamily="34" charset="0"/>
                <a:ea typeface="Yu Gothic" pitchFamily="34" charset="-122"/>
                <a:cs typeface="Yu Gothic" pitchFamily="34" charset="-120"/>
              </a:rPr>
              <a:t>第 3 部</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22252B"/>
                </a:solidFill>
                <a:latin typeface="Yu Mincho" pitchFamily="34" charset="0"/>
                <a:ea typeface="Yu Mincho" pitchFamily="34" charset="-122"/>
                <a:cs typeface="Yu Mincho" pitchFamily="34" charset="-120"/>
              </a:rPr>
              <a:t>要件3　世界に先駆けた日本での開発・申請</a:t>
            </a:r>
            <a:endParaRPr lang="en-US" sz="3000" dirty="0"/>
          </a:p>
        </p:txBody>
      </p:sp>
      <p:sp>
        <p:nvSpPr>
          <p:cNvPr id="4" name="Text 2"/>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5A5F6A"/>
                </a:solidFill>
                <a:latin typeface="Yu Gothic" pitchFamily="34" charset="0"/>
                <a:ea typeface="Yu Gothic" pitchFamily="34" charset="-122"/>
                <a:cs typeface="Yu Gothic" pitchFamily="34" charset="-120"/>
              </a:rPr>
              <a:t>PaTaKaRUSH 薬事戦略プロジェクト｜優先審査指定制度 キックオフ</a:t>
            </a:r>
            <a:endParaRPr lang="en-US" sz="900" dirty="0"/>
          </a:p>
        </p:txBody>
      </p:sp>
      <p:sp>
        <p:nvSpPr>
          <p:cNvPr id="5" name="Shape 3"/>
          <p:cNvSpPr/>
          <p:nvPr/>
        </p:nvSpPr>
        <p:spPr>
          <a:xfrm>
            <a:off x="9966960" y="786384"/>
            <a:ext cx="1645920" cy="310896"/>
          </a:xfrm>
          <a:prstGeom prst="roundRect">
            <a:avLst>
              <a:gd name="adj" fmla="val 50000"/>
            </a:avLst>
          </a:prstGeom>
          <a:solidFill>
            <a:srgbClr val="E7F1EA"/>
          </a:solidFill>
          <a:ln w="12700">
            <a:solidFill>
              <a:srgbClr val="2E6E4E"/>
            </a:solidFill>
            <a:prstDash val="solid"/>
          </a:ln>
        </p:spPr>
      </p:sp>
      <p:sp>
        <p:nvSpPr>
          <p:cNvPr id="6" name="Text 4"/>
          <p:cNvSpPr txBox="1"/>
          <p:nvPr/>
        </p:nvSpPr>
        <p:spPr>
          <a:xfrm>
            <a:off x="9966960" y="779069"/>
            <a:ext cx="1645920" cy="329184"/>
          </a:xfrm>
          <a:prstGeom prst="rect">
            <a:avLst/>
          </a:prstGeom>
          <a:noFill/>
          <a:ln/>
        </p:spPr>
        <p:txBody>
          <a:bodyPr wrap="square" lIns="0" tIns="0" rIns="0" bIns="0" rtlCol="0" anchor="ctr"/>
          <a:lstStyle/>
          <a:p>
            <a:pPr algn="ctr" indent="0" marL="0">
              <a:buNone/>
            </a:pPr>
            <a:r>
              <a:rPr lang="en-US" sz="1100" b="1" dirty="0">
                <a:solidFill>
                  <a:srgbClr val="2E6E4E"/>
                </a:solidFill>
                <a:latin typeface="Yu Gothic" pitchFamily="34" charset="0"/>
                <a:ea typeface="Yu Gothic" pitchFamily="34" charset="-122"/>
                <a:cs typeface="Yu Gothic" pitchFamily="34" charset="-120"/>
              </a:rPr>
              <a:t>主張しやすい</a:t>
            </a:r>
            <a:endParaRPr lang="en-US" sz="1100" dirty="0"/>
          </a:p>
        </p:txBody>
      </p:sp>
      <p:sp>
        <p:nvSpPr>
          <p:cNvPr id="7" name="Shape 5"/>
          <p:cNvSpPr/>
          <p:nvPr/>
        </p:nvSpPr>
        <p:spPr>
          <a:xfrm>
            <a:off x="548640" y="1600200"/>
            <a:ext cx="11064240" cy="2331720"/>
          </a:xfrm>
          <a:prstGeom prst="roundRect">
            <a:avLst>
              <a:gd name="adj" fmla="val 2353"/>
            </a:avLst>
          </a:prstGeom>
          <a:solidFill>
            <a:srgbClr val="F5F3EA"/>
          </a:solidFill>
          <a:ln w="9525">
            <a:solidFill>
              <a:srgbClr val="E0DBC8"/>
            </a:solidFill>
            <a:prstDash val="solid"/>
          </a:ln>
        </p:spPr>
      </p:sp>
      <p:sp>
        <p:nvSpPr>
          <p:cNvPr id="8" name="Text 6"/>
          <p:cNvSpPr txBox="1"/>
          <p:nvPr/>
        </p:nvSpPr>
        <p:spPr>
          <a:xfrm>
            <a:off x="777240" y="1728216"/>
            <a:ext cx="2011680" cy="256032"/>
          </a:xfrm>
          <a:prstGeom prst="rect">
            <a:avLst/>
          </a:prstGeom>
          <a:noFill/>
          <a:ln/>
        </p:spPr>
        <p:txBody>
          <a:bodyPr wrap="square" lIns="0" tIns="0" rIns="0" bIns="0" rtlCol="0" anchor="ctr"/>
          <a:lstStyle/>
          <a:p>
            <a:pPr indent="0" marL="0">
              <a:buNone/>
            </a:pPr>
            <a:r>
              <a:rPr lang="en-US" sz="1000" b="1" spc="200" kern="0" dirty="0">
                <a:solidFill>
                  <a:srgbClr val="8A7B4E"/>
                </a:solidFill>
                <a:latin typeface="Yu Gothic" pitchFamily="34" charset="0"/>
                <a:ea typeface="Yu Gothic" pitchFamily="34" charset="-122"/>
                <a:cs typeface="Yu Gothic" pitchFamily="34" charset="-120"/>
              </a:rPr>
              <a:t>原 文 抜 粋</a:t>
            </a:r>
            <a:endParaRPr lang="en-US" sz="1000" dirty="0"/>
          </a:p>
        </p:txBody>
      </p:sp>
      <p:sp>
        <p:nvSpPr>
          <p:cNvPr id="9" name="Text 7"/>
          <p:cNvSpPr txBox="1"/>
          <p:nvPr/>
        </p:nvSpPr>
        <p:spPr>
          <a:xfrm>
            <a:off x="777240" y="2002536"/>
            <a:ext cx="10607040" cy="1554480"/>
          </a:xfrm>
          <a:prstGeom prst="rect">
            <a:avLst/>
          </a:prstGeom>
          <a:noFill/>
          <a:ln/>
        </p:spPr>
        <p:txBody>
          <a:bodyPr wrap="square" lIns="0" tIns="0" rIns="0" bIns="0" rtlCol="0" anchor="t"/>
          <a:lstStyle/>
          <a:p>
            <a:pPr indent="0" marL="0">
              <a:lnSpc>
                <a:spcPct val="125000"/>
              </a:lnSpc>
              <a:buNone/>
            </a:pPr>
            <a:r>
              <a:rPr lang="en-US" sz="1200" dirty="0">
                <a:solidFill>
                  <a:srgbClr val="22252B"/>
                </a:solidFill>
                <a:latin typeface="Yu Mincho" pitchFamily="34" charset="0"/>
                <a:ea typeface="Yu Mincho" pitchFamily="34" charset="-122"/>
                <a:cs typeface="Yu Mincho" pitchFamily="34" charset="-120"/>
              </a:rPr>
              <a:t>日本における早期開発を重視し、</a:t>
            </a:r>
            <a:pPr indent="0" marL="0">
              <a:lnSpc>
                <a:spcPct val="125000"/>
              </a:lnSpc>
              <a:buNone/>
            </a:pPr>
            <a:r>
              <a:rPr lang="en-US" sz="1200" b="1" dirty="0">
                <a:solidFill>
                  <a:srgbClr val="B3383E"/>
                </a:solidFill>
                <a:latin typeface="Yu Mincho" pitchFamily="34" charset="0"/>
                <a:ea typeface="Yu Mincho" pitchFamily="34" charset="-122"/>
                <a:cs typeface="Yu Mincho" pitchFamily="34" charset="-120"/>
              </a:rPr>
              <a:t>世界に先駆けて又は同時に日本で承認申請される</a:t>
            </a:r>
            <a:pPr indent="0" marL="0">
              <a:lnSpc>
                <a:spcPct val="125000"/>
              </a:lnSpc>
              <a:buNone/>
            </a:pPr>
            <a:r>
              <a:rPr lang="en-US" sz="1200" dirty="0">
                <a:solidFill>
                  <a:srgbClr val="22252B"/>
                </a:solidFill>
                <a:latin typeface="Yu Mincho" pitchFamily="34" charset="0"/>
                <a:ea typeface="Yu Mincho" pitchFamily="34" charset="-122"/>
                <a:cs typeface="Yu Mincho" pitchFamily="34" charset="-120"/>
              </a:rPr>
              <a:t>（中略）予定のものであること。それに加え、（中略）</a:t>
            </a:r>
            <a:pPr indent="0" marL="0">
              <a:lnSpc>
                <a:spcPct val="125000"/>
              </a:lnSpc>
              <a:buNone/>
            </a:pPr>
            <a:r>
              <a:rPr lang="en-US" sz="1200" b="1" dirty="0">
                <a:solidFill>
                  <a:srgbClr val="B3383E"/>
                </a:solidFill>
                <a:latin typeface="Yu Mincho" pitchFamily="34" charset="0"/>
                <a:ea typeface="Yu Mincho" pitchFamily="34" charset="-122"/>
                <a:cs typeface="Yu Mincho" pitchFamily="34" charset="-120"/>
              </a:rPr>
              <a:t>先駆け総合評価相談を活用し承認申請できる体制及び迅速な承認審査に対応できる体制</a:t>
            </a:r>
            <a:pPr indent="0" marL="0">
              <a:lnSpc>
                <a:spcPct val="125000"/>
              </a:lnSpc>
              <a:buNone/>
            </a:pPr>
            <a:r>
              <a:rPr lang="en-US" sz="1200" dirty="0">
                <a:solidFill>
                  <a:srgbClr val="22252B"/>
                </a:solidFill>
                <a:latin typeface="Yu Mincho" pitchFamily="34" charset="0"/>
                <a:ea typeface="Yu Mincho" pitchFamily="34" charset="-122"/>
                <a:cs typeface="Yu Mincho" pitchFamily="34" charset="-120"/>
              </a:rPr>
              <a:t>を有していること。なお、指定を希望する品目と同様の原理による</a:t>
            </a:r>
            <a:pPr indent="0" marL="0">
              <a:lnSpc>
                <a:spcPct val="125000"/>
              </a:lnSpc>
              <a:buNone/>
            </a:pPr>
            <a:r>
              <a:rPr lang="en-US" sz="1200" b="1" dirty="0">
                <a:solidFill>
                  <a:srgbClr val="B3383E"/>
                </a:solidFill>
                <a:latin typeface="Yu Mincho" pitchFamily="34" charset="0"/>
                <a:ea typeface="Yu Mincho" pitchFamily="34" charset="-122"/>
                <a:cs typeface="Yu Mincho" pitchFamily="34" charset="-120"/>
              </a:rPr>
              <a:t>類似製品が世界において既に流通している場合は、指定の対象とならない</a:t>
            </a:r>
            <a:pPr indent="0" marL="0">
              <a:lnSpc>
                <a:spcPct val="125000"/>
              </a:lnSpc>
              <a:buNone/>
            </a:pPr>
            <a:r>
              <a:rPr lang="en-US" sz="1200" dirty="0">
                <a:solidFill>
                  <a:srgbClr val="22252B"/>
                </a:solidFill>
                <a:latin typeface="Yu Mincho" pitchFamily="34" charset="0"/>
                <a:ea typeface="Yu Mincho" pitchFamily="34" charset="-122"/>
                <a:cs typeface="Yu Mincho" pitchFamily="34" charset="-120"/>
              </a:rPr>
              <a:t>。</a:t>
            </a:r>
            <a:endParaRPr lang="en-US" sz="1200" dirty="0"/>
          </a:p>
        </p:txBody>
      </p:sp>
      <p:sp>
        <p:nvSpPr>
          <p:cNvPr id="10" name="Text 8"/>
          <p:cNvSpPr txBox="1"/>
          <p:nvPr/>
        </p:nvSpPr>
        <p:spPr>
          <a:xfrm>
            <a:off x="777240" y="3566160"/>
            <a:ext cx="10607040" cy="274320"/>
          </a:xfrm>
          <a:prstGeom prst="rect">
            <a:avLst/>
          </a:prstGeom>
          <a:noFill/>
          <a:ln/>
        </p:spPr>
        <p:txBody>
          <a:bodyPr wrap="square" lIns="0" tIns="0" rIns="0" bIns="0" rtlCol="0" anchor="ctr"/>
          <a:lstStyle/>
          <a:p>
            <a:pPr algn="r" indent="0" marL="0">
              <a:buNone/>
            </a:pPr>
            <a:r>
              <a:rPr lang="en-US" sz="950" dirty="0">
                <a:solidFill>
                  <a:srgbClr val="5A5F6A"/>
                </a:solidFill>
                <a:latin typeface="Yu Gothic" pitchFamily="34" charset="0"/>
                <a:ea typeface="Yu Gothic" pitchFamily="34" charset="-122"/>
                <a:cs typeface="Yu Gothic" pitchFamily="34" charset="-120"/>
              </a:rPr>
              <a:t>— 通知 2.（3）指定要件3</a:t>
            </a:r>
            <a:endParaRPr lang="en-US" sz="950" dirty="0"/>
          </a:p>
        </p:txBody>
      </p:sp>
      <p:sp>
        <p:nvSpPr>
          <p:cNvPr id="11" name="Shape 9"/>
          <p:cNvSpPr/>
          <p:nvPr/>
        </p:nvSpPr>
        <p:spPr>
          <a:xfrm>
            <a:off x="548640" y="4069080"/>
            <a:ext cx="11064240" cy="2331720"/>
          </a:xfrm>
          <a:prstGeom prst="roundRect">
            <a:avLst>
              <a:gd name="adj" fmla="val 2353"/>
            </a:avLst>
          </a:prstGeom>
          <a:solidFill>
            <a:srgbClr val="EAF0F7"/>
          </a:solidFill>
          <a:ln w="12700">
            <a:solidFill>
              <a:srgbClr val="B9C9DE"/>
            </a:solidFill>
            <a:prstDash val="solid"/>
          </a:ln>
        </p:spPr>
      </p:sp>
      <p:sp>
        <p:nvSpPr>
          <p:cNvPr id="12" name="Text 10"/>
          <p:cNvSpPr txBox="1"/>
          <p:nvPr/>
        </p:nvSpPr>
        <p:spPr>
          <a:xfrm>
            <a:off x="822960" y="4233672"/>
            <a:ext cx="10515600" cy="320040"/>
          </a:xfrm>
          <a:prstGeom prst="rect">
            <a:avLst/>
          </a:prstGeom>
          <a:noFill/>
          <a:ln/>
        </p:spPr>
        <p:txBody>
          <a:bodyPr wrap="square" lIns="0" tIns="0" rIns="0" bIns="0" rtlCol="0" anchor="ctr"/>
          <a:lstStyle/>
          <a:p>
            <a:pPr indent="0" marL="0">
              <a:buNone/>
            </a:pPr>
            <a:r>
              <a:rPr lang="en-US" sz="1250" b="1" dirty="0">
                <a:solidFill>
                  <a:srgbClr val="22456E"/>
                </a:solidFill>
                <a:latin typeface="Yu Gothic" pitchFamily="34" charset="0"/>
                <a:ea typeface="Yu Gothic" pitchFamily="34" charset="-122"/>
                <a:cs typeface="Yu Gothic" pitchFamily="34" charset="-120"/>
              </a:rPr>
              <a:t>PaTaKaRUSH への当てはめ</a:t>
            </a:r>
            <a:endParaRPr lang="en-US" sz="1250" dirty="0"/>
          </a:p>
        </p:txBody>
      </p:sp>
      <p:sp>
        <p:nvSpPr>
          <p:cNvPr id="13" name="Text 11"/>
          <p:cNvSpPr txBox="1"/>
          <p:nvPr/>
        </p:nvSpPr>
        <p:spPr>
          <a:xfrm>
            <a:off x="822960" y="4599432"/>
            <a:ext cx="10515600" cy="1645920"/>
          </a:xfrm>
          <a:prstGeom prst="rect">
            <a:avLst/>
          </a:prstGeom>
          <a:noFill/>
          <a:ln/>
        </p:spPr>
        <p:txBody>
          <a:bodyPr wrap="square" lIns="0" tIns="0" rIns="0" bIns="0" rtlCol="0" anchor="t"/>
          <a:lstStyle/>
          <a:p>
            <a:pPr indent="0" marL="0">
              <a:lnSpc>
                <a:spcPct val="130000"/>
              </a:lnSpc>
              <a:buNone/>
            </a:pPr>
            <a:r>
              <a:rPr lang="en-US" sz="1250" dirty="0">
                <a:solidFill>
                  <a:srgbClr val="22252B"/>
                </a:solidFill>
                <a:latin typeface="Yu Gothic" pitchFamily="34" charset="0"/>
                <a:ea typeface="Yu Gothic" pitchFamily="34" charset="-122"/>
                <a:cs typeface="Yu Gothic" pitchFamily="34" charset="-120"/>
              </a:rPr>
              <a:t>国産・日本先行開発であり主張しやすい。ただし資料化が必要なものが2点。
</a:t>
            </a:r>
            <a:pPr indent="0" marL="0">
              <a:lnSpc>
                <a:spcPct val="130000"/>
              </a:lnSpc>
              <a:buNone/>
            </a:pPr>
            <a:r>
              <a:rPr lang="en-US" sz="1250" b="1" dirty="0">
                <a:solidFill>
                  <a:srgbClr val="22252B"/>
                </a:solidFill>
                <a:latin typeface="Yu Gothic" pitchFamily="34" charset="0"/>
                <a:ea typeface="Yu Gothic" pitchFamily="34" charset="-122"/>
                <a:cs typeface="Yu Gothic" pitchFamily="34" charset="-120"/>
              </a:rPr>
              <a:t>① 類似品調査：</a:t>
            </a:r>
            <a:pPr indent="0" marL="0">
              <a:lnSpc>
                <a:spcPct val="130000"/>
              </a:lnSpc>
              <a:buNone/>
            </a:pPr>
            <a:r>
              <a:rPr lang="en-US" sz="1250" dirty="0">
                <a:solidFill>
                  <a:srgbClr val="22252B"/>
                </a:solidFill>
                <a:latin typeface="Yu Gothic" pitchFamily="34" charset="0"/>
                <a:ea typeface="Yu Gothic" pitchFamily="34" charset="-122"/>
                <a:cs typeface="Yu Gothic" pitchFamily="34" charset="-120"/>
              </a:rPr>
              <a:t>世界で流通する類似SaMD（医療機器としての口腔機能訓練アプリ）がないことの調査報告　</a:t>
            </a:r>
            <a:pPr indent="0" marL="0">
              <a:lnSpc>
                <a:spcPct val="130000"/>
              </a:lnSpc>
              <a:buNone/>
            </a:pPr>
            <a:r>
              <a:rPr lang="en-US" sz="1250" b="1" dirty="0">
                <a:solidFill>
                  <a:srgbClr val="22252B"/>
                </a:solidFill>
                <a:latin typeface="Yu Gothic" pitchFamily="34" charset="0"/>
                <a:ea typeface="Yu Gothic" pitchFamily="34" charset="-122"/>
                <a:cs typeface="Yu Gothic" pitchFamily="34" charset="-120"/>
              </a:rPr>
              <a:t>② 体制説明：</a:t>
            </a:r>
            <a:pPr indent="0" marL="0">
              <a:lnSpc>
                <a:spcPct val="130000"/>
              </a:lnSpc>
              <a:buNone/>
            </a:pPr>
            <a:r>
              <a:rPr lang="en-US" sz="1250" dirty="0">
                <a:solidFill>
                  <a:srgbClr val="22252B"/>
                </a:solidFill>
                <a:latin typeface="Yu Gothic" pitchFamily="34" charset="0"/>
                <a:ea typeface="Yu Gothic" pitchFamily="34" charset="-122"/>
                <a:cs typeface="Yu Gothic" pitchFamily="34" charset="-120"/>
              </a:rPr>
              <a:t>先駆け総合評価相談・迅速審査に対応できる社内体制（薬事担当・QMS・開発計画）</a:t>
            </a:r>
            <a:endParaRPr lang="en-US" sz="1250" dirty="0"/>
          </a:p>
        </p:txBody>
      </p:sp>
      <p:sp>
        <p:nvSpPr>
          <p:cNvPr id="14" name="Text 12"/>
          <p:cNvSpPr txBox="1"/>
          <p:nvPr/>
        </p:nvSpPr>
        <p:spPr>
          <a:xfrm>
            <a:off x="11430000" y="6473952"/>
            <a:ext cx="457200" cy="274320"/>
          </a:xfrm>
          <a:prstGeom prst="rect">
            <a:avLst/>
          </a:prstGeom>
          <a:noFill/>
          <a:ln/>
        </p:spPr>
        <p:txBody>
          <a:bodyPr wrap="square" lIns="0" tIns="0" rIns="0" bIns="0" rtlCol="0" anchor="ctr"/>
          <a:lstStyle/>
          <a:p>
            <a:pPr algn="r" indent="0" marL="0">
              <a:buNone/>
            </a:pPr>
            <a:r>
              <a:rPr lang="en-US" sz="1000" dirty="0">
                <a:solidFill>
                  <a:srgbClr val="5A5F6A"/>
                </a:solidFill>
                <a:latin typeface="Yu Gothic" pitchFamily="34" charset="0"/>
                <a:ea typeface="Yu Gothic" pitchFamily="34" charset="-122"/>
                <a:cs typeface="Yu Gothic"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88720" cy="365760"/>
          </a:xfrm>
          <a:prstGeom prst="rect">
            <a:avLst/>
          </a:prstGeom>
          <a:noFill/>
          <a:ln/>
        </p:spPr>
        <p:txBody>
          <a:bodyPr wrap="square" lIns="0" tIns="0" rIns="0" bIns="0" rtlCol="0" anchor="ctr"/>
          <a:lstStyle/>
          <a:p>
            <a:pPr indent="0" marL="0">
              <a:buNone/>
            </a:pPr>
            <a:r>
              <a:rPr lang="en-US" sz="1300" b="1" spc="300" kern="0" dirty="0">
                <a:solidFill>
                  <a:srgbClr val="22456E"/>
                </a:solidFill>
                <a:latin typeface="Yu Gothic" pitchFamily="34" charset="0"/>
                <a:ea typeface="Yu Gothic" pitchFamily="34" charset="-122"/>
                <a:cs typeface="Yu Gothic" pitchFamily="34" charset="-120"/>
              </a:rPr>
              <a:t>第 4 部</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22252B"/>
                </a:solidFill>
                <a:latin typeface="Yu Mincho" pitchFamily="34" charset="0"/>
                <a:ea typeface="Yu Mincho" pitchFamily="34" charset="-122"/>
                <a:cs typeface="Yu Mincho" pitchFamily="34" charset="-120"/>
              </a:rPr>
              <a:t>指定までの手続きフロー</a:t>
            </a:r>
            <a:endParaRPr lang="en-US" sz="3000" dirty="0"/>
          </a:p>
        </p:txBody>
      </p:sp>
      <p:sp>
        <p:nvSpPr>
          <p:cNvPr id="4" name="Text 2"/>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5A5F6A"/>
                </a:solidFill>
                <a:latin typeface="Yu Gothic" pitchFamily="34" charset="0"/>
                <a:ea typeface="Yu Gothic" pitchFamily="34" charset="-122"/>
                <a:cs typeface="Yu Gothic" pitchFamily="34" charset="-120"/>
              </a:rPr>
              <a:t>PaTaKaRUSH 薬事戦略プロジェクト｜優先審査指定制度 キックオフ</a:t>
            </a:r>
            <a:endParaRPr lang="en-US" sz="900" dirty="0"/>
          </a:p>
        </p:txBody>
      </p:sp>
      <p:sp>
        <p:nvSpPr>
          <p:cNvPr id="5" name="Shape 3"/>
          <p:cNvSpPr/>
          <p:nvPr/>
        </p:nvSpPr>
        <p:spPr>
          <a:xfrm>
            <a:off x="1618488" y="1828800"/>
            <a:ext cx="502920" cy="502920"/>
          </a:xfrm>
          <a:prstGeom prst="ellipse">
            <a:avLst/>
          </a:prstGeom>
          <a:solidFill>
            <a:srgbClr val="22456E"/>
          </a:solidFill>
          <a:ln/>
        </p:spPr>
      </p:sp>
      <p:sp>
        <p:nvSpPr>
          <p:cNvPr id="6" name="Text 4"/>
          <p:cNvSpPr txBox="1"/>
          <p:nvPr/>
        </p:nvSpPr>
        <p:spPr>
          <a:xfrm>
            <a:off x="1618488" y="1819656"/>
            <a:ext cx="502920" cy="521208"/>
          </a:xfrm>
          <a:prstGeom prst="rect">
            <a:avLst/>
          </a:prstGeom>
          <a:noFill/>
          <a:ln/>
        </p:spPr>
        <p:txBody>
          <a:bodyPr wrap="square" lIns="0" tIns="0" rIns="0" bIns="0" rtlCol="0" anchor="ctr"/>
          <a:lstStyle/>
          <a:p>
            <a:pPr algn="ctr" indent="0" marL="0">
              <a:buNone/>
            </a:pPr>
            <a:r>
              <a:rPr lang="en-US" sz="1600" b="1" dirty="0">
                <a:solidFill>
                  <a:srgbClr val="FFFFFF"/>
                </a:solidFill>
                <a:latin typeface="Yu Mincho" pitchFamily="34" charset="0"/>
                <a:ea typeface="Yu Mincho" pitchFamily="34" charset="-122"/>
                <a:cs typeface="Yu Mincho" pitchFamily="34" charset="-120"/>
              </a:rPr>
              <a:t>1</a:t>
            </a:r>
            <a:endParaRPr lang="en-US" sz="1600" dirty="0"/>
          </a:p>
        </p:txBody>
      </p:sp>
      <p:sp>
        <p:nvSpPr>
          <p:cNvPr id="7" name="Shape 5"/>
          <p:cNvSpPr/>
          <p:nvPr/>
        </p:nvSpPr>
        <p:spPr>
          <a:xfrm>
            <a:off x="2423160" y="2075688"/>
            <a:ext cx="1920240" cy="0"/>
          </a:xfrm>
          <a:prstGeom prst="line">
            <a:avLst/>
          </a:prstGeom>
          <a:noFill/>
          <a:ln w="25400">
            <a:solidFill>
              <a:srgbClr val="B9C9DE"/>
            </a:solidFill>
            <a:prstDash val="solid"/>
            <a:tailEnd type="triangle"/>
          </a:ln>
        </p:spPr>
      </p:sp>
      <p:sp>
        <p:nvSpPr>
          <p:cNvPr id="8" name="Shape 6"/>
          <p:cNvSpPr/>
          <p:nvPr/>
        </p:nvSpPr>
        <p:spPr>
          <a:xfrm>
            <a:off x="548640" y="2606040"/>
            <a:ext cx="2651760" cy="2651760"/>
          </a:xfrm>
          <a:prstGeom prst="roundRect">
            <a:avLst>
              <a:gd name="adj" fmla="val 2414"/>
            </a:avLst>
          </a:prstGeom>
          <a:solidFill>
            <a:srgbClr val="FFFFFF"/>
          </a:solidFill>
          <a:ln w="12700">
            <a:solidFill>
              <a:srgbClr val="D9DCE3"/>
            </a:solidFill>
            <a:prstDash val="solid"/>
          </a:ln>
          <a:effectLst>
            <a:outerShdw sx="100000" sy="100000" kx="0" ky="0" algn="bl" rotWithShape="0" blurRad="76200" dist="25400" dir="5400000">
              <a:srgbClr val="9AA3B0">
                <a:alpha val="25000"/>
              </a:srgbClr>
            </a:outerShdw>
          </a:effectLst>
        </p:spPr>
      </p:sp>
      <p:sp>
        <p:nvSpPr>
          <p:cNvPr id="9" name="Text 7"/>
          <p:cNvSpPr txBox="1"/>
          <p:nvPr/>
        </p:nvSpPr>
        <p:spPr>
          <a:xfrm>
            <a:off x="749808" y="2788920"/>
            <a:ext cx="2249424" cy="685800"/>
          </a:xfrm>
          <a:prstGeom prst="rect">
            <a:avLst/>
          </a:prstGeom>
          <a:noFill/>
          <a:ln/>
        </p:spPr>
        <p:txBody>
          <a:bodyPr wrap="square" lIns="0" tIns="0" rIns="0" bIns="0" rtlCol="0" anchor="ctr"/>
          <a:lstStyle/>
          <a:p>
            <a:pPr indent="0" marL="0">
              <a:lnSpc>
                <a:spcPct val="115000"/>
              </a:lnSpc>
              <a:buNone/>
            </a:pPr>
            <a:r>
              <a:rPr lang="en-US" sz="1350" b="1" dirty="0">
                <a:solidFill>
                  <a:srgbClr val="22456E"/>
                </a:solidFill>
                <a:latin typeface="Yu Gothic" pitchFamily="34" charset="0"/>
                <a:ea typeface="Yu Gothic" pitchFamily="34" charset="-122"/>
                <a:cs typeface="Yu Gothic" pitchFamily="34" charset="-120"/>
              </a:rPr>
              <a:t>登録申込み（様式1）</a:t>
            </a:r>
            <a:endParaRPr lang="en-US" sz="1350" dirty="0"/>
          </a:p>
        </p:txBody>
      </p:sp>
      <p:sp>
        <p:nvSpPr>
          <p:cNvPr id="10" name="Text 8"/>
          <p:cNvSpPr txBox="1"/>
          <p:nvPr/>
        </p:nvSpPr>
        <p:spPr>
          <a:xfrm>
            <a:off x="749808" y="3520440"/>
            <a:ext cx="2249424" cy="1600200"/>
          </a:xfrm>
          <a:prstGeom prst="rect">
            <a:avLst/>
          </a:prstGeom>
          <a:noFill/>
          <a:ln/>
        </p:spPr>
        <p:txBody>
          <a:bodyPr wrap="square" lIns="0" tIns="0" rIns="0" bIns="0" rtlCol="0" anchor="t"/>
          <a:lstStyle/>
          <a:p>
            <a:pPr indent="0" marL="0">
              <a:lnSpc>
                <a:spcPct val="130000"/>
              </a:lnSpc>
              <a:buNone/>
            </a:pPr>
            <a:r>
              <a:rPr lang="en-US" sz="1050" dirty="0">
                <a:solidFill>
                  <a:srgbClr val="22252B"/>
                </a:solidFill>
                <a:latin typeface="Yu Gothic" pitchFamily="34" charset="0"/>
                <a:ea typeface="Yu Gothic" pitchFamily="34" charset="-122"/>
                <a:cs typeface="Yu Gothic" pitchFamily="34" charset="-120"/>
              </a:rPr>
              <a:t>指定希望品目登録申込書＋別紙を電子メールで随時提出</a:t>
            </a:r>
            <a:endParaRPr lang="en-US" sz="1050" dirty="0"/>
          </a:p>
          <a:p>
            <a:pPr indent="0" marL="0">
              <a:lnSpc>
                <a:spcPct val="130000"/>
              </a:lnSpc>
              <a:buNone/>
            </a:pPr>
            <a:r>
              <a:rPr lang="en-US" sz="1050" dirty="0">
                <a:solidFill>
                  <a:srgbClr val="22252B"/>
                </a:solidFill>
                <a:latin typeface="Yu Gothic" pitchFamily="34" charset="0"/>
                <a:ea typeface="Yu Gothic" pitchFamily="34" charset="-122"/>
                <a:cs typeface="Yu Gothic" pitchFamily="34" charset="-120"/>
              </a:rPr>
              <a:t>kikisaisei@mhlw.go.jp（厚労省 医療機器審査管理課）</a:t>
            </a:r>
            <a:endParaRPr lang="en-US" sz="1050" dirty="0"/>
          </a:p>
        </p:txBody>
      </p:sp>
      <p:sp>
        <p:nvSpPr>
          <p:cNvPr id="11" name="Shape 9"/>
          <p:cNvSpPr/>
          <p:nvPr/>
        </p:nvSpPr>
        <p:spPr>
          <a:xfrm>
            <a:off x="4562856" y="1828800"/>
            <a:ext cx="502920" cy="502920"/>
          </a:xfrm>
          <a:prstGeom prst="ellipse">
            <a:avLst/>
          </a:prstGeom>
          <a:solidFill>
            <a:srgbClr val="22456E"/>
          </a:solidFill>
          <a:ln/>
        </p:spPr>
      </p:sp>
      <p:sp>
        <p:nvSpPr>
          <p:cNvPr id="12" name="Text 10"/>
          <p:cNvSpPr txBox="1"/>
          <p:nvPr/>
        </p:nvSpPr>
        <p:spPr>
          <a:xfrm>
            <a:off x="4562856" y="1819656"/>
            <a:ext cx="502920" cy="521208"/>
          </a:xfrm>
          <a:prstGeom prst="rect">
            <a:avLst/>
          </a:prstGeom>
          <a:noFill/>
          <a:ln/>
        </p:spPr>
        <p:txBody>
          <a:bodyPr wrap="square" lIns="0" tIns="0" rIns="0" bIns="0" rtlCol="0" anchor="ctr"/>
          <a:lstStyle/>
          <a:p>
            <a:pPr algn="ctr" indent="0" marL="0">
              <a:buNone/>
            </a:pPr>
            <a:r>
              <a:rPr lang="en-US" sz="1600" b="1" dirty="0">
                <a:solidFill>
                  <a:srgbClr val="FFFFFF"/>
                </a:solidFill>
                <a:latin typeface="Yu Mincho" pitchFamily="34" charset="0"/>
                <a:ea typeface="Yu Mincho" pitchFamily="34" charset="-122"/>
                <a:cs typeface="Yu Mincho" pitchFamily="34" charset="-120"/>
              </a:rPr>
              <a:t>2</a:t>
            </a:r>
            <a:endParaRPr lang="en-US" sz="1600" dirty="0"/>
          </a:p>
        </p:txBody>
      </p:sp>
      <p:sp>
        <p:nvSpPr>
          <p:cNvPr id="13" name="Shape 11"/>
          <p:cNvSpPr/>
          <p:nvPr/>
        </p:nvSpPr>
        <p:spPr>
          <a:xfrm>
            <a:off x="5367528" y="2075688"/>
            <a:ext cx="1920240" cy="0"/>
          </a:xfrm>
          <a:prstGeom prst="line">
            <a:avLst/>
          </a:prstGeom>
          <a:noFill/>
          <a:ln w="25400">
            <a:solidFill>
              <a:srgbClr val="B9C9DE"/>
            </a:solidFill>
            <a:prstDash val="solid"/>
            <a:tailEnd type="triangle"/>
          </a:ln>
        </p:spPr>
      </p:sp>
      <p:sp>
        <p:nvSpPr>
          <p:cNvPr id="14" name="Shape 12"/>
          <p:cNvSpPr/>
          <p:nvPr/>
        </p:nvSpPr>
        <p:spPr>
          <a:xfrm>
            <a:off x="3493008" y="2606040"/>
            <a:ext cx="2651760" cy="2651760"/>
          </a:xfrm>
          <a:prstGeom prst="roundRect">
            <a:avLst>
              <a:gd name="adj" fmla="val 2414"/>
            </a:avLst>
          </a:prstGeom>
          <a:solidFill>
            <a:srgbClr val="FFFFFF"/>
          </a:solidFill>
          <a:ln w="12700">
            <a:solidFill>
              <a:srgbClr val="D9DCE3"/>
            </a:solidFill>
            <a:prstDash val="solid"/>
          </a:ln>
          <a:effectLst>
            <a:outerShdw sx="100000" sy="100000" kx="0" ky="0" algn="bl" rotWithShape="0" blurRad="76200" dist="25400" dir="5400000">
              <a:srgbClr val="9AA3B0">
                <a:alpha val="25000"/>
              </a:srgbClr>
            </a:outerShdw>
          </a:effectLst>
        </p:spPr>
      </p:sp>
      <p:sp>
        <p:nvSpPr>
          <p:cNvPr id="15" name="Text 13"/>
          <p:cNvSpPr txBox="1"/>
          <p:nvPr/>
        </p:nvSpPr>
        <p:spPr>
          <a:xfrm>
            <a:off x="3694176" y="2788920"/>
            <a:ext cx="2249424" cy="685800"/>
          </a:xfrm>
          <a:prstGeom prst="rect">
            <a:avLst/>
          </a:prstGeom>
          <a:noFill/>
          <a:ln/>
        </p:spPr>
        <p:txBody>
          <a:bodyPr wrap="square" lIns="0" tIns="0" rIns="0" bIns="0" rtlCol="0" anchor="ctr"/>
          <a:lstStyle/>
          <a:p>
            <a:pPr indent="0" marL="0">
              <a:lnSpc>
                <a:spcPct val="115000"/>
              </a:lnSpc>
              <a:buNone/>
            </a:pPr>
            <a:r>
              <a:rPr lang="en-US" sz="1350" b="1" dirty="0">
                <a:solidFill>
                  <a:srgbClr val="22456E"/>
                </a:solidFill>
                <a:latin typeface="Yu Gothic" pitchFamily="34" charset="0"/>
                <a:ea typeface="Yu Gothic" pitchFamily="34" charset="-122"/>
                <a:cs typeface="Yu Gothic" pitchFamily="34" charset="-120"/>
              </a:rPr>
              <a:t>ヒアリング</a:t>
            </a:r>
            <a:endParaRPr lang="en-US" sz="1350" dirty="0"/>
          </a:p>
        </p:txBody>
      </p:sp>
      <p:sp>
        <p:nvSpPr>
          <p:cNvPr id="16" name="Text 14"/>
          <p:cNvSpPr txBox="1"/>
          <p:nvPr/>
        </p:nvSpPr>
        <p:spPr>
          <a:xfrm>
            <a:off x="3694176" y="3520440"/>
            <a:ext cx="2249424" cy="1600200"/>
          </a:xfrm>
          <a:prstGeom prst="rect">
            <a:avLst/>
          </a:prstGeom>
          <a:noFill/>
          <a:ln/>
        </p:spPr>
        <p:txBody>
          <a:bodyPr wrap="square" lIns="0" tIns="0" rIns="0" bIns="0" rtlCol="0" anchor="t"/>
          <a:lstStyle/>
          <a:p>
            <a:pPr indent="0" marL="0">
              <a:lnSpc>
                <a:spcPct val="130000"/>
              </a:lnSpc>
              <a:buNone/>
            </a:pPr>
            <a:r>
              <a:rPr lang="en-US" sz="1050" dirty="0">
                <a:solidFill>
                  <a:srgbClr val="22252B"/>
                </a:solidFill>
                <a:latin typeface="Yu Gothic" pitchFamily="34" charset="0"/>
                <a:ea typeface="Yu Gothic" pitchFamily="34" charset="-122"/>
                <a:cs typeface="Yu Gothic" pitchFamily="34" charset="-120"/>
              </a:rPr>
              <a:t>医療機器審査管理課によるヒアリング。根拠資料は実施予定日の1週間前までにメール提出</a:t>
            </a:r>
            <a:endParaRPr lang="en-US" sz="1050" dirty="0"/>
          </a:p>
        </p:txBody>
      </p:sp>
      <p:sp>
        <p:nvSpPr>
          <p:cNvPr id="17" name="Shape 15"/>
          <p:cNvSpPr/>
          <p:nvPr/>
        </p:nvSpPr>
        <p:spPr>
          <a:xfrm>
            <a:off x="7507224" y="1828800"/>
            <a:ext cx="502920" cy="502920"/>
          </a:xfrm>
          <a:prstGeom prst="ellipse">
            <a:avLst/>
          </a:prstGeom>
          <a:solidFill>
            <a:srgbClr val="22456E"/>
          </a:solidFill>
          <a:ln/>
        </p:spPr>
      </p:sp>
      <p:sp>
        <p:nvSpPr>
          <p:cNvPr id="18" name="Text 16"/>
          <p:cNvSpPr txBox="1"/>
          <p:nvPr/>
        </p:nvSpPr>
        <p:spPr>
          <a:xfrm>
            <a:off x="7507224" y="1819656"/>
            <a:ext cx="502920" cy="521208"/>
          </a:xfrm>
          <a:prstGeom prst="rect">
            <a:avLst/>
          </a:prstGeom>
          <a:noFill/>
          <a:ln/>
        </p:spPr>
        <p:txBody>
          <a:bodyPr wrap="square" lIns="0" tIns="0" rIns="0" bIns="0" rtlCol="0" anchor="ctr"/>
          <a:lstStyle/>
          <a:p>
            <a:pPr algn="ctr" indent="0" marL="0">
              <a:buNone/>
            </a:pPr>
            <a:r>
              <a:rPr lang="en-US" sz="1600" b="1" dirty="0">
                <a:solidFill>
                  <a:srgbClr val="FFFFFF"/>
                </a:solidFill>
                <a:latin typeface="Yu Mincho" pitchFamily="34" charset="0"/>
                <a:ea typeface="Yu Mincho" pitchFamily="34" charset="-122"/>
                <a:cs typeface="Yu Mincho" pitchFamily="34" charset="-120"/>
              </a:rPr>
              <a:t>3</a:t>
            </a:r>
            <a:endParaRPr lang="en-US" sz="1600" dirty="0"/>
          </a:p>
        </p:txBody>
      </p:sp>
      <p:sp>
        <p:nvSpPr>
          <p:cNvPr id="19" name="Shape 17"/>
          <p:cNvSpPr/>
          <p:nvPr/>
        </p:nvSpPr>
        <p:spPr>
          <a:xfrm>
            <a:off x="8311896" y="2075688"/>
            <a:ext cx="1920240" cy="0"/>
          </a:xfrm>
          <a:prstGeom prst="line">
            <a:avLst/>
          </a:prstGeom>
          <a:noFill/>
          <a:ln w="25400">
            <a:solidFill>
              <a:srgbClr val="B9C9DE"/>
            </a:solidFill>
            <a:prstDash val="solid"/>
            <a:tailEnd type="triangle"/>
          </a:ln>
        </p:spPr>
      </p:sp>
      <p:sp>
        <p:nvSpPr>
          <p:cNvPr id="20" name="Shape 18"/>
          <p:cNvSpPr/>
          <p:nvPr/>
        </p:nvSpPr>
        <p:spPr>
          <a:xfrm>
            <a:off x="6437376" y="2606040"/>
            <a:ext cx="2651760" cy="2651760"/>
          </a:xfrm>
          <a:prstGeom prst="roundRect">
            <a:avLst>
              <a:gd name="adj" fmla="val 2414"/>
            </a:avLst>
          </a:prstGeom>
          <a:solidFill>
            <a:srgbClr val="FFFFFF"/>
          </a:solidFill>
          <a:ln w="12700">
            <a:solidFill>
              <a:srgbClr val="D9DCE3"/>
            </a:solidFill>
            <a:prstDash val="solid"/>
          </a:ln>
          <a:effectLst>
            <a:outerShdw sx="100000" sy="100000" kx="0" ky="0" algn="bl" rotWithShape="0" blurRad="76200" dist="25400" dir="5400000">
              <a:srgbClr val="9AA3B0">
                <a:alpha val="25000"/>
              </a:srgbClr>
            </a:outerShdw>
          </a:effectLst>
        </p:spPr>
      </p:sp>
      <p:sp>
        <p:nvSpPr>
          <p:cNvPr id="21" name="Text 19"/>
          <p:cNvSpPr txBox="1"/>
          <p:nvPr/>
        </p:nvSpPr>
        <p:spPr>
          <a:xfrm>
            <a:off x="6638544" y="2788920"/>
            <a:ext cx="2249424" cy="685800"/>
          </a:xfrm>
          <a:prstGeom prst="rect">
            <a:avLst/>
          </a:prstGeom>
          <a:noFill/>
          <a:ln/>
        </p:spPr>
        <p:txBody>
          <a:bodyPr wrap="square" lIns="0" tIns="0" rIns="0" bIns="0" rtlCol="0" anchor="ctr"/>
          <a:lstStyle/>
          <a:p>
            <a:pPr indent="0" marL="0">
              <a:lnSpc>
                <a:spcPct val="115000"/>
              </a:lnSpc>
              <a:buNone/>
            </a:pPr>
            <a:r>
              <a:rPr lang="en-US" sz="1350" b="1" dirty="0">
                <a:solidFill>
                  <a:srgbClr val="22456E"/>
                </a:solidFill>
                <a:latin typeface="Yu Gothic" pitchFamily="34" charset="0"/>
                <a:ea typeface="Yu Gothic" pitchFamily="34" charset="-122"/>
                <a:cs typeface="Yu Gothic" pitchFamily="34" charset="-120"/>
              </a:rPr>
              <a:t>予備的審査</a:t>
            </a:r>
            <a:endParaRPr lang="en-US" sz="1350" dirty="0"/>
          </a:p>
        </p:txBody>
      </p:sp>
      <p:sp>
        <p:nvSpPr>
          <p:cNvPr id="22" name="Text 20"/>
          <p:cNvSpPr txBox="1"/>
          <p:nvPr/>
        </p:nvSpPr>
        <p:spPr>
          <a:xfrm>
            <a:off x="6638544" y="3520440"/>
            <a:ext cx="2249424" cy="1600200"/>
          </a:xfrm>
          <a:prstGeom prst="rect">
            <a:avLst/>
          </a:prstGeom>
          <a:noFill/>
          <a:ln/>
        </p:spPr>
        <p:txBody>
          <a:bodyPr wrap="square" lIns="0" tIns="0" rIns="0" bIns="0" rtlCol="0" anchor="t"/>
          <a:lstStyle/>
          <a:p>
            <a:pPr indent="0" marL="0">
              <a:lnSpc>
                <a:spcPct val="130000"/>
              </a:lnSpc>
              <a:buNone/>
            </a:pPr>
            <a:r>
              <a:rPr lang="en-US" sz="1050" dirty="0">
                <a:solidFill>
                  <a:srgbClr val="22252B"/>
                </a:solidFill>
                <a:latin typeface="Yu Gothic" pitchFamily="34" charset="0"/>
                <a:ea typeface="Yu Gothic" pitchFamily="34" charset="-122"/>
                <a:cs typeface="Yu Gothic" pitchFamily="34" charset="-120"/>
              </a:rPr>
              <a:t>明らかに要件非該当の品目を除外（随時実施・結果は速やかに連絡）。ここが最初の関所</a:t>
            </a:r>
            <a:endParaRPr lang="en-US" sz="1050" dirty="0"/>
          </a:p>
        </p:txBody>
      </p:sp>
      <p:sp>
        <p:nvSpPr>
          <p:cNvPr id="23" name="Shape 21"/>
          <p:cNvSpPr/>
          <p:nvPr/>
        </p:nvSpPr>
        <p:spPr>
          <a:xfrm>
            <a:off x="10451592" y="1828800"/>
            <a:ext cx="502920" cy="502920"/>
          </a:xfrm>
          <a:prstGeom prst="ellipse">
            <a:avLst/>
          </a:prstGeom>
          <a:solidFill>
            <a:srgbClr val="22456E"/>
          </a:solidFill>
          <a:ln/>
        </p:spPr>
      </p:sp>
      <p:sp>
        <p:nvSpPr>
          <p:cNvPr id="24" name="Text 22"/>
          <p:cNvSpPr txBox="1"/>
          <p:nvPr/>
        </p:nvSpPr>
        <p:spPr>
          <a:xfrm>
            <a:off x="10451592" y="1819656"/>
            <a:ext cx="502920" cy="521208"/>
          </a:xfrm>
          <a:prstGeom prst="rect">
            <a:avLst/>
          </a:prstGeom>
          <a:noFill/>
          <a:ln/>
        </p:spPr>
        <p:txBody>
          <a:bodyPr wrap="square" lIns="0" tIns="0" rIns="0" bIns="0" rtlCol="0" anchor="ctr"/>
          <a:lstStyle/>
          <a:p>
            <a:pPr algn="ctr" indent="0" marL="0">
              <a:buNone/>
            </a:pPr>
            <a:r>
              <a:rPr lang="en-US" sz="1600" b="1" dirty="0">
                <a:solidFill>
                  <a:srgbClr val="FFFFFF"/>
                </a:solidFill>
                <a:latin typeface="Yu Mincho" pitchFamily="34" charset="0"/>
                <a:ea typeface="Yu Mincho" pitchFamily="34" charset="-122"/>
                <a:cs typeface="Yu Mincho" pitchFamily="34" charset="-120"/>
              </a:rPr>
              <a:t>4</a:t>
            </a:r>
            <a:endParaRPr lang="en-US" sz="1600" dirty="0"/>
          </a:p>
        </p:txBody>
      </p:sp>
      <p:sp>
        <p:nvSpPr>
          <p:cNvPr id="25" name="Shape 23"/>
          <p:cNvSpPr/>
          <p:nvPr/>
        </p:nvSpPr>
        <p:spPr>
          <a:xfrm>
            <a:off x="9381744" y="2606040"/>
            <a:ext cx="2651760" cy="2651760"/>
          </a:xfrm>
          <a:prstGeom prst="roundRect">
            <a:avLst>
              <a:gd name="adj" fmla="val 2414"/>
            </a:avLst>
          </a:prstGeom>
          <a:solidFill>
            <a:srgbClr val="FFFFFF"/>
          </a:solidFill>
          <a:ln w="12700">
            <a:solidFill>
              <a:srgbClr val="D9DCE3"/>
            </a:solidFill>
            <a:prstDash val="solid"/>
          </a:ln>
          <a:effectLst>
            <a:outerShdw sx="100000" sy="100000" kx="0" ky="0" algn="bl" rotWithShape="0" blurRad="76200" dist="25400" dir="5400000">
              <a:srgbClr val="9AA3B0">
                <a:alpha val="25000"/>
              </a:srgbClr>
            </a:outerShdw>
          </a:effectLst>
        </p:spPr>
      </p:sp>
      <p:sp>
        <p:nvSpPr>
          <p:cNvPr id="26" name="Text 24"/>
          <p:cNvSpPr txBox="1"/>
          <p:nvPr/>
        </p:nvSpPr>
        <p:spPr>
          <a:xfrm>
            <a:off x="9582912" y="2788920"/>
            <a:ext cx="2249424" cy="685800"/>
          </a:xfrm>
          <a:prstGeom prst="rect">
            <a:avLst/>
          </a:prstGeom>
          <a:noFill/>
          <a:ln/>
        </p:spPr>
        <p:txBody>
          <a:bodyPr wrap="square" lIns="0" tIns="0" rIns="0" bIns="0" rtlCol="0" anchor="ctr"/>
          <a:lstStyle/>
          <a:p>
            <a:pPr indent="0" marL="0">
              <a:lnSpc>
                <a:spcPct val="115000"/>
              </a:lnSpc>
              <a:buNone/>
            </a:pPr>
            <a:r>
              <a:rPr lang="en-US" sz="1350" b="1" dirty="0">
                <a:solidFill>
                  <a:srgbClr val="22456E"/>
                </a:solidFill>
                <a:latin typeface="Yu Gothic" pitchFamily="34" charset="0"/>
                <a:ea typeface="Yu Gothic" pitchFamily="34" charset="-122"/>
                <a:cs typeface="Yu Gothic" pitchFamily="34" charset="-120"/>
              </a:rPr>
              <a:t>指定申請（様式2）→ 指定</a:t>
            </a:r>
            <a:endParaRPr lang="en-US" sz="1350" dirty="0"/>
          </a:p>
        </p:txBody>
      </p:sp>
      <p:sp>
        <p:nvSpPr>
          <p:cNvPr id="27" name="Text 25"/>
          <p:cNvSpPr txBox="1"/>
          <p:nvPr/>
        </p:nvSpPr>
        <p:spPr>
          <a:xfrm>
            <a:off x="9582912" y="3520440"/>
            <a:ext cx="2249424" cy="1600200"/>
          </a:xfrm>
          <a:prstGeom prst="rect">
            <a:avLst/>
          </a:prstGeom>
          <a:noFill/>
          <a:ln/>
        </p:spPr>
        <p:txBody>
          <a:bodyPr wrap="square" lIns="0" tIns="0" rIns="0" bIns="0" rtlCol="0" anchor="t"/>
          <a:lstStyle/>
          <a:p>
            <a:pPr indent="0" marL="0">
              <a:lnSpc>
                <a:spcPct val="130000"/>
              </a:lnSpc>
              <a:buNone/>
            </a:pPr>
            <a:r>
              <a:rPr lang="en-US" sz="1050" dirty="0">
                <a:solidFill>
                  <a:srgbClr val="22252B"/>
                </a:solidFill>
                <a:latin typeface="Yu Gothic" pitchFamily="34" charset="0"/>
                <a:ea typeface="Yu Gothic" pitchFamily="34" charset="-122"/>
                <a:cs typeface="Yu Gothic" pitchFamily="34" charset="-120"/>
              </a:rPr>
              <a:t>様式2＋根拠資料を提出。PMDA評価を経て「特に優れている」品目を選定、薬事審議会報告のうえ公表</a:t>
            </a:r>
            <a:endParaRPr lang="en-US" sz="1050" dirty="0"/>
          </a:p>
        </p:txBody>
      </p:sp>
      <p:sp>
        <p:nvSpPr>
          <p:cNvPr id="28" name="Text 26"/>
          <p:cNvSpPr txBox="1"/>
          <p:nvPr/>
        </p:nvSpPr>
        <p:spPr>
          <a:xfrm>
            <a:off x="548640" y="5577840"/>
            <a:ext cx="11064240" cy="640080"/>
          </a:xfrm>
          <a:prstGeom prst="rect">
            <a:avLst/>
          </a:prstGeom>
          <a:noFill/>
          <a:ln/>
        </p:spPr>
        <p:txBody>
          <a:bodyPr wrap="square" lIns="0" tIns="0" rIns="0" bIns="0" rtlCol="0" anchor="ctr"/>
          <a:lstStyle/>
          <a:p>
            <a:pPr indent="0" marL="0">
              <a:lnSpc>
                <a:spcPct val="130000"/>
              </a:lnSpc>
              <a:buNone/>
            </a:pPr>
            <a:r>
              <a:rPr lang="en-US" sz="1300" dirty="0">
                <a:solidFill>
                  <a:srgbClr val="22252B"/>
                </a:solidFill>
                <a:latin typeface="Yu Gothic" pitchFamily="34" charset="0"/>
                <a:ea typeface="Yu Gothic" pitchFamily="34" charset="-122"/>
                <a:cs typeface="Yu Gothic" pitchFamily="34" charset="-120"/>
              </a:rPr>
              <a:t>落選しても薬事手続き上の不利益はなく、ヒアリングで行政の感触を得られる。ただし要件1・2が弱いまま出すと再挑戦の機会を1回費やすため、</a:t>
            </a:r>
            <a:pPr indent="0" marL="0">
              <a:lnSpc>
                <a:spcPct val="130000"/>
              </a:lnSpc>
              <a:buNone/>
            </a:pPr>
            <a:r>
              <a:rPr lang="en-US" sz="1300" b="1" dirty="0">
                <a:solidFill>
                  <a:srgbClr val="22456E"/>
                </a:solidFill>
                <a:latin typeface="Yu Gothic" pitchFamily="34" charset="0"/>
                <a:ea typeface="Yu Gothic" pitchFamily="34" charset="-122"/>
                <a:cs typeface="Yu Gothic" pitchFamily="34" charset="-120"/>
              </a:rPr>
              <a:t>出すタイミングの見極めが重要</a:t>
            </a:r>
            <a:pPr indent="0" marL="0">
              <a:lnSpc>
                <a:spcPct val="130000"/>
              </a:lnSpc>
              <a:buNone/>
            </a:pPr>
            <a:r>
              <a:rPr lang="en-US" sz="1300" dirty="0">
                <a:solidFill>
                  <a:srgbClr val="22252B"/>
                </a:solidFill>
                <a:latin typeface="Yu Gothic" pitchFamily="34" charset="0"/>
                <a:ea typeface="Yu Gothic" pitchFamily="34" charset="-122"/>
                <a:cs typeface="Yu Gothic" pitchFamily="34" charset="-120"/>
              </a:rPr>
              <a:t>。</a:t>
            </a:r>
            <a:endParaRPr lang="en-US" sz="1300" dirty="0"/>
          </a:p>
        </p:txBody>
      </p:sp>
      <p:sp>
        <p:nvSpPr>
          <p:cNvPr id="29" name="Text 27"/>
          <p:cNvSpPr txBox="1"/>
          <p:nvPr/>
        </p:nvSpPr>
        <p:spPr>
          <a:xfrm>
            <a:off x="11430000" y="6473952"/>
            <a:ext cx="457200" cy="274320"/>
          </a:xfrm>
          <a:prstGeom prst="rect">
            <a:avLst/>
          </a:prstGeom>
          <a:noFill/>
          <a:ln/>
        </p:spPr>
        <p:txBody>
          <a:bodyPr wrap="square" lIns="0" tIns="0" rIns="0" bIns="0" rtlCol="0" anchor="ctr"/>
          <a:lstStyle/>
          <a:p>
            <a:pPr algn="r" indent="0" marL="0">
              <a:buNone/>
            </a:pPr>
            <a:r>
              <a:rPr lang="en-US" sz="1000" dirty="0">
                <a:solidFill>
                  <a:srgbClr val="5A5F6A"/>
                </a:solidFill>
                <a:latin typeface="Yu Gothic" pitchFamily="34" charset="0"/>
                <a:ea typeface="Yu Gothic" pitchFamily="34" charset="-122"/>
                <a:cs typeface="Yu Gothic"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88720" cy="365760"/>
          </a:xfrm>
          <a:prstGeom prst="rect">
            <a:avLst/>
          </a:prstGeom>
          <a:noFill/>
          <a:ln/>
        </p:spPr>
        <p:txBody>
          <a:bodyPr wrap="square" lIns="0" tIns="0" rIns="0" bIns="0" rtlCol="0" anchor="ctr"/>
          <a:lstStyle/>
          <a:p>
            <a:pPr indent="0" marL="0">
              <a:buNone/>
            </a:pPr>
            <a:r>
              <a:rPr lang="en-US" sz="1300" b="1" spc="300" kern="0" dirty="0">
                <a:solidFill>
                  <a:srgbClr val="22456E"/>
                </a:solidFill>
                <a:latin typeface="Yu Gothic" pitchFamily="34" charset="0"/>
                <a:ea typeface="Yu Gothic" pitchFamily="34" charset="-122"/>
                <a:cs typeface="Yu Gothic" pitchFamily="34" charset="-120"/>
              </a:rPr>
              <a:t>第 5 部</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22252B"/>
                </a:solidFill>
                <a:latin typeface="Yu Mincho" pitchFamily="34" charset="0"/>
                <a:ea typeface="Yu Mincho" pitchFamily="34" charset="-122"/>
                <a:cs typeface="Yu Mincho" pitchFamily="34" charset="-120"/>
              </a:rPr>
              <a:t>予備知識 — 「二段階承認」とは</a:t>
            </a:r>
            <a:endParaRPr lang="en-US" sz="3000" dirty="0"/>
          </a:p>
        </p:txBody>
      </p:sp>
      <p:sp>
        <p:nvSpPr>
          <p:cNvPr id="4" name="Text 2"/>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5A5F6A"/>
                </a:solidFill>
                <a:latin typeface="Yu Gothic" pitchFamily="34" charset="0"/>
                <a:ea typeface="Yu Gothic" pitchFamily="34" charset="-122"/>
                <a:cs typeface="Yu Gothic" pitchFamily="34" charset="-120"/>
              </a:rPr>
              <a:t>PaTaKaRUSH 薬事戦略プロジェクト｜優先審査指定制度 キックオフ</a:t>
            </a:r>
            <a:endParaRPr lang="en-US" sz="900" dirty="0"/>
          </a:p>
        </p:txBody>
      </p:sp>
      <p:sp>
        <p:nvSpPr>
          <p:cNvPr id="5" name="Text 3"/>
          <p:cNvSpPr txBox="1"/>
          <p:nvPr/>
        </p:nvSpPr>
        <p:spPr>
          <a:xfrm>
            <a:off x="548640" y="1572768"/>
            <a:ext cx="11064240" cy="777240"/>
          </a:xfrm>
          <a:prstGeom prst="rect">
            <a:avLst/>
          </a:prstGeom>
          <a:noFill/>
          <a:ln/>
        </p:spPr>
        <p:txBody>
          <a:bodyPr wrap="square" lIns="0" tIns="0" rIns="0" bIns="0" rtlCol="0" anchor="ctr"/>
          <a:lstStyle/>
          <a:p>
            <a:pPr indent="0" marL="0">
              <a:lnSpc>
                <a:spcPct val="130000"/>
              </a:lnSpc>
              <a:buNone/>
            </a:pPr>
            <a:r>
              <a:rPr lang="en-US" sz="1400" dirty="0">
                <a:solidFill>
                  <a:srgbClr val="22252B"/>
                </a:solidFill>
                <a:latin typeface="Yu Gothic" pitchFamily="34" charset="0"/>
                <a:ea typeface="Yu Gothic" pitchFamily="34" charset="-122"/>
                <a:cs typeface="Yu Gothic" pitchFamily="34" charset="-120"/>
              </a:rPr>
              <a:t>一言でいうと、</a:t>
            </a:r>
            <a:pPr indent="0" marL="0">
              <a:lnSpc>
                <a:spcPct val="130000"/>
              </a:lnSpc>
              <a:buNone/>
            </a:pPr>
            <a:r>
              <a:rPr lang="en-US" sz="1400" b="1" dirty="0">
                <a:solidFill>
                  <a:srgbClr val="22456E"/>
                </a:solidFill>
                <a:latin typeface="Yu Gothic" pitchFamily="34" charset="0"/>
                <a:ea typeface="Yu Gothic" pitchFamily="34" charset="-122"/>
                <a:cs typeface="Yu Gothic" pitchFamily="34" charset="-120"/>
              </a:rPr>
              <a:t>「限定的な効能でまず早く承認を取り、売りながら実データを集めて、あとから本来の効能に広げる」</a:t>
            </a:r>
            <a:pPr indent="0" marL="0">
              <a:lnSpc>
                <a:spcPct val="130000"/>
              </a:lnSpc>
              <a:buNone/>
            </a:pPr>
            <a:r>
              <a:rPr lang="en-US" sz="1400" dirty="0">
                <a:solidFill>
                  <a:srgbClr val="22252B"/>
                </a:solidFill>
                <a:latin typeface="Yu Gothic" pitchFamily="34" charset="0"/>
                <a:ea typeface="Yu Gothic" pitchFamily="34" charset="-122"/>
                <a:cs typeface="Yu Gothic" pitchFamily="34" charset="-120"/>
              </a:rPr>
              <a:t>というSaMD専用の承認の取り方（令和5年11月16日 医薬機審発1116第2号）。使うかどうかは任意の選択肢。</a:t>
            </a:r>
            <a:endParaRPr lang="en-US" sz="1400" dirty="0"/>
          </a:p>
        </p:txBody>
      </p:sp>
      <p:sp>
        <p:nvSpPr>
          <p:cNvPr id="6" name="Shape 4"/>
          <p:cNvSpPr/>
          <p:nvPr/>
        </p:nvSpPr>
        <p:spPr>
          <a:xfrm>
            <a:off x="548640" y="2560320"/>
            <a:ext cx="3291840" cy="2286000"/>
          </a:xfrm>
          <a:prstGeom prst="roundRect">
            <a:avLst>
              <a:gd name="adj" fmla="val 3200"/>
            </a:avLst>
          </a:prstGeom>
          <a:solidFill>
            <a:srgbClr val="EAF0F7"/>
          </a:solidFill>
          <a:ln w="12700">
            <a:solidFill>
              <a:srgbClr val="B9C9DE"/>
            </a:solidFill>
            <a:prstDash val="solid"/>
          </a:ln>
        </p:spPr>
      </p:sp>
      <p:sp>
        <p:nvSpPr>
          <p:cNvPr id="7" name="Text 5"/>
          <p:cNvSpPr txBox="1"/>
          <p:nvPr/>
        </p:nvSpPr>
        <p:spPr>
          <a:xfrm>
            <a:off x="777240" y="2724912"/>
            <a:ext cx="2834640" cy="365760"/>
          </a:xfrm>
          <a:prstGeom prst="rect">
            <a:avLst/>
          </a:prstGeom>
          <a:noFill/>
          <a:ln/>
        </p:spPr>
        <p:txBody>
          <a:bodyPr wrap="square" lIns="0" tIns="0" rIns="0" bIns="0" rtlCol="0" anchor="ctr"/>
          <a:lstStyle/>
          <a:p>
            <a:pPr indent="0" marL="0">
              <a:buNone/>
            </a:pPr>
            <a:r>
              <a:rPr lang="en-US" sz="1600" b="1" dirty="0">
                <a:solidFill>
                  <a:srgbClr val="22456E"/>
                </a:solidFill>
                <a:latin typeface="Yu Mincho" pitchFamily="34" charset="0"/>
                <a:ea typeface="Yu Mincho" pitchFamily="34" charset="-122"/>
                <a:cs typeface="Yu Mincho" pitchFamily="34" charset="-120"/>
              </a:rPr>
              <a:t>第1段階承認</a:t>
            </a:r>
            <a:endParaRPr lang="en-US" sz="1600" dirty="0"/>
          </a:p>
        </p:txBody>
      </p:sp>
      <p:sp>
        <p:nvSpPr>
          <p:cNvPr id="8" name="Text 6"/>
          <p:cNvSpPr txBox="1"/>
          <p:nvPr/>
        </p:nvSpPr>
        <p:spPr>
          <a:xfrm>
            <a:off x="777240" y="3127248"/>
            <a:ext cx="2834640" cy="502920"/>
          </a:xfrm>
          <a:prstGeom prst="rect">
            <a:avLst/>
          </a:prstGeom>
          <a:noFill/>
          <a:ln/>
        </p:spPr>
        <p:txBody>
          <a:bodyPr wrap="square" lIns="0" tIns="0" rIns="0" bIns="0" rtlCol="0" anchor="ctr"/>
          <a:lstStyle/>
          <a:p>
            <a:pPr indent="0" marL="0">
              <a:lnSpc>
                <a:spcPct val="115000"/>
              </a:lnSpc>
              <a:buNone/>
            </a:pPr>
            <a:r>
              <a:rPr lang="en-US" sz="1200" b="1" dirty="0">
                <a:solidFill>
                  <a:srgbClr val="22252B"/>
                </a:solidFill>
                <a:latin typeface="Yu Gothic" pitchFamily="34" charset="0"/>
                <a:ea typeface="Yu Gothic" pitchFamily="34" charset="-122"/>
                <a:cs typeface="Yu Gothic" pitchFamily="34" charset="-120"/>
              </a:rPr>
              <a:t>限定的な使用目的で早期に承認</a:t>
            </a:r>
            <a:endParaRPr lang="en-US" sz="1200" dirty="0"/>
          </a:p>
        </p:txBody>
      </p:sp>
      <p:sp>
        <p:nvSpPr>
          <p:cNvPr id="9" name="Text 7"/>
          <p:cNvSpPr txBox="1"/>
          <p:nvPr/>
        </p:nvSpPr>
        <p:spPr>
          <a:xfrm>
            <a:off x="777240" y="3657600"/>
            <a:ext cx="2834640" cy="1097280"/>
          </a:xfrm>
          <a:prstGeom prst="rect">
            <a:avLst/>
          </a:prstGeom>
          <a:noFill/>
          <a:ln/>
        </p:spPr>
        <p:txBody>
          <a:bodyPr wrap="square" lIns="0" tIns="0" rIns="0" bIns="0" rtlCol="0" anchor="t"/>
          <a:lstStyle/>
          <a:p>
            <a:pPr indent="0" marL="0">
              <a:lnSpc>
                <a:spcPct val="125000"/>
              </a:lnSpc>
              <a:buNone/>
            </a:pPr>
            <a:r>
              <a:rPr lang="en-US" sz="1050" dirty="0">
                <a:solidFill>
                  <a:srgbClr val="5A5F6A"/>
                </a:solidFill>
                <a:latin typeface="Yu Gothic" pitchFamily="34" charset="0"/>
                <a:ea typeface="Yu Gothic" pitchFamily="34" charset="-122"/>
                <a:cs typeface="Yu Gothic" pitchFamily="34" charset="-120"/>
              </a:rPr>
              <a:t>検証的治験まで完了していなくても、探索的治験等で「症状緩和・状態改善」など一定の有効性が見込めれば、限定的な効能で承認を取れる</a:t>
            </a:r>
            <a:endParaRPr lang="en-US" sz="1050" dirty="0"/>
          </a:p>
        </p:txBody>
      </p:sp>
      <p:sp>
        <p:nvSpPr>
          <p:cNvPr id="10" name="Shape 8"/>
          <p:cNvSpPr/>
          <p:nvPr/>
        </p:nvSpPr>
        <p:spPr>
          <a:xfrm>
            <a:off x="3913632" y="3703320"/>
            <a:ext cx="457200" cy="0"/>
          </a:xfrm>
          <a:prstGeom prst="line">
            <a:avLst/>
          </a:prstGeom>
          <a:noFill/>
          <a:ln w="31750">
            <a:solidFill>
              <a:srgbClr val="22456E"/>
            </a:solidFill>
            <a:prstDash val="solid"/>
            <a:tailEnd type="triangle"/>
          </a:ln>
        </p:spPr>
      </p:sp>
      <p:sp>
        <p:nvSpPr>
          <p:cNvPr id="11" name="Shape 9"/>
          <p:cNvSpPr/>
          <p:nvPr/>
        </p:nvSpPr>
        <p:spPr>
          <a:xfrm>
            <a:off x="4434840" y="2560320"/>
            <a:ext cx="3291840" cy="2286000"/>
          </a:xfrm>
          <a:prstGeom prst="roundRect">
            <a:avLst>
              <a:gd name="adj" fmla="val 3200"/>
            </a:avLst>
          </a:prstGeom>
          <a:solidFill>
            <a:srgbClr val="FFFFFF"/>
          </a:solidFill>
          <a:ln w="12700">
            <a:solidFill>
              <a:srgbClr val="B9C9DE"/>
            </a:solidFill>
            <a:prstDash val="solid"/>
          </a:ln>
        </p:spPr>
      </p:sp>
      <p:sp>
        <p:nvSpPr>
          <p:cNvPr id="12" name="Text 10"/>
          <p:cNvSpPr txBox="1"/>
          <p:nvPr/>
        </p:nvSpPr>
        <p:spPr>
          <a:xfrm>
            <a:off x="4663440" y="2724912"/>
            <a:ext cx="2834640" cy="365760"/>
          </a:xfrm>
          <a:prstGeom prst="rect">
            <a:avLst/>
          </a:prstGeom>
          <a:noFill/>
          <a:ln/>
        </p:spPr>
        <p:txBody>
          <a:bodyPr wrap="square" lIns="0" tIns="0" rIns="0" bIns="0" rtlCol="0" anchor="ctr"/>
          <a:lstStyle/>
          <a:p>
            <a:pPr indent="0" marL="0">
              <a:buNone/>
            </a:pPr>
            <a:r>
              <a:rPr lang="en-US" sz="1600" b="1" dirty="0">
                <a:solidFill>
                  <a:srgbClr val="22252B"/>
                </a:solidFill>
                <a:latin typeface="Yu Mincho" pitchFamily="34" charset="0"/>
                <a:ea typeface="Yu Mincho" pitchFamily="34" charset="-122"/>
                <a:cs typeface="Yu Mincho" pitchFamily="34" charset="-120"/>
              </a:rPr>
              <a:t>市販後</a:t>
            </a:r>
            <a:endParaRPr lang="en-US" sz="1600" dirty="0"/>
          </a:p>
        </p:txBody>
      </p:sp>
      <p:sp>
        <p:nvSpPr>
          <p:cNvPr id="13" name="Text 11"/>
          <p:cNvSpPr txBox="1"/>
          <p:nvPr/>
        </p:nvSpPr>
        <p:spPr>
          <a:xfrm>
            <a:off x="4663440" y="3127248"/>
            <a:ext cx="2834640" cy="502920"/>
          </a:xfrm>
          <a:prstGeom prst="rect">
            <a:avLst/>
          </a:prstGeom>
          <a:noFill/>
          <a:ln/>
        </p:spPr>
        <p:txBody>
          <a:bodyPr wrap="square" lIns="0" tIns="0" rIns="0" bIns="0" rtlCol="0" anchor="ctr"/>
          <a:lstStyle/>
          <a:p>
            <a:pPr indent="0" marL="0">
              <a:lnSpc>
                <a:spcPct val="115000"/>
              </a:lnSpc>
              <a:buNone/>
            </a:pPr>
            <a:r>
              <a:rPr lang="en-US" sz="1200" b="1" dirty="0">
                <a:solidFill>
                  <a:srgbClr val="22252B"/>
                </a:solidFill>
                <a:latin typeface="Yu Gothic" pitchFamily="34" charset="0"/>
                <a:ea typeface="Yu Gothic" pitchFamily="34" charset="-122"/>
                <a:cs typeface="Yu Gothic" pitchFamily="34" charset="-120"/>
              </a:rPr>
              <a:t>売りながらデータを集める</a:t>
            </a:r>
            <a:endParaRPr lang="en-US" sz="1200" dirty="0"/>
          </a:p>
        </p:txBody>
      </p:sp>
      <p:sp>
        <p:nvSpPr>
          <p:cNvPr id="14" name="Text 12"/>
          <p:cNvSpPr txBox="1"/>
          <p:nvPr/>
        </p:nvSpPr>
        <p:spPr>
          <a:xfrm>
            <a:off x="4663440" y="3657600"/>
            <a:ext cx="2834640" cy="1097280"/>
          </a:xfrm>
          <a:prstGeom prst="rect">
            <a:avLst/>
          </a:prstGeom>
          <a:noFill/>
          <a:ln/>
        </p:spPr>
        <p:txBody>
          <a:bodyPr wrap="square" lIns="0" tIns="0" rIns="0" bIns="0" rtlCol="0" anchor="t"/>
          <a:lstStyle/>
          <a:p>
            <a:pPr indent="0" marL="0">
              <a:lnSpc>
                <a:spcPct val="125000"/>
              </a:lnSpc>
              <a:buNone/>
            </a:pPr>
            <a:r>
              <a:rPr lang="en-US" sz="1050" dirty="0">
                <a:solidFill>
                  <a:srgbClr val="5A5F6A"/>
                </a:solidFill>
                <a:latin typeface="Yu Gothic" pitchFamily="34" charset="0"/>
                <a:ea typeface="Yu Gothic" pitchFamily="34" charset="-122"/>
                <a:cs typeface="Yu Gothic" pitchFamily="34" charset="-120"/>
              </a:rPr>
              <a:t>リアルワールドデータや製造販売後臨床試験で、本来の効能（疾病の治療等）のエビデンスを蓄積</a:t>
            </a:r>
            <a:endParaRPr lang="en-US" sz="1050" dirty="0"/>
          </a:p>
        </p:txBody>
      </p:sp>
      <p:sp>
        <p:nvSpPr>
          <p:cNvPr id="15" name="Shape 13"/>
          <p:cNvSpPr/>
          <p:nvPr/>
        </p:nvSpPr>
        <p:spPr>
          <a:xfrm>
            <a:off x="7799832" y="3703320"/>
            <a:ext cx="457200" cy="0"/>
          </a:xfrm>
          <a:prstGeom prst="line">
            <a:avLst/>
          </a:prstGeom>
          <a:noFill/>
          <a:ln w="31750">
            <a:solidFill>
              <a:srgbClr val="22456E"/>
            </a:solidFill>
            <a:prstDash val="solid"/>
            <a:tailEnd type="triangle"/>
          </a:ln>
        </p:spPr>
      </p:sp>
      <p:sp>
        <p:nvSpPr>
          <p:cNvPr id="16" name="Shape 14"/>
          <p:cNvSpPr/>
          <p:nvPr/>
        </p:nvSpPr>
        <p:spPr>
          <a:xfrm>
            <a:off x="8321040" y="2560320"/>
            <a:ext cx="3291840" cy="2286000"/>
          </a:xfrm>
          <a:prstGeom prst="roundRect">
            <a:avLst>
              <a:gd name="adj" fmla="val 3200"/>
            </a:avLst>
          </a:prstGeom>
          <a:solidFill>
            <a:srgbClr val="EAF0F7"/>
          </a:solidFill>
          <a:ln w="12700">
            <a:solidFill>
              <a:srgbClr val="B9C9DE"/>
            </a:solidFill>
            <a:prstDash val="solid"/>
          </a:ln>
        </p:spPr>
      </p:sp>
      <p:sp>
        <p:nvSpPr>
          <p:cNvPr id="17" name="Text 15"/>
          <p:cNvSpPr txBox="1"/>
          <p:nvPr/>
        </p:nvSpPr>
        <p:spPr>
          <a:xfrm>
            <a:off x="8549640" y="2724912"/>
            <a:ext cx="2834640" cy="365760"/>
          </a:xfrm>
          <a:prstGeom prst="rect">
            <a:avLst/>
          </a:prstGeom>
          <a:noFill/>
          <a:ln/>
        </p:spPr>
        <p:txBody>
          <a:bodyPr wrap="square" lIns="0" tIns="0" rIns="0" bIns="0" rtlCol="0" anchor="ctr"/>
          <a:lstStyle/>
          <a:p>
            <a:pPr indent="0" marL="0">
              <a:buNone/>
            </a:pPr>
            <a:r>
              <a:rPr lang="en-US" sz="1600" b="1" dirty="0">
                <a:solidFill>
                  <a:srgbClr val="22456E"/>
                </a:solidFill>
                <a:latin typeface="Yu Mincho" pitchFamily="34" charset="0"/>
                <a:ea typeface="Yu Mincho" pitchFamily="34" charset="-122"/>
                <a:cs typeface="Yu Mincho" pitchFamily="34" charset="-120"/>
              </a:rPr>
              <a:t>第2段階承認</a:t>
            </a:r>
            <a:endParaRPr lang="en-US" sz="1600" dirty="0"/>
          </a:p>
        </p:txBody>
      </p:sp>
      <p:sp>
        <p:nvSpPr>
          <p:cNvPr id="18" name="Text 16"/>
          <p:cNvSpPr txBox="1"/>
          <p:nvPr/>
        </p:nvSpPr>
        <p:spPr>
          <a:xfrm>
            <a:off x="8549640" y="3127248"/>
            <a:ext cx="2834640" cy="502920"/>
          </a:xfrm>
          <a:prstGeom prst="rect">
            <a:avLst/>
          </a:prstGeom>
          <a:noFill/>
          <a:ln/>
        </p:spPr>
        <p:txBody>
          <a:bodyPr wrap="square" lIns="0" tIns="0" rIns="0" bIns="0" rtlCol="0" anchor="ctr"/>
          <a:lstStyle/>
          <a:p>
            <a:pPr indent="0" marL="0">
              <a:lnSpc>
                <a:spcPct val="115000"/>
              </a:lnSpc>
              <a:buNone/>
            </a:pPr>
            <a:r>
              <a:rPr lang="en-US" sz="1200" b="1" dirty="0">
                <a:solidFill>
                  <a:srgbClr val="22252B"/>
                </a:solidFill>
                <a:latin typeface="Yu Gothic" pitchFamily="34" charset="0"/>
                <a:ea typeface="Yu Gothic" pitchFamily="34" charset="-122"/>
                <a:cs typeface="Yu Gothic" pitchFamily="34" charset="-120"/>
              </a:rPr>
              <a:t>本来の使用目的へ拡大</a:t>
            </a:r>
            <a:endParaRPr lang="en-US" sz="1200" dirty="0"/>
          </a:p>
        </p:txBody>
      </p:sp>
      <p:sp>
        <p:nvSpPr>
          <p:cNvPr id="19" name="Text 17"/>
          <p:cNvSpPr txBox="1"/>
          <p:nvPr/>
        </p:nvSpPr>
        <p:spPr>
          <a:xfrm>
            <a:off x="8549640" y="3657600"/>
            <a:ext cx="2834640" cy="1097280"/>
          </a:xfrm>
          <a:prstGeom prst="rect">
            <a:avLst/>
          </a:prstGeom>
          <a:noFill/>
          <a:ln/>
        </p:spPr>
        <p:txBody>
          <a:bodyPr wrap="square" lIns="0" tIns="0" rIns="0" bIns="0" rtlCol="0" anchor="t"/>
          <a:lstStyle/>
          <a:p>
            <a:pPr indent="0" marL="0">
              <a:lnSpc>
                <a:spcPct val="125000"/>
              </a:lnSpc>
              <a:buNone/>
            </a:pPr>
            <a:r>
              <a:rPr lang="en-US" sz="1050" dirty="0">
                <a:solidFill>
                  <a:srgbClr val="5A5F6A"/>
                </a:solidFill>
                <a:latin typeface="Yu Gothic" pitchFamily="34" charset="0"/>
                <a:ea typeface="Yu Gothic" pitchFamily="34" charset="-122"/>
                <a:cs typeface="Yu Gothic" pitchFamily="34" charset="-120"/>
              </a:rPr>
              <a:t>集めたデータで承認事項の一部変更を申請し、目標としていた効能・効果に広げる</a:t>
            </a:r>
            <a:endParaRPr lang="en-US" sz="1050" dirty="0"/>
          </a:p>
        </p:txBody>
      </p:sp>
      <p:sp>
        <p:nvSpPr>
          <p:cNvPr id="20" name="Shape 18"/>
          <p:cNvSpPr/>
          <p:nvPr/>
        </p:nvSpPr>
        <p:spPr>
          <a:xfrm>
            <a:off x="548640" y="5120640"/>
            <a:ext cx="11064240" cy="1188720"/>
          </a:xfrm>
          <a:prstGeom prst="roundRect">
            <a:avLst>
              <a:gd name="adj" fmla="val 4615"/>
            </a:avLst>
          </a:prstGeom>
          <a:solidFill>
            <a:srgbClr val="F9ECEC"/>
          </a:solidFill>
          <a:ln w="12700">
            <a:solidFill>
              <a:srgbClr val="B3383E"/>
            </a:solidFill>
            <a:prstDash val="solid"/>
          </a:ln>
        </p:spPr>
      </p:sp>
      <p:sp>
        <p:nvSpPr>
          <p:cNvPr id="21" name="Text 19"/>
          <p:cNvSpPr txBox="1"/>
          <p:nvPr/>
        </p:nvSpPr>
        <p:spPr>
          <a:xfrm>
            <a:off x="822960" y="5257800"/>
            <a:ext cx="10515600" cy="960120"/>
          </a:xfrm>
          <a:prstGeom prst="rect">
            <a:avLst/>
          </a:prstGeom>
          <a:noFill/>
          <a:ln/>
        </p:spPr>
        <p:txBody>
          <a:bodyPr wrap="square" lIns="0" tIns="0" rIns="0" bIns="0" rtlCol="0" anchor="t"/>
          <a:lstStyle/>
          <a:p>
            <a:pPr indent="0" marL="0">
              <a:lnSpc>
                <a:spcPct val="125000"/>
              </a:lnSpc>
              <a:buNone/>
            </a:pPr>
            <a:r>
              <a:rPr lang="en-US" sz="1150" b="1" dirty="0">
                <a:solidFill>
                  <a:srgbClr val="B3383E"/>
                </a:solidFill>
                <a:latin typeface="Yu Gothic" pitchFamily="34" charset="0"/>
                <a:ea typeface="Yu Gothic" pitchFamily="34" charset="-122"/>
                <a:cs typeface="Yu Gothic" pitchFamily="34" charset="-120"/>
              </a:rPr>
              <a:t>優先審査指定と併用できない理由と、PaTaKaRUSHにとっての意味：</a:t>
            </a:r>
            <a:endParaRPr lang="en-US" sz="1150" dirty="0"/>
          </a:p>
          <a:p>
            <a:pPr indent="0" marL="0">
              <a:lnSpc>
                <a:spcPct val="125000"/>
              </a:lnSpc>
              <a:buNone/>
            </a:pPr>
            <a:r>
              <a:rPr lang="en-US" sz="1150" dirty="0">
                <a:solidFill>
                  <a:srgbClr val="22252B"/>
                </a:solidFill>
                <a:latin typeface="Yu Gothic" pitchFamily="34" charset="0"/>
                <a:ea typeface="Yu Gothic" pitchFamily="34" charset="-122"/>
                <a:cs typeface="Yu Gothic" pitchFamily="34" charset="-120"/>
              </a:rPr>
              <a:t>優先審査指定は「最初からフルの効能を、最短で取りに行く」路線、二段階承認は「小さく早く出して、育てる」路線で、国は1品目に両方の優遇を認めない。二段階承認は検証的治験の負担を後ろ倒しにできる現実的な代替ルートでもあるため、第5部①の「どちらで行くか」の意思決定が重要になる。</a:t>
            </a:r>
            <a:endParaRPr lang="en-US" sz="1150" dirty="0"/>
          </a:p>
        </p:txBody>
      </p:sp>
      <p:sp>
        <p:nvSpPr>
          <p:cNvPr id="22" name="Text 20"/>
          <p:cNvSpPr txBox="1"/>
          <p:nvPr/>
        </p:nvSpPr>
        <p:spPr>
          <a:xfrm>
            <a:off x="11430000" y="6473952"/>
            <a:ext cx="457200" cy="274320"/>
          </a:xfrm>
          <a:prstGeom prst="rect">
            <a:avLst/>
          </a:prstGeom>
          <a:noFill/>
          <a:ln/>
        </p:spPr>
        <p:txBody>
          <a:bodyPr wrap="square" lIns="0" tIns="0" rIns="0" bIns="0" rtlCol="0" anchor="ctr"/>
          <a:lstStyle/>
          <a:p>
            <a:pPr algn="r" indent="0" marL="0">
              <a:buNone/>
            </a:pPr>
            <a:r>
              <a:rPr lang="en-US" sz="1000" dirty="0">
                <a:solidFill>
                  <a:srgbClr val="5A5F6A"/>
                </a:solidFill>
                <a:latin typeface="Yu Gothic" pitchFamily="34" charset="0"/>
                <a:ea typeface="Yu Gothic" pitchFamily="34" charset="-122"/>
                <a:cs typeface="Yu Gothic"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88720" cy="365760"/>
          </a:xfrm>
          <a:prstGeom prst="rect">
            <a:avLst/>
          </a:prstGeom>
          <a:noFill/>
          <a:ln/>
        </p:spPr>
        <p:txBody>
          <a:bodyPr wrap="square" lIns="0" tIns="0" rIns="0" bIns="0" rtlCol="0" anchor="ctr"/>
          <a:lstStyle/>
          <a:p>
            <a:pPr indent="0" marL="0">
              <a:buNone/>
            </a:pPr>
            <a:r>
              <a:rPr lang="en-US" sz="1300" b="1" spc="300" kern="0" dirty="0">
                <a:solidFill>
                  <a:srgbClr val="22456E"/>
                </a:solidFill>
                <a:latin typeface="Yu Gothic" pitchFamily="34" charset="0"/>
                <a:ea typeface="Yu Gothic" pitchFamily="34" charset="-122"/>
                <a:cs typeface="Yu Gothic" pitchFamily="34" charset="-120"/>
              </a:rPr>
              <a:t>第 5 部</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22252B"/>
                </a:solidFill>
                <a:latin typeface="Yu Mincho" pitchFamily="34" charset="0"/>
                <a:ea typeface="Yu Mincho" pitchFamily="34" charset="-122"/>
                <a:cs typeface="Yu Mincho" pitchFamily="34" charset="-120"/>
              </a:rPr>
              <a:t>気をつけること — 指定と引き換えの3つの約束</a:t>
            </a:r>
            <a:endParaRPr lang="en-US" sz="3000" dirty="0"/>
          </a:p>
        </p:txBody>
      </p:sp>
      <p:sp>
        <p:nvSpPr>
          <p:cNvPr id="4" name="Text 2"/>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5A5F6A"/>
                </a:solidFill>
                <a:latin typeface="Yu Gothic" pitchFamily="34" charset="0"/>
                <a:ea typeface="Yu Gothic" pitchFamily="34" charset="-122"/>
                <a:cs typeface="Yu Gothic" pitchFamily="34" charset="-120"/>
              </a:rPr>
              <a:t>PaTaKaRUSH 薬事戦略プロジェクト｜優先審査指定制度 キックオフ</a:t>
            </a:r>
            <a:endParaRPr lang="en-US" sz="900" dirty="0"/>
          </a:p>
        </p:txBody>
      </p:sp>
      <p:sp>
        <p:nvSpPr>
          <p:cNvPr id="5" name="Text 3"/>
          <p:cNvSpPr txBox="1"/>
          <p:nvPr/>
        </p:nvSpPr>
        <p:spPr>
          <a:xfrm>
            <a:off x="548640" y="1572768"/>
            <a:ext cx="11064240" cy="365760"/>
          </a:xfrm>
          <a:prstGeom prst="rect">
            <a:avLst/>
          </a:prstGeom>
          <a:noFill/>
          <a:ln/>
        </p:spPr>
        <p:txBody>
          <a:bodyPr wrap="square" lIns="0" tIns="0" rIns="0" bIns="0" rtlCol="0" anchor="ctr"/>
          <a:lstStyle/>
          <a:p>
            <a:pPr indent="0" marL="0">
              <a:buNone/>
            </a:pPr>
            <a:r>
              <a:rPr lang="en-US" sz="1400" dirty="0">
                <a:solidFill>
                  <a:srgbClr val="22252B"/>
                </a:solidFill>
                <a:latin typeface="Yu Gothic" pitchFamily="34" charset="0"/>
                <a:ea typeface="Yu Gothic" pitchFamily="34" charset="-122"/>
                <a:cs typeface="Yu Gothic" pitchFamily="34" charset="-120"/>
              </a:rPr>
              <a:t>指定はメリットだけではありません。次の3つを守れないと、指定は取り消されます。</a:t>
            </a:r>
            <a:endParaRPr lang="en-US" sz="1400" dirty="0"/>
          </a:p>
        </p:txBody>
      </p:sp>
      <p:sp>
        <p:nvSpPr>
          <p:cNvPr id="6" name="Shape 4"/>
          <p:cNvSpPr/>
          <p:nvPr/>
        </p:nvSpPr>
        <p:spPr>
          <a:xfrm>
            <a:off x="548640" y="2103120"/>
            <a:ext cx="11064240" cy="1261872"/>
          </a:xfrm>
          <a:prstGeom prst="roundRect">
            <a:avLst>
              <a:gd name="adj" fmla="val 5072"/>
            </a:avLst>
          </a:prstGeom>
          <a:solidFill>
            <a:srgbClr val="F9ECEC"/>
          </a:solidFill>
          <a:ln w="12700">
            <a:solidFill>
              <a:srgbClr val="B3383E"/>
            </a:solidFill>
            <a:prstDash val="solid"/>
          </a:ln>
        </p:spPr>
      </p:sp>
      <p:sp>
        <p:nvSpPr>
          <p:cNvPr id="7" name="Shape 5"/>
          <p:cNvSpPr/>
          <p:nvPr/>
        </p:nvSpPr>
        <p:spPr>
          <a:xfrm>
            <a:off x="822960" y="2231136"/>
            <a:ext cx="384048" cy="384048"/>
          </a:xfrm>
          <a:prstGeom prst="ellipse">
            <a:avLst/>
          </a:prstGeom>
          <a:solidFill>
            <a:srgbClr val="22456E"/>
          </a:solidFill>
          <a:ln/>
        </p:spPr>
      </p:sp>
      <p:sp>
        <p:nvSpPr>
          <p:cNvPr id="8" name="Text 6"/>
          <p:cNvSpPr txBox="1"/>
          <p:nvPr/>
        </p:nvSpPr>
        <p:spPr>
          <a:xfrm>
            <a:off x="822960" y="2221992"/>
            <a:ext cx="384048"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Yu Mincho" pitchFamily="34" charset="0"/>
                <a:ea typeface="Yu Mincho" pitchFamily="34" charset="-122"/>
                <a:cs typeface="Yu Mincho" pitchFamily="34" charset="-120"/>
              </a:rPr>
              <a:t>1</a:t>
            </a:r>
            <a:endParaRPr lang="en-US" sz="1600" dirty="0"/>
          </a:p>
        </p:txBody>
      </p:sp>
      <p:sp>
        <p:nvSpPr>
          <p:cNvPr id="9" name="Text 7"/>
          <p:cNvSpPr txBox="1"/>
          <p:nvPr/>
        </p:nvSpPr>
        <p:spPr>
          <a:xfrm>
            <a:off x="1371600" y="2221992"/>
            <a:ext cx="9966960" cy="411480"/>
          </a:xfrm>
          <a:prstGeom prst="rect">
            <a:avLst/>
          </a:prstGeom>
          <a:noFill/>
          <a:ln/>
        </p:spPr>
        <p:txBody>
          <a:bodyPr wrap="square" lIns="0" tIns="0" rIns="0" bIns="0" rtlCol="0" anchor="ctr"/>
          <a:lstStyle/>
          <a:p>
            <a:pPr indent="0" marL="0">
              <a:buNone/>
            </a:pPr>
            <a:r>
              <a:rPr lang="en-US" sz="1700" b="1" dirty="0">
                <a:solidFill>
                  <a:srgbClr val="B3383E"/>
                </a:solidFill>
                <a:latin typeface="Yu Mincho" pitchFamily="34" charset="0"/>
                <a:ea typeface="Yu Mincho" pitchFamily="34" charset="-122"/>
                <a:cs typeface="Yu Mincho" pitchFamily="34" charset="-120"/>
              </a:rPr>
              <a:t>選べるのは、どちらか一つ</a:t>
            </a:r>
            <a:endParaRPr lang="en-US" sz="1700" dirty="0"/>
          </a:p>
        </p:txBody>
      </p:sp>
      <p:sp>
        <p:nvSpPr>
          <p:cNvPr id="10" name="Text 8"/>
          <p:cNvSpPr txBox="1"/>
          <p:nvPr/>
        </p:nvSpPr>
        <p:spPr>
          <a:xfrm>
            <a:off x="1371600" y="2651760"/>
            <a:ext cx="9966960" cy="658368"/>
          </a:xfrm>
          <a:prstGeom prst="rect">
            <a:avLst/>
          </a:prstGeom>
          <a:noFill/>
          <a:ln/>
        </p:spPr>
        <p:txBody>
          <a:bodyPr wrap="square" lIns="0" tIns="0" rIns="0" bIns="0" rtlCol="0" anchor="t"/>
          <a:lstStyle/>
          <a:p>
            <a:pPr indent="0" marL="0">
              <a:lnSpc>
                <a:spcPct val="120000"/>
              </a:lnSpc>
              <a:buNone/>
            </a:pPr>
            <a:r>
              <a:rPr lang="en-US" sz="1150" dirty="0">
                <a:solidFill>
                  <a:srgbClr val="22252B"/>
                </a:solidFill>
                <a:latin typeface="Yu Gothic" pitchFamily="34" charset="0"/>
                <a:ea typeface="Yu Gothic" pitchFamily="34" charset="-122"/>
                <a:cs typeface="Yu Gothic" pitchFamily="34" charset="-120"/>
              </a:rPr>
              <a:t>この制度と「二段階承認」は同時に使えません。二段階承認について行政に相談しただけでも、指定は取り消されます。</a:t>
            </a:r>
            <a:endParaRPr lang="en-US" sz="1150" dirty="0"/>
          </a:p>
          <a:p>
            <a:pPr indent="0" marL="0">
              <a:lnSpc>
                <a:spcPct val="120000"/>
              </a:lnSpc>
              <a:buNone/>
            </a:pPr>
            <a:r>
              <a:rPr lang="en-US" sz="1150" b="1" dirty="0">
                <a:solidFill>
                  <a:srgbClr val="22456E"/>
                </a:solidFill>
                <a:latin typeface="Yu Gothic" pitchFamily="34" charset="0"/>
                <a:ea typeface="Yu Gothic" pitchFamily="34" charset="-122"/>
                <a:cs typeface="Yu Gothic" pitchFamily="34" charset="-120"/>
              </a:rPr>
              <a:t>→ 会社として、どちらのルートで行くかを決めてから申し込む</a:t>
            </a:r>
            <a:endParaRPr lang="en-US" sz="1150" dirty="0"/>
          </a:p>
        </p:txBody>
      </p:sp>
      <p:sp>
        <p:nvSpPr>
          <p:cNvPr id="11" name="Shape 9"/>
          <p:cNvSpPr/>
          <p:nvPr/>
        </p:nvSpPr>
        <p:spPr>
          <a:xfrm>
            <a:off x="548640" y="3493008"/>
            <a:ext cx="11064240" cy="1261872"/>
          </a:xfrm>
          <a:prstGeom prst="roundRect">
            <a:avLst>
              <a:gd name="adj" fmla="val 5072"/>
            </a:avLst>
          </a:prstGeom>
          <a:solidFill>
            <a:srgbClr val="F9ECEC"/>
          </a:solidFill>
          <a:ln w="12700">
            <a:solidFill>
              <a:srgbClr val="B3383E"/>
            </a:solidFill>
            <a:prstDash val="solid"/>
          </a:ln>
        </p:spPr>
      </p:sp>
      <p:sp>
        <p:nvSpPr>
          <p:cNvPr id="12" name="Shape 10"/>
          <p:cNvSpPr/>
          <p:nvPr/>
        </p:nvSpPr>
        <p:spPr>
          <a:xfrm>
            <a:off x="822960" y="3621024"/>
            <a:ext cx="384048" cy="384048"/>
          </a:xfrm>
          <a:prstGeom prst="ellipse">
            <a:avLst/>
          </a:prstGeom>
          <a:solidFill>
            <a:srgbClr val="22456E"/>
          </a:solidFill>
          <a:ln/>
        </p:spPr>
      </p:sp>
      <p:sp>
        <p:nvSpPr>
          <p:cNvPr id="13" name="Text 11"/>
          <p:cNvSpPr txBox="1"/>
          <p:nvPr/>
        </p:nvSpPr>
        <p:spPr>
          <a:xfrm>
            <a:off x="822960" y="3611880"/>
            <a:ext cx="384048"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Yu Mincho" pitchFamily="34" charset="0"/>
                <a:ea typeface="Yu Mincho" pitchFamily="34" charset="-122"/>
                <a:cs typeface="Yu Mincho" pitchFamily="34" charset="-120"/>
              </a:rPr>
              <a:t>2</a:t>
            </a:r>
            <a:endParaRPr lang="en-US" sz="1600" dirty="0"/>
          </a:p>
        </p:txBody>
      </p:sp>
      <p:sp>
        <p:nvSpPr>
          <p:cNvPr id="14" name="Text 12"/>
          <p:cNvSpPr txBox="1"/>
          <p:nvPr/>
        </p:nvSpPr>
        <p:spPr>
          <a:xfrm>
            <a:off x="1371600" y="3611880"/>
            <a:ext cx="9966960" cy="411480"/>
          </a:xfrm>
          <a:prstGeom prst="rect">
            <a:avLst/>
          </a:prstGeom>
          <a:noFill/>
          <a:ln/>
        </p:spPr>
        <p:txBody>
          <a:bodyPr wrap="square" lIns="0" tIns="0" rIns="0" bIns="0" rtlCol="0" anchor="ctr"/>
          <a:lstStyle/>
          <a:p>
            <a:pPr indent="0" marL="0">
              <a:buNone/>
            </a:pPr>
            <a:r>
              <a:rPr lang="en-US" sz="1700" b="1" dirty="0">
                <a:solidFill>
                  <a:srgbClr val="B3383E"/>
                </a:solidFill>
                <a:latin typeface="Yu Mincho" pitchFamily="34" charset="0"/>
                <a:ea typeface="Yu Mincho" pitchFamily="34" charset="-122"/>
                <a:cs typeface="Yu Mincho" pitchFamily="34" charset="-120"/>
              </a:rPr>
              <a:t>指定後は、アプリを大きく変えられない</a:t>
            </a:r>
            <a:endParaRPr lang="en-US" sz="1700" dirty="0"/>
          </a:p>
        </p:txBody>
      </p:sp>
      <p:sp>
        <p:nvSpPr>
          <p:cNvPr id="15" name="Text 13"/>
          <p:cNvSpPr txBox="1"/>
          <p:nvPr/>
        </p:nvSpPr>
        <p:spPr>
          <a:xfrm>
            <a:off x="1371600" y="4041648"/>
            <a:ext cx="9966960" cy="658368"/>
          </a:xfrm>
          <a:prstGeom prst="rect">
            <a:avLst/>
          </a:prstGeom>
          <a:noFill/>
          <a:ln/>
        </p:spPr>
        <p:txBody>
          <a:bodyPr wrap="square" lIns="0" tIns="0" rIns="0" bIns="0" rtlCol="0" anchor="t"/>
          <a:lstStyle/>
          <a:p>
            <a:pPr indent="0" marL="0">
              <a:lnSpc>
                <a:spcPct val="120000"/>
              </a:lnSpc>
              <a:buNone/>
            </a:pPr>
            <a:r>
              <a:rPr lang="en-US" sz="1150" dirty="0">
                <a:solidFill>
                  <a:srgbClr val="22252B"/>
                </a:solidFill>
                <a:latin typeface="Yu Gothic" pitchFamily="34" charset="0"/>
                <a:ea typeface="Yu Gothic" pitchFamily="34" charset="-122"/>
                <a:cs typeface="Yu Gothic" pitchFamily="34" charset="-120"/>
              </a:rPr>
              <a:t>効果や安全性に関わる大きな機能変更をすると、指定は取り消されます。</a:t>
            </a:r>
            <a:endParaRPr lang="en-US" sz="1150" dirty="0"/>
          </a:p>
          <a:p>
            <a:pPr indent="0" marL="0">
              <a:lnSpc>
                <a:spcPct val="120000"/>
              </a:lnSpc>
              <a:buNone/>
            </a:pPr>
            <a:r>
              <a:rPr lang="en-US" sz="1150" b="1" dirty="0">
                <a:solidFill>
                  <a:srgbClr val="22456E"/>
                </a:solidFill>
                <a:latin typeface="Yu Gothic" pitchFamily="34" charset="0"/>
                <a:ea typeface="Yu Gothic" pitchFamily="34" charset="-122"/>
                <a:cs typeface="Yu Gothic" pitchFamily="34" charset="-120"/>
              </a:rPr>
              <a:t>→ 「申請までどの機能で固定するか」の凍結計画をセットで作る</a:t>
            </a:r>
            <a:endParaRPr lang="en-US" sz="1150" dirty="0"/>
          </a:p>
        </p:txBody>
      </p:sp>
      <p:sp>
        <p:nvSpPr>
          <p:cNvPr id="16" name="Shape 14"/>
          <p:cNvSpPr/>
          <p:nvPr/>
        </p:nvSpPr>
        <p:spPr>
          <a:xfrm>
            <a:off x="548640" y="4882896"/>
            <a:ext cx="11064240" cy="1261872"/>
          </a:xfrm>
          <a:prstGeom prst="roundRect">
            <a:avLst>
              <a:gd name="adj" fmla="val 5072"/>
            </a:avLst>
          </a:prstGeom>
          <a:solidFill>
            <a:srgbClr val="F9ECEC"/>
          </a:solidFill>
          <a:ln w="12700">
            <a:solidFill>
              <a:srgbClr val="B3383E"/>
            </a:solidFill>
            <a:prstDash val="solid"/>
          </a:ln>
        </p:spPr>
      </p:sp>
      <p:sp>
        <p:nvSpPr>
          <p:cNvPr id="17" name="Shape 15"/>
          <p:cNvSpPr/>
          <p:nvPr/>
        </p:nvSpPr>
        <p:spPr>
          <a:xfrm>
            <a:off x="822960" y="5010912"/>
            <a:ext cx="384048" cy="384048"/>
          </a:xfrm>
          <a:prstGeom prst="ellipse">
            <a:avLst/>
          </a:prstGeom>
          <a:solidFill>
            <a:srgbClr val="22456E"/>
          </a:solidFill>
          <a:ln/>
        </p:spPr>
      </p:sp>
      <p:sp>
        <p:nvSpPr>
          <p:cNvPr id="18" name="Text 16"/>
          <p:cNvSpPr txBox="1"/>
          <p:nvPr/>
        </p:nvSpPr>
        <p:spPr>
          <a:xfrm>
            <a:off x="822960" y="5001768"/>
            <a:ext cx="384048"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Yu Mincho" pitchFamily="34" charset="0"/>
                <a:ea typeface="Yu Mincho" pitchFamily="34" charset="-122"/>
                <a:cs typeface="Yu Mincho" pitchFamily="34" charset="-120"/>
              </a:rPr>
              <a:t>3</a:t>
            </a:r>
            <a:endParaRPr lang="en-US" sz="1600" dirty="0"/>
          </a:p>
        </p:txBody>
      </p:sp>
      <p:sp>
        <p:nvSpPr>
          <p:cNvPr id="19" name="Text 17"/>
          <p:cNvSpPr txBox="1"/>
          <p:nvPr/>
        </p:nvSpPr>
        <p:spPr>
          <a:xfrm>
            <a:off x="1371600" y="5001768"/>
            <a:ext cx="9966960" cy="411480"/>
          </a:xfrm>
          <a:prstGeom prst="rect">
            <a:avLst/>
          </a:prstGeom>
          <a:noFill/>
          <a:ln/>
        </p:spPr>
        <p:txBody>
          <a:bodyPr wrap="square" lIns="0" tIns="0" rIns="0" bIns="0" rtlCol="0" anchor="ctr"/>
          <a:lstStyle/>
          <a:p>
            <a:pPr indent="0" marL="0">
              <a:buNone/>
            </a:pPr>
            <a:r>
              <a:rPr lang="en-US" sz="1700" b="1" dirty="0">
                <a:solidFill>
                  <a:srgbClr val="B3383E"/>
                </a:solidFill>
                <a:latin typeface="Yu Mincho" pitchFamily="34" charset="0"/>
                <a:ea typeface="Yu Mincho" pitchFamily="34" charset="-122"/>
                <a:cs typeface="Yu Mincho" pitchFamily="34" charset="-120"/>
              </a:rPr>
              <a:t>成果が出なければ、指定は取り消される</a:t>
            </a:r>
            <a:endParaRPr lang="en-US" sz="1700" dirty="0"/>
          </a:p>
        </p:txBody>
      </p:sp>
      <p:sp>
        <p:nvSpPr>
          <p:cNvPr id="20" name="Text 18"/>
          <p:cNvSpPr txBox="1"/>
          <p:nvPr/>
        </p:nvSpPr>
        <p:spPr>
          <a:xfrm>
            <a:off x="1371600" y="5431536"/>
            <a:ext cx="9966960" cy="658368"/>
          </a:xfrm>
          <a:prstGeom prst="rect">
            <a:avLst/>
          </a:prstGeom>
          <a:noFill/>
          <a:ln/>
        </p:spPr>
        <p:txBody>
          <a:bodyPr wrap="square" lIns="0" tIns="0" rIns="0" bIns="0" rtlCol="0" anchor="t"/>
          <a:lstStyle/>
          <a:p>
            <a:pPr indent="0" marL="0">
              <a:lnSpc>
                <a:spcPct val="120000"/>
              </a:lnSpc>
              <a:buNone/>
            </a:pPr>
            <a:r>
              <a:rPr lang="en-US" sz="1150" dirty="0">
                <a:solidFill>
                  <a:srgbClr val="22252B"/>
                </a:solidFill>
                <a:latin typeface="Yu Gothic" pitchFamily="34" charset="0"/>
                <a:ea typeface="Yu Gothic" pitchFamily="34" charset="-122"/>
                <a:cs typeface="Yu Gothic" pitchFamily="34" charset="-120"/>
              </a:rPr>
              <a:t>指定後の試験で「期待したほどの効果がない」と分かった場合も取消しの対象です。指定は予約であって、既得権ではありません。</a:t>
            </a:r>
            <a:endParaRPr lang="en-US" sz="1150" dirty="0"/>
          </a:p>
          <a:p>
            <a:pPr indent="0" marL="0">
              <a:lnSpc>
                <a:spcPct val="120000"/>
              </a:lnSpc>
              <a:buNone/>
            </a:pPr>
            <a:r>
              <a:rPr lang="en-US" sz="1150" b="1" dirty="0">
                <a:solidFill>
                  <a:srgbClr val="22456E"/>
                </a:solidFill>
                <a:latin typeface="Yu Gothic" pitchFamily="34" charset="0"/>
                <a:ea typeface="Yu Gothic" pitchFamily="34" charset="-122"/>
                <a:cs typeface="Yu Gothic" pitchFamily="34" charset="-120"/>
              </a:rPr>
              <a:t>→ 指定はゴールではなくスタート。エビデンス計画に無理がないかを先に確認する</a:t>
            </a:r>
            <a:endParaRPr lang="en-US" sz="1150" dirty="0"/>
          </a:p>
        </p:txBody>
      </p:sp>
      <p:sp>
        <p:nvSpPr>
          <p:cNvPr id="21" name="Text 19"/>
          <p:cNvSpPr txBox="1"/>
          <p:nvPr/>
        </p:nvSpPr>
        <p:spPr>
          <a:xfrm>
            <a:off x="548640" y="6263640"/>
            <a:ext cx="11064240" cy="274320"/>
          </a:xfrm>
          <a:prstGeom prst="rect">
            <a:avLst/>
          </a:prstGeom>
          <a:noFill/>
          <a:ln/>
        </p:spPr>
        <p:txBody>
          <a:bodyPr wrap="square" lIns="0" tIns="0" rIns="0" bIns="0" rtlCol="0" anchor="ctr"/>
          <a:lstStyle/>
          <a:p>
            <a:pPr indent="0" marL="0">
              <a:buNone/>
            </a:pPr>
            <a:r>
              <a:rPr lang="en-US" sz="1000" dirty="0">
                <a:solidFill>
                  <a:srgbClr val="5A5F6A"/>
                </a:solidFill>
                <a:latin typeface="Yu Gothic" pitchFamily="34" charset="0"/>
                <a:ea typeface="Yu Gothic" pitchFamily="34" charset="-122"/>
                <a:cs typeface="Yu Gothic" pitchFamily="34" charset="-120"/>
              </a:rPr>
              <a:t>根拠: 通知 5.「指定の取消し」（原文は docs/regulatory/08_優先審査指定制度.md に掲載）</a:t>
            </a:r>
            <a:endParaRPr lang="en-US" sz="1000" dirty="0"/>
          </a:p>
        </p:txBody>
      </p:sp>
      <p:sp>
        <p:nvSpPr>
          <p:cNvPr id="22" name="Text 20"/>
          <p:cNvSpPr txBox="1"/>
          <p:nvPr/>
        </p:nvSpPr>
        <p:spPr>
          <a:xfrm>
            <a:off x="11430000" y="6473952"/>
            <a:ext cx="457200" cy="274320"/>
          </a:xfrm>
          <a:prstGeom prst="rect">
            <a:avLst/>
          </a:prstGeom>
          <a:noFill/>
          <a:ln/>
        </p:spPr>
        <p:txBody>
          <a:bodyPr wrap="square" lIns="0" tIns="0" rIns="0" bIns="0" rtlCol="0" anchor="ctr"/>
          <a:lstStyle/>
          <a:p>
            <a:pPr algn="r" indent="0" marL="0">
              <a:buNone/>
            </a:pPr>
            <a:r>
              <a:rPr lang="en-US" sz="1000" dirty="0">
                <a:solidFill>
                  <a:srgbClr val="5A5F6A"/>
                </a:solidFill>
                <a:latin typeface="Yu Gothic" pitchFamily="34" charset="0"/>
                <a:ea typeface="Yu Gothic" pitchFamily="34" charset="-122"/>
                <a:cs typeface="Yu Gothic"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88720" cy="365760"/>
          </a:xfrm>
          <a:prstGeom prst="rect">
            <a:avLst/>
          </a:prstGeom>
          <a:noFill/>
          <a:ln/>
        </p:spPr>
        <p:txBody>
          <a:bodyPr wrap="square" lIns="0" tIns="0" rIns="0" bIns="0" rtlCol="0" anchor="ctr"/>
          <a:lstStyle/>
          <a:p>
            <a:pPr indent="0" marL="0">
              <a:buNone/>
            </a:pPr>
            <a:r>
              <a:rPr lang="en-US" sz="1300" b="1" spc="300" kern="0" dirty="0">
                <a:solidFill>
                  <a:srgbClr val="22456E"/>
                </a:solidFill>
                <a:latin typeface="Yu Gothic" pitchFamily="34" charset="0"/>
                <a:ea typeface="Yu Gothic" pitchFamily="34" charset="-122"/>
                <a:cs typeface="Yu Gothic" pitchFamily="34" charset="-120"/>
              </a:rPr>
              <a:t>第 6 部</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22252B"/>
                </a:solidFill>
                <a:latin typeface="Yu Mincho" pitchFamily="34" charset="0"/>
                <a:ea typeface="Yu Mincho" pitchFamily="34" charset="-122"/>
                <a:cs typeface="Yu Mincho" pitchFamily="34" charset="-120"/>
              </a:rPr>
              <a:t>最優先タスク — 要件1「画期性」の検討</a:t>
            </a:r>
            <a:endParaRPr lang="en-US" sz="3000" dirty="0"/>
          </a:p>
        </p:txBody>
      </p:sp>
      <p:sp>
        <p:nvSpPr>
          <p:cNvPr id="4" name="Text 2"/>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5A5F6A"/>
                </a:solidFill>
                <a:latin typeface="Yu Gothic" pitchFamily="34" charset="0"/>
                <a:ea typeface="Yu Gothic" pitchFamily="34" charset="-122"/>
                <a:cs typeface="Yu Gothic" pitchFamily="34" charset="-120"/>
              </a:rPr>
              <a:t>PaTaKaRUSH 薬事戦略プロジェクト｜優先審査指定制度 キックオフ</a:t>
            </a:r>
            <a:endParaRPr lang="en-US" sz="900" dirty="0"/>
          </a:p>
        </p:txBody>
      </p:sp>
      <p:sp>
        <p:nvSpPr>
          <p:cNvPr id="5" name="Shape 3"/>
          <p:cNvSpPr/>
          <p:nvPr/>
        </p:nvSpPr>
        <p:spPr>
          <a:xfrm>
            <a:off x="548640" y="1600200"/>
            <a:ext cx="11064240" cy="914400"/>
          </a:xfrm>
          <a:prstGeom prst="roundRect">
            <a:avLst>
              <a:gd name="adj" fmla="val 6000"/>
            </a:avLst>
          </a:prstGeom>
          <a:solidFill>
            <a:srgbClr val="EAF0F7"/>
          </a:solidFill>
          <a:ln w="12700">
            <a:solidFill>
              <a:srgbClr val="B9C9DE"/>
            </a:solidFill>
            <a:prstDash val="solid"/>
          </a:ln>
        </p:spPr>
      </p:sp>
      <p:sp>
        <p:nvSpPr>
          <p:cNvPr id="6" name="Text 4"/>
          <p:cNvSpPr txBox="1"/>
          <p:nvPr/>
        </p:nvSpPr>
        <p:spPr>
          <a:xfrm>
            <a:off x="822960" y="1755648"/>
            <a:ext cx="10515600" cy="640080"/>
          </a:xfrm>
          <a:prstGeom prst="rect">
            <a:avLst/>
          </a:prstGeom>
          <a:noFill/>
          <a:ln/>
        </p:spPr>
        <p:txBody>
          <a:bodyPr wrap="square" lIns="0" tIns="0" rIns="0" bIns="0" rtlCol="0" anchor="t"/>
          <a:lstStyle/>
          <a:p>
            <a:pPr indent="0" marL="0">
              <a:lnSpc>
                <a:spcPct val="125000"/>
              </a:lnSpc>
              <a:buNone/>
            </a:pPr>
            <a:r>
              <a:rPr lang="en-US" sz="1250" b="1" dirty="0">
                <a:solidFill>
                  <a:srgbClr val="22456E"/>
                </a:solidFill>
                <a:latin typeface="Yu Gothic" pitchFamily="34" charset="0"/>
                <a:ea typeface="Yu Gothic" pitchFamily="34" charset="-122"/>
                <a:cs typeface="Yu Gothic" pitchFamily="34" charset="-120"/>
              </a:rPr>
              <a:t>なぜ最優先か：</a:t>
            </a:r>
            <a:pPr indent="0" marL="0">
              <a:lnSpc>
                <a:spcPct val="125000"/>
              </a:lnSpc>
              <a:buNone/>
            </a:pPr>
            <a:r>
              <a:rPr lang="en-US" sz="1250" dirty="0">
                <a:solidFill>
                  <a:srgbClr val="22252B"/>
                </a:solidFill>
                <a:latin typeface="Yu Gothic" pitchFamily="34" charset="0"/>
                <a:ea typeface="Yu Gothic" pitchFamily="34" charset="-122"/>
                <a:cs typeface="Yu Gothic" pitchFamily="34" charset="-120"/>
              </a:rPr>
              <a:t>要件1は3要件の中で唯一「今あるもの」で勝負が決まらない項目。ここのストーリーが固まらない限り、様式1の提出も、要件2の臨床研究の設計（何を証明するか）も先に進められない。</a:t>
            </a:r>
            <a:endParaRPr lang="en-US" sz="1250" dirty="0"/>
          </a:p>
        </p:txBody>
      </p:sp>
      <p:sp>
        <p:nvSpPr>
          <p:cNvPr id="7" name="Shape 5"/>
          <p:cNvSpPr/>
          <p:nvPr/>
        </p:nvSpPr>
        <p:spPr>
          <a:xfrm>
            <a:off x="548640" y="2743200"/>
            <a:ext cx="5440680" cy="1353312"/>
          </a:xfrm>
          <a:prstGeom prst="roundRect">
            <a:avLst>
              <a:gd name="adj" fmla="val 4730"/>
            </a:avLst>
          </a:prstGeom>
          <a:solidFill>
            <a:srgbClr val="FFFFFF"/>
          </a:solidFill>
          <a:ln w="12700">
            <a:solidFill>
              <a:srgbClr val="D9DCE3"/>
            </a:solidFill>
            <a:prstDash val="solid"/>
          </a:ln>
        </p:spPr>
      </p:sp>
      <p:sp>
        <p:nvSpPr>
          <p:cNvPr id="8" name="Shape 6"/>
          <p:cNvSpPr/>
          <p:nvPr/>
        </p:nvSpPr>
        <p:spPr>
          <a:xfrm>
            <a:off x="749808" y="2889504"/>
            <a:ext cx="365760" cy="365760"/>
          </a:xfrm>
          <a:prstGeom prst="ellipse">
            <a:avLst/>
          </a:prstGeom>
          <a:solidFill>
            <a:srgbClr val="22456E"/>
          </a:solidFill>
          <a:ln/>
        </p:spPr>
      </p:sp>
      <p:sp>
        <p:nvSpPr>
          <p:cNvPr id="9" name="Text 7"/>
          <p:cNvSpPr txBox="1"/>
          <p:nvPr/>
        </p:nvSpPr>
        <p:spPr>
          <a:xfrm>
            <a:off x="749808" y="2880360"/>
            <a:ext cx="365760"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Yu Mincho" pitchFamily="34" charset="0"/>
                <a:ea typeface="Yu Mincho" pitchFamily="34" charset="-122"/>
                <a:cs typeface="Yu Mincho" pitchFamily="34" charset="-120"/>
              </a:rPr>
              <a:t>1</a:t>
            </a:r>
            <a:endParaRPr lang="en-US" sz="1600" dirty="0"/>
          </a:p>
        </p:txBody>
      </p:sp>
      <p:sp>
        <p:nvSpPr>
          <p:cNvPr id="10" name="Text 8"/>
          <p:cNvSpPr txBox="1"/>
          <p:nvPr/>
        </p:nvSpPr>
        <p:spPr>
          <a:xfrm>
            <a:off x="1188720" y="2907792"/>
            <a:ext cx="822960" cy="320040"/>
          </a:xfrm>
          <a:prstGeom prst="rect">
            <a:avLst/>
          </a:prstGeom>
          <a:noFill/>
          <a:ln/>
        </p:spPr>
        <p:txBody>
          <a:bodyPr wrap="square" lIns="0" tIns="0" rIns="0" bIns="0" rtlCol="0" anchor="ctr"/>
          <a:lstStyle/>
          <a:p>
            <a:pPr indent="0" marL="0">
              <a:buNone/>
            </a:pPr>
            <a:r>
              <a:rPr lang="en-US" sz="900" b="1" spc="200" kern="0" dirty="0">
                <a:solidFill>
                  <a:srgbClr val="5A5F6A"/>
                </a:solidFill>
                <a:latin typeface="Yu Gothic" pitchFamily="34" charset="0"/>
                <a:ea typeface="Yu Gothic" pitchFamily="34" charset="-122"/>
                <a:cs typeface="Yu Gothic" pitchFamily="34" charset="-120"/>
              </a:rPr>
              <a:t>STEP</a:t>
            </a:r>
            <a:endParaRPr lang="en-US" sz="900" dirty="0"/>
          </a:p>
        </p:txBody>
      </p:sp>
      <p:sp>
        <p:nvSpPr>
          <p:cNvPr id="11" name="Text 9"/>
          <p:cNvSpPr txBox="1"/>
          <p:nvPr/>
        </p:nvSpPr>
        <p:spPr>
          <a:xfrm>
            <a:off x="749808" y="3200400"/>
            <a:ext cx="5029200" cy="365760"/>
          </a:xfrm>
          <a:prstGeom prst="rect">
            <a:avLst/>
          </a:prstGeom>
          <a:noFill/>
          <a:ln/>
        </p:spPr>
        <p:txBody>
          <a:bodyPr wrap="square" lIns="0" tIns="0" rIns="0" bIns="0" rtlCol="0" anchor="ctr"/>
          <a:lstStyle/>
          <a:p>
            <a:pPr indent="0" marL="0">
              <a:buNone/>
            </a:pPr>
            <a:r>
              <a:rPr lang="en-US" sz="1350" b="1" dirty="0">
                <a:solidFill>
                  <a:srgbClr val="22456E"/>
                </a:solidFill>
                <a:latin typeface="Yu Gothic" pitchFamily="34" charset="0"/>
                <a:ea typeface="Yu Gothic" pitchFamily="34" charset="-122"/>
                <a:cs typeface="Yu Gothic" pitchFamily="34" charset="-120"/>
              </a:rPr>
              <a:t>標準的指導の棚卸し</a:t>
            </a:r>
            <a:endParaRPr lang="en-US" sz="1350" dirty="0"/>
          </a:p>
        </p:txBody>
      </p:sp>
      <p:sp>
        <p:nvSpPr>
          <p:cNvPr id="12" name="Text 10"/>
          <p:cNvSpPr txBox="1"/>
          <p:nvPr/>
        </p:nvSpPr>
        <p:spPr>
          <a:xfrm>
            <a:off x="749808" y="3566160"/>
            <a:ext cx="5029200" cy="475488"/>
          </a:xfrm>
          <a:prstGeom prst="rect">
            <a:avLst/>
          </a:prstGeom>
          <a:noFill/>
          <a:ln/>
        </p:spPr>
        <p:txBody>
          <a:bodyPr wrap="square" lIns="0" tIns="0" rIns="0" bIns="0" rtlCol="0" anchor="t"/>
          <a:lstStyle/>
          <a:p>
            <a:pPr indent="0" marL="0">
              <a:lnSpc>
                <a:spcPct val="120000"/>
              </a:lnSpc>
              <a:buNone/>
            </a:pPr>
            <a:r>
              <a:rPr lang="en-US" sz="1050" dirty="0">
                <a:solidFill>
                  <a:srgbClr val="5A5F6A"/>
                </a:solidFill>
                <a:latin typeface="Yu Gothic" pitchFamily="34" charset="0"/>
                <a:ea typeface="Yu Gothic" pitchFamily="34" charset="-122"/>
                <a:cs typeface="Yu Gothic" pitchFamily="34" charset="-120"/>
              </a:rPr>
              <a:t>現行の口腔機能訓練指導（パタカラ体操等）で「何が・どう」行われているかを整理し、比較の土台を作る</a:t>
            </a:r>
            <a:endParaRPr lang="en-US" sz="1050" dirty="0"/>
          </a:p>
        </p:txBody>
      </p:sp>
      <p:sp>
        <p:nvSpPr>
          <p:cNvPr id="13" name="Shape 11"/>
          <p:cNvSpPr/>
          <p:nvPr/>
        </p:nvSpPr>
        <p:spPr>
          <a:xfrm>
            <a:off x="6263640" y="2743200"/>
            <a:ext cx="5440680" cy="1353312"/>
          </a:xfrm>
          <a:prstGeom prst="roundRect">
            <a:avLst>
              <a:gd name="adj" fmla="val 4730"/>
            </a:avLst>
          </a:prstGeom>
          <a:solidFill>
            <a:srgbClr val="FFFFFF"/>
          </a:solidFill>
          <a:ln w="12700">
            <a:solidFill>
              <a:srgbClr val="D9DCE3"/>
            </a:solidFill>
            <a:prstDash val="solid"/>
          </a:ln>
        </p:spPr>
      </p:sp>
      <p:sp>
        <p:nvSpPr>
          <p:cNvPr id="14" name="Shape 12"/>
          <p:cNvSpPr/>
          <p:nvPr/>
        </p:nvSpPr>
        <p:spPr>
          <a:xfrm>
            <a:off x="6464808" y="2889504"/>
            <a:ext cx="365760" cy="365760"/>
          </a:xfrm>
          <a:prstGeom prst="ellipse">
            <a:avLst/>
          </a:prstGeom>
          <a:solidFill>
            <a:srgbClr val="22456E"/>
          </a:solidFill>
          <a:ln/>
        </p:spPr>
      </p:sp>
      <p:sp>
        <p:nvSpPr>
          <p:cNvPr id="15" name="Text 13"/>
          <p:cNvSpPr txBox="1"/>
          <p:nvPr/>
        </p:nvSpPr>
        <p:spPr>
          <a:xfrm>
            <a:off x="6464808" y="2880360"/>
            <a:ext cx="365760"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Yu Mincho" pitchFamily="34" charset="0"/>
                <a:ea typeface="Yu Mincho" pitchFamily="34" charset="-122"/>
                <a:cs typeface="Yu Mincho" pitchFamily="34" charset="-120"/>
              </a:rPr>
              <a:t>2</a:t>
            </a:r>
            <a:endParaRPr lang="en-US" sz="1600" dirty="0"/>
          </a:p>
        </p:txBody>
      </p:sp>
      <p:sp>
        <p:nvSpPr>
          <p:cNvPr id="16" name="Text 14"/>
          <p:cNvSpPr txBox="1"/>
          <p:nvPr/>
        </p:nvSpPr>
        <p:spPr>
          <a:xfrm>
            <a:off x="6903720" y="2907792"/>
            <a:ext cx="822960" cy="320040"/>
          </a:xfrm>
          <a:prstGeom prst="rect">
            <a:avLst/>
          </a:prstGeom>
          <a:noFill/>
          <a:ln/>
        </p:spPr>
        <p:txBody>
          <a:bodyPr wrap="square" lIns="0" tIns="0" rIns="0" bIns="0" rtlCol="0" anchor="ctr"/>
          <a:lstStyle/>
          <a:p>
            <a:pPr indent="0" marL="0">
              <a:buNone/>
            </a:pPr>
            <a:r>
              <a:rPr lang="en-US" sz="900" b="1" spc="200" kern="0" dirty="0">
                <a:solidFill>
                  <a:srgbClr val="5A5F6A"/>
                </a:solidFill>
                <a:latin typeface="Yu Gothic" pitchFamily="34" charset="0"/>
                <a:ea typeface="Yu Gothic" pitchFamily="34" charset="-122"/>
                <a:cs typeface="Yu Gothic" pitchFamily="34" charset="-120"/>
              </a:rPr>
              <a:t>STEP</a:t>
            </a:r>
            <a:endParaRPr lang="en-US" sz="900" dirty="0"/>
          </a:p>
        </p:txBody>
      </p:sp>
      <p:sp>
        <p:nvSpPr>
          <p:cNvPr id="17" name="Text 15"/>
          <p:cNvSpPr txBox="1"/>
          <p:nvPr/>
        </p:nvSpPr>
        <p:spPr>
          <a:xfrm>
            <a:off x="6464808" y="3200400"/>
            <a:ext cx="5029200" cy="365760"/>
          </a:xfrm>
          <a:prstGeom prst="rect">
            <a:avLst/>
          </a:prstGeom>
          <a:noFill/>
          <a:ln/>
        </p:spPr>
        <p:txBody>
          <a:bodyPr wrap="square" lIns="0" tIns="0" rIns="0" bIns="0" rtlCol="0" anchor="ctr"/>
          <a:lstStyle/>
          <a:p>
            <a:pPr indent="0" marL="0">
              <a:buNone/>
            </a:pPr>
            <a:r>
              <a:rPr lang="en-US" sz="1350" b="1" dirty="0">
                <a:solidFill>
                  <a:srgbClr val="22456E"/>
                </a:solidFill>
                <a:latin typeface="Yu Gothic" pitchFamily="34" charset="0"/>
                <a:ea typeface="Yu Gothic" pitchFamily="34" charset="-122"/>
                <a:cs typeface="Yu Gothic" pitchFamily="34" charset="-120"/>
              </a:rPr>
              <a:t>原理の差別化を明文化</a:t>
            </a:r>
            <a:endParaRPr lang="en-US" sz="1350" dirty="0"/>
          </a:p>
        </p:txBody>
      </p:sp>
      <p:sp>
        <p:nvSpPr>
          <p:cNvPr id="18" name="Text 16"/>
          <p:cNvSpPr txBox="1"/>
          <p:nvPr/>
        </p:nvSpPr>
        <p:spPr>
          <a:xfrm>
            <a:off x="6464808" y="3566160"/>
            <a:ext cx="5029200" cy="475488"/>
          </a:xfrm>
          <a:prstGeom prst="rect">
            <a:avLst/>
          </a:prstGeom>
          <a:noFill/>
          <a:ln/>
        </p:spPr>
        <p:txBody>
          <a:bodyPr wrap="square" lIns="0" tIns="0" rIns="0" bIns="0" rtlCol="0" anchor="t"/>
          <a:lstStyle/>
          <a:p>
            <a:pPr indent="0" marL="0">
              <a:lnSpc>
                <a:spcPct val="120000"/>
              </a:lnSpc>
              <a:buNone/>
            </a:pPr>
            <a:r>
              <a:rPr lang="en-US" sz="1050" dirty="0">
                <a:solidFill>
                  <a:srgbClr val="5A5F6A"/>
                </a:solidFill>
                <a:latin typeface="Yu Gothic" pitchFamily="34" charset="0"/>
                <a:ea typeface="Yu Gothic" pitchFamily="34" charset="-122"/>
                <a:cs typeface="Yu Gothic" pitchFamily="34" charset="-120"/>
              </a:rPr>
              <a:t>PaTaKaRUSHが「同じ内容のゲーム化」ではないことを技術で説明（AI音声認識による適応型の測定→評価→訓練→再測定ループなど）</a:t>
            </a:r>
            <a:endParaRPr lang="en-US" sz="1050" dirty="0"/>
          </a:p>
        </p:txBody>
      </p:sp>
      <p:sp>
        <p:nvSpPr>
          <p:cNvPr id="19" name="Shape 17"/>
          <p:cNvSpPr/>
          <p:nvPr/>
        </p:nvSpPr>
        <p:spPr>
          <a:xfrm>
            <a:off x="548640" y="4224528"/>
            <a:ext cx="5440680" cy="1353312"/>
          </a:xfrm>
          <a:prstGeom prst="roundRect">
            <a:avLst>
              <a:gd name="adj" fmla="val 4730"/>
            </a:avLst>
          </a:prstGeom>
          <a:solidFill>
            <a:srgbClr val="FFFFFF"/>
          </a:solidFill>
          <a:ln w="12700">
            <a:solidFill>
              <a:srgbClr val="D9DCE3"/>
            </a:solidFill>
            <a:prstDash val="solid"/>
          </a:ln>
        </p:spPr>
      </p:sp>
      <p:sp>
        <p:nvSpPr>
          <p:cNvPr id="20" name="Shape 18"/>
          <p:cNvSpPr/>
          <p:nvPr/>
        </p:nvSpPr>
        <p:spPr>
          <a:xfrm>
            <a:off x="749808" y="4370832"/>
            <a:ext cx="365760" cy="365760"/>
          </a:xfrm>
          <a:prstGeom prst="ellipse">
            <a:avLst/>
          </a:prstGeom>
          <a:solidFill>
            <a:srgbClr val="22456E"/>
          </a:solidFill>
          <a:ln/>
        </p:spPr>
      </p:sp>
      <p:sp>
        <p:nvSpPr>
          <p:cNvPr id="21" name="Text 19"/>
          <p:cNvSpPr txBox="1"/>
          <p:nvPr/>
        </p:nvSpPr>
        <p:spPr>
          <a:xfrm>
            <a:off x="749808" y="4361688"/>
            <a:ext cx="365760"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Yu Mincho" pitchFamily="34" charset="0"/>
                <a:ea typeface="Yu Mincho" pitchFamily="34" charset="-122"/>
                <a:cs typeface="Yu Mincho" pitchFamily="34" charset="-120"/>
              </a:rPr>
              <a:t>3</a:t>
            </a:r>
            <a:endParaRPr lang="en-US" sz="1600" dirty="0"/>
          </a:p>
        </p:txBody>
      </p:sp>
      <p:sp>
        <p:nvSpPr>
          <p:cNvPr id="22" name="Text 20"/>
          <p:cNvSpPr txBox="1"/>
          <p:nvPr/>
        </p:nvSpPr>
        <p:spPr>
          <a:xfrm>
            <a:off x="1188720" y="4389120"/>
            <a:ext cx="822960" cy="320040"/>
          </a:xfrm>
          <a:prstGeom prst="rect">
            <a:avLst/>
          </a:prstGeom>
          <a:noFill/>
          <a:ln/>
        </p:spPr>
        <p:txBody>
          <a:bodyPr wrap="square" lIns="0" tIns="0" rIns="0" bIns="0" rtlCol="0" anchor="ctr"/>
          <a:lstStyle/>
          <a:p>
            <a:pPr indent="0" marL="0">
              <a:buNone/>
            </a:pPr>
            <a:r>
              <a:rPr lang="en-US" sz="900" b="1" spc="200" kern="0" dirty="0">
                <a:solidFill>
                  <a:srgbClr val="5A5F6A"/>
                </a:solidFill>
                <a:latin typeface="Yu Gothic" pitchFamily="34" charset="0"/>
                <a:ea typeface="Yu Gothic" pitchFamily="34" charset="-122"/>
                <a:cs typeface="Yu Gothic" pitchFamily="34" charset="-120"/>
              </a:rPr>
              <a:t>STEP</a:t>
            </a:r>
            <a:endParaRPr lang="en-US" sz="900" dirty="0"/>
          </a:p>
        </p:txBody>
      </p:sp>
      <p:sp>
        <p:nvSpPr>
          <p:cNvPr id="23" name="Text 21"/>
          <p:cNvSpPr txBox="1"/>
          <p:nvPr/>
        </p:nvSpPr>
        <p:spPr>
          <a:xfrm>
            <a:off x="749808" y="4681728"/>
            <a:ext cx="5029200" cy="365760"/>
          </a:xfrm>
          <a:prstGeom prst="rect">
            <a:avLst/>
          </a:prstGeom>
          <a:noFill/>
          <a:ln/>
        </p:spPr>
        <p:txBody>
          <a:bodyPr wrap="square" lIns="0" tIns="0" rIns="0" bIns="0" rtlCol="0" anchor="ctr"/>
          <a:lstStyle/>
          <a:p>
            <a:pPr indent="0" marL="0">
              <a:buNone/>
            </a:pPr>
            <a:r>
              <a:rPr lang="en-US" sz="1350" b="1" dirty="0">
                <a:solidFill>
                  <a:srgbClr val="22456E"/>
                </a:solidFill>
                <a:latin typeface="Yu Gothic" pitchFamily="34" charset="0"/>
                <a:ea typeface="Yu Gothic" pitchFamily="34" charset="-122"/>
                <a:cs typeface="Yu Gothic" pitchFamily="34" charset="-120"/>
              </a:rPr>
              <a:t>裏付けの収集</a:t>
            </a:r>
            <a:endParaRPr lang="en-US" sz="1350" dirty="0"/>
          </a:p>
        </p:txBody>
      </p:sp>
      <p:sp>
        <p:nvSpPr>
          <p:cNvPr id="24" name="Text 22"/>
          <p:cNvSpPr txBox="1"/>
          <p:nvPr/>
        </p:nvSpPr>
        <p:spPr>
          <a:xfrm>
            <a:off x="749808" y="5047488"/>
            <a:ext cx="5029200" cy="475488"/>
          </a:xfrm>
          <a:prstGeom prst="rect">
            <a:avLst/>
          </a:prstGeom>
          <a:noFill/>
          <a:ln/>
        </p:spPr>
        <p:txBody>
          <a:bodyPr wrap="square" lIns="0" tIns="0" rIns="0" bIns="0" rtlCol="0" anchor="t"/>
          <a:lstStyle/>
          <a:p>
            <a:pPr indent="0" marL="0">
              <a:lnSpc>
                <a:spcPct val="120000"/>
              </a:lnSpc>
              <a:buNone/>
            </a:pPr>
            <a:r>
              <a:rPr lang="en-US" sz="1050" dirty="0">
                <a:solidFill>
                  <a:srgbClr val="5A5F6A"/>
                </a:solidFill>
                <a:latin typeface="Yu Gothic" pitchFamily="34" charset="0"/>
                <a:ea typeface="Yu Gothic" pitchFamily="34" charset="-122"/>
                <a:cs typeface="Yu Gothic" pitchFamily="34" charset="-120"/>
              </a:rPr>
              <a:t>特許出願状況、アルゴリズム説明資料、既存データを揃えて主張を補強する</a:t>
            </a:r>
            <a:endParaRPr lang="en-US" sz="1050" dirty="0"/>
          </a:p>
        </p:txBody>
      </p:sp>
      <p:sp>
        <p:nvSpPr>
          <p:cNvPr id="25" name="Shape 23"/>
          <p:cNvSpPr/>
          <p:nvPr/>
        </p:nvSpPr>
        <p:spPr>
          <a:xfrm>
            <a:off x="6263640" y="4224528"/>
            <a:ext cx="5440680" cy="1353312"/>
          </a:xfrm>
          <a:prstGeom prst="roundRect">
            <a:avLst>
              <a:gd name="adj" fmla="val 4730"/>
            </a:avLst>
          </a:prstGeom>
          <a:solidFill>
            <a:srgbClr val="FFFFFF"/>
          </a:solidFill>
          <a:ln w="12700">
            <a:solidFill>
              <a:srgbClr val="D9DCE3"/>
            </a:solidFill>
            <a:prstDash val="solid"/>
          </a:ln>
        </p:spPr>
      </p:sp>
      <p:sp>
        <p:nvSpPr>
          <p:cNvPr id="26" name="Shape 24"/>
          <p:cNvSpPr/>
          <p:nvPr/>
        </p:nvSpPr>
        <p:spPr>
          <a:xfrm>
            <a:off x="6464808" y="4370832"/>
            <a:ext cx="365760" cy="365760"/>
          </a:xfrm>
          <a:prstGeom prst="ellipse">
            <a:avLst/>
          </a:prstGeom>
          <a:solidFill>
            <a:srgbClr val="22456E"/>
          </a:solidFill>
          <a:ln/>
        </p:spPr>
      </p:sp>
      <p:sp>
        <p:nvSpPr>
          <p:cNvPr id="27" name="Text 25"/>
          <p:cNvSpPr txBox="1"/>
          <p:nvPr/>
        </p:nvSpPr>
        <p:spPr>
          <a:xfrm>
            <a:off x="6464808" y="4361688"/>
            <a:ext cx="365760"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Yu Mincho" pitchFamily="34" charset="0"/>
                <a:ea typeface="Yu Mincho" pitchFamily="34" charset="-122"/>
                <a:cs typeface="Yu Mincho" pitchFamily="34" charset="-120"/>
              </a:rPr>
              <a:t>4</a:t>
            </a:r>
            <a:endParaRPr lang="en-US" sz="1600" dirty="0"/>
          </a:p>
        </p:txBody>
      </p:sp>
      <p:sp>
        <p:nvSpPr>
          <p:cNvPr id="28" name="Text 26"/>
          <p:cNvSpPr txBox="1"/>
          <p:nvPr/>
        </p:nvSpPr>
        <p:spPr>
          <a:xfrm>
            <a:off x="6903720" y="4389120"/>
            <a:ext cx="822960" cy="320040"/>
          </a:xfrm>
          <a:prstGeom prst="rect">
            <a:avLst/>
          </a:prstGeom>
          <a:noFill/>
          <a:ln/>
        </p:spPr>
        <p:txBody>
          <a:bodyPr wrap="square" lIns="0" tIns="0" rIns="0" bIns="0" rtlCol="0" anchor="ctr"/>
          <a:lstStyle/>
          <a:p>
            <a:pPr indent="0" marL="0">
              <a:buNone/>
            </a:pPr>
            <a:r>
              <a:rPr lang="en-US" sz="900" b="1" spc="200" kern="0" dirty="0">
                <a:solidFill>
                  <a:srgbClr val="5A5F6A"/>
                </a:solidFill>
                <a:latin typeface="Yu Gothic" pitchFamily="34" charset="0"/>
                <a:ea typeface="Yu Gothic" pitchFamily="34" charset="-122"/>
                <a:cs typeface="Yu Gothic" pitchFamily="34" charset="-120"/>
              </a:rPr>
              <a:t>STEP</a:t>
            </a:r>
            <a:endParaRPr lang="en-US" sz="900" dirty="0"/>
          </a:p>
        </p:txBody>
      </p:sp>
      <p:sp>
        <p:nvSpPr>
          <p:cNvPr id="29" name="Text 27"/>
          <p:cNvSpPr txBox="1"/>
          <p:nvPr/>
        </p:nvSpPr>
        <p:spPr>
          <a:xfrm>
            <a:off x="6464808" y="4681728"/>
            <a:ext cx="5029200" cy="365760"/>
          </a:xfrm>
          <a:prstGeom prst="rect">
            <a:avLst/>
          </a:prstGeom>
          <a:noFill/>
          <a:ln/>
        </p:spPr>
        <p:txBody>
          <a:bodyPr wrap="square" lIns="0" tIns="0" rIns="0" bIns="0" rtlCol="0" anchor="ctr"/>
          <a:lstStyle/>
          <a:p>
            <a:pPr indent="0" marL="0">
              <a:buNone/>
            </a:pPr>
            <a:r>
              <a:rPr lang="en-US" sz="1350" b="1" dirty="0">
                <a:solidFill>
                  <a:srgbClr val="22456E"/>
                </a:solidFill>
                <a:latin typeface="Yu Gothic" pitchFamily="34" charset="0"/>
                <a:ea typeface="Yu Gothic" pitchFamily="34" charset="-122"/>
                <a:cs typeface="Yu Gothic" pitchFamily="34" charset="-120"/>
              </a:rPr>
              <a:t>ストーリー化</a:t>
            </a:r>
            <a:endParaRPr lang="en-US" sz="1350" dirty="0"/>
          </a:p>
        </p:txBody>
      </p:sp>
      <p:sp>
        <p:nvSpPr>
          <p:cNvPr id="30" name="Text 28"/>
          <p:cNvSpPr txBox="1"/>
          <p:nvPr/>
        </p:nvSpPr>
        <p:spPr>
          <a:xfrm>
            <a:off x="6464808" y="5047488"/>
            <a:ext cx="5029200" cy="475488"/>
          </a:xfrm>
          <a:prstGeom prst="rect">
            <a:avLst/>
          </a:prstGeom>
          <a:noFill/>
          <a:ln/>
        </p:spPr>
        <p:txBody>
          <a:bodyPr wrap="square" lIns="0" tIns="0" rIns="0" bIns="0" rtlCol="0" anchor="t"/>
          <a:lstStyle/>
          <a:p>
            <a:pPr indent="0" marL="0">
              <a:lnSpc>
                <a:spcPct val="120000"/>
              </a:lnSpc>
              <a:buNone/>
            </a:pPr>
            <a:r>
              <a:rPr lang="en-US" sz="1050" dirty="0">
                <a:solidFill>
                  <a:srgbClr val="5A5F6A"/>
                </a:solidFill>
                <a:latin typeface="Yu Gothic" pitchFamily="34" charset="0"/>
                <a:ea typeface="Yu Gothic" pitchFamily="34" charset="-122"/>
                <a:cs typeface="Yu Gothic" pitchFamily="34" charset="-120"/>
              </a:rPr>
              <a:t>「患者指導の焼き直しに画期性なし」という通知の但し書きへの回答を1枚にまとめ、ヒアリングで話せる形に</a:t>
            </a:r>
            <a:endParaRPr lang="en-US" sz="1050" dirty="0"/>
          </a:p>
        </p:txBody>
      </p:sp>
      <p:sp>
        <p:nvSpPr>
          <p:cNvPr id="31" name="Shape 29"/>
          <p:cNvSpPr/>
          <p:nvPr/>
        </p:nvSpPr>
        <p:spPr>
          <a:xfrm>
            <a:off x="548640" y="5806440"/>
            <a:ext cx="11064240" cy="566928"/>
          </a:xfrm>
          <a:prstGeom prst="roundRect">
            <a:avLst>
              <a:gd name="adj" fmla="val 9677"/>
            </a:avLst>
          </a:prstGeom>
          <a:solidFill>
            <a:srgbClr val="FFFFFF"/>
          </a:solidFill>
          <a:ln w="15875">
            <a:solidFill>
              <a:srgbClr val="22456E"/>
            </a:solidFill>
            <a:prstDash val="solid"/>
          </a:ln>
        </p:spPr>
      </p:sp>
      <p:sp>
        <p:nvSpPr>
          <p:cNvPr id="32" name="Text 30"/>
          <p:cNvSpPr txBox="1"/>
          <p:nvPr/>
        </p:nvSpPr>
        <p:spPr>
          <a:xfrm>
            <a:off x="822960" y="5870448"/>
            <a:ext cx="10515600" cy="438912"/>
          </a:xfrm>
          <a:prstGeom prst="rect">
            <a:avLst/>
          </a:prstGeom>
          <a:noFill/>
          <a:ln/>
        </p:spPr>
        <p:txBody>
          <a:bodyPr wrap="square" lIns="0" tIns="0" rIns="0" bIns="0" rtlCol="0" anchor="ctr"/>
          <a:lstStyle/>
          <a:p>
            <a:pPr indent="0" marL="0">
              <a:buNone/>
            </a:pPr>
            <a:r>
              <a:rPr lang="en-US" sz="1300" b="1" dirty="0">
                <a:solidFill>
                  <a:srgbClr val="22456E"/>
                </a:solidFill>
                <a:latin typeface="Yu Gothic" pitchFamily="34" charset="0"/>
                <a:ea typeface="Yu Gothic" pitchFamily="34" charset="-122"/>
                <a:cs typeface="Yu Gothic" pitchFamily="34" charset="-120"/>
              </a:rPr>
              <a:t>成果物：画期性説明資料（骨子v0.1作成済み → v1.0へ）　　</a:t>
            </a:r>
            <a:pPr indent="0" marL="0">
              <a:buNone/>
            </a:pPr>
            <a:r>
              <a:rPr lang="en-US" sz="1300" dirty="0">
                <a:solidFill>
                  <a:srgbClr val="22252B"/>
                </a:solidFill>
                <a:latin typeface="Yu Gothic" pitchFamily="34" charset="0"/>
                <a:ea typeface="Yu Gothic" pitchFamily="34" charset="-122"/>
                <a:cs typeface="Yu Gothic" pitchFamily="34" charset="-120"/>
              </a:rPr>
              <a:t>担当：　　　　　　　　期限：　　　　　　　（本日この場で記入）</a:t>
            </a:r>
            <a:endParaRPr lang="en-US" sz="1300" dirty="0"/>
          </a:p>
        </p:txBody>
      </p:sp>
      <p:sp>
        <p:nvSpPr>
          <p:cNvPr id="33" name="Text 31"/>
          <p:cNvSpPr txBox="1"/>
          <p:nvPr/>
        </p:nvSpPr>
        <p:spPr>
          <a:xfrm>
            <a:off x="11430000" y="6473952"/>
            <a:ext cx="457200" cy="274320"/>
          </a:xfrm>
          <a:prstGeom prst="rect">
            <a:avLst/>
          </a:prstGeom>
          <a:noFill/>
          <a:ln/>
        </p:spPr>
        <p:txBody>
          <a:bodyPr wrap="square" lIns="0" tIns="0" rIns="0" bIns="0" rtlCol="0" anchor="ctr"/>
          <a:lstStyle/>
          <a:p>
            <a:pPr algn="r" indent="0" marL="0">
              <a:buNone/>
            </a:pPr>
            <a:r>
              <a:rPr lang="en-US" sz="1000" dirty="0">
                <a:solidFill>
                  <a:srgbClr val="5A5F6A"/>
                </a:solidFill>
                <a:latin typeface="Yu Gothic" pitchFamily="34" charset="0"/>
                <a:ea typeface="Yu Gothic" pitchFamily="34" charset="-122"/>
                <a:cs typeface="Yu Gothic"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8304E"/>
        </a:solidFill>
      </p:bgPr>
    </p:bg>
    <p:spTree>
      <p:nvGrpSpPr>
        <p:cNvPr id="1" name=""/>
        <p:cNvGrpSpPr/>
        <p:nvPr/>
      </p:nvGrpSpPr>
      <p:grpSpPr>
        <a:xfrm>
          <a:off x="0" y="0"/>
          <a:ext cx="0" cy="0"/>
          <a:chOff x="0" y="0"/>
          <a:chExt cx="0" cy="0"/>
        </a:xfrm>
      </p:grpSpPr>
      <p:sp>
        <p:nvSpPr>
          <p:cNvPr id="2" name="Text 0"/>
          <p:cNvSpPr txBox="1"/>
          <p:nvPr/>
        </p:nvSpPr>
        <p:spPr>
          <a:xfrm>
            <a:off x="822960" y="1051560"/>
            <a:ext cx="10515600" cy="365760"/>
          </a:xfrm>
          <a:prstGeom prst="rect">
            <a:avLst/>
          </a:prstGeom>
          <a:noFill/>
          <a:ln/>
        </p:spPr>
        <p:txBody>
          <a:bodyPr wrap="square" lIns="0" tIns="0" rIns="0" bIns="0" rtlCol="0" anchor="ctr"/>
          <a:lstStyle/>
          <a:p>
            <a:pPr indent="0" marL="0">
              <a:buNone/>
            </a:pPr>
            <a:r>
              <a:rPr lang="en-US" sz="1400" b="1" spc="400" kern="0" dirty="0">
                <a:solidFill>
                  <a:srgbClr val="9DB8DA"/>
                </a:solidFill>
                <a:latin typeface="Yu Gothic" pitchFamily="34" charset="0"/>
                <a:ea typeface="Yu Gothic" pitchFamily="34" charset="-122"/>
                <a:cs typeface="Yu Gothic" pitchFamily="34" charset="-120"/>
              </a:rPr>
              <a:t>Next Steps</a:t>
            </a:r>
            <a:endParaRPr lang="en-US" sz="1400" dirty="0"/>
          </a:p>
        </p:txBody>
      </p:sp>
      <p:sp>
        <p:nvSpPr>
          <p:cNvPr id="3" name="Text 1"/>
          <p:cNvSpPr txBox="1"/>
          <p:nvPr/>
        </p:nvSpPr>
        <p:spPr>
          <a:xfrm>
            <a:off x="822960" y="1554480"/>
            <a:ext cx="10515600" cy="1554480"/>
          </a:xfrm>
          <a:prstGeom prst="rect">
            <a:avLst/>
          </a:prstGeom>
          <a:noFill/>
          <a:ln/>
        </p:spPr>
        <p:txBody>
          <a:bodyPr wrap="square" lIns="0" tIns="0" rIns="0" bIns="0" rtlCol="0" anchor="ctr"/>
          <a:lstStyle/>
          <a:p>
            <a:pPr indent="0" marL="0">
              <a:lnSpc>
                <a:spcPct val="135000"/>
              </a:lnSpc>
              <a:buNone/>
            </a:pPr>
            <a:r>
              <a:rPr lang="en-US" sz="3000" b="1" dirty="0">
                <a:solidFill>
                  <a:srgbClr val="FFFFFF"/>
                </a:solidFill>
                <a:latin typeface="Yu Mincho" pitchFamily="34" charset="0"/>
                <a:ea typeface="Yu Mincho" pitchFamily="34" charset="-122"/>
                <a:cs typeface="Yu Mincho" pitchFamily="34" charset="-120"/>
              </a:rPr>
              <a:t>要件1のストーリーと要件2のデータ。</a:t>
            </a:r>
            <a:endParaRPr lang="en-US" sz="3000" dirty="0"/>
          </a:p>
          <a:p>
            <a:pPr indent="0" marL="0">
              <a:lnSpc>
                <a:spcPct val="135000"/>
              </a:lnSpc>
              <a:buNone/>
            </a:pPr>
            <a:r>
              <a:rPr lang="en-US" sz="3000" b="1" dirty="0">
                <a:solidFill>
                  <a:srgbClr val="FFFFFF"/>
                </a:solidFill>
                <a:latin typeface="Yu Mincho" pitchFamily="34" charset="0"/>
                <a:ea typeface="Yu Mincho" pitchFamily="34" charset="-122"/>
                <a:cs typeface="Yu Mincho" pitchFamily="34" charset="-120"/>
              </a:rPr>
              <a:t>この2つが揃った時が、様式1を出す時。</a:t>
            </a:r>
            <a:endParaRPr lang="en-US" sz="3000" dirty="0"/>
          </a:p>
        </p:txBody>
      </p:sp>
      <p:sp>
        <p:nvSpPr>
          <p:cNvPr id="4" name="Text 2"/>
          <p:cNvSpPr txBox="1"/>
          <p:nvPr/>
        </p:nvSpPr>
        <p:spPr>
          <a:xfrm>
            <a:off x="822960" y="3383280"/>
            <a:ext cx="10515600" cy="1463040"/>
          </a:xfrm>
          <a:prstGeom prst="rect">
            <a:avLst/>
          </a:prstGeom>
          <a:noFill/>
          <a:ln/>
        </p:spPr>
        <p:txBody>
          <a:bodyPr wrap="square" lIns="0" tIns="0" rIns="0" bIns="0" rtlCol="0" anchor="ctr"/>
          <a:lstStyle/>
          <a:p>
            <a:pPr marL="152400" indent="-152400">
              <a:lnSpc>
                <a:spcPct val="130000"/>
              </a:lnSpc>
              <a:spcAft>
                <a:spcPts val="1000"/>
              </a:spcAft>
              <a:buSzPct val="100000"/>
              <a:buChar char="•"/>
            </a:pPr>
            <a:r>
              <a:rPr lang="en-US" sz="1500" dirty="0">
                <a:solidFill>
                  <a:srgbClr val="E8ECF4"/>
                </a:solidFill>
                <a:latin typeface="Yu Gothic" pitchFamily="34" charset="0"/>
                <a:ea typeface="Yu Gothic" pitchFamily="34" charset="-122"/>
                <a:cs typeface="Yu Gothic" pitchFamily="34" charset="-120"/>
              </a:rPr>
              <a:t>最優先タスク「要件1（画期性）の検討」に担当・期限を設定し、着手する</a:t>
            </a:r>
            <a:endParaRPr lang="en-US" sz="1500" dirty="0"/>
          </a:p>
          <a:p>
            <a:pPr marL="152400" indent="-152400">
              <a:lnSpc>
                <a:spcPct val="130000"/>
              </a:lnSpc>
              <a:spcAft>
                <a:spcPts val="1000"/>
              </a:spcAft>
              <a:buSzPct val="100000"/>
              <a:buChar char="•"/>
            </a:pPr>
            <a:r>
              <a:rPr lang="en-US" sz="1500" dirty="0">
                <a:solidFill>
                  <a:srgbClr val="E8ECF4"/>
                </a:solidFill>
                <a:latin typeface="Yu Gothic" pitchFamily="34" charset="0"/>
                <a:ea typeface="Yu Gothic" pitchFamily="34" charset="-122"/>
                <a:cs typeface="Yu Gothic" pitchFamily="34" charset="-120"/>
              </a:rPr>
              <a:t>検討結果（画期性説明資料ドラフト）を次回会議でレビュー</a:t>
            </a:r>
            <a:endParaRPr lang="en-US" sz="1500" dirty="0"/>
          </a:p>
          <a:p>
            <a:pPr marL="152400" indent="-152400">
              <a:lnSpc>
                <a:spcPct val="130000"/>
              </a:lnSpc>
              <a:spcAft>
                <a:spcPts val="1000"/>
              </a:spcAft>
              <a:buSzPct val="100000"/>
              <a:buChar char="•"/>
            </a:pPr>
            <a:r>
              <a:rPr lang="en-US" sz="1500" dirty="0">
                <a:solidFill>
                  <a:srgbClr val="E8ECF4"/>
                </a:solidFill>
                <a:latin typeface="Yu Gothic" pitchFamily="34" charset="0"/>
                <a:ea typeface="Yu Gothic" pitchFamily="34" charset="-122"/>
                <a:cs typeface="Yu Gothic" pitchFamily="34" charset="-120"/>
              </a:rPr>
              <a:t>要件1の整理が固まり次第、類似品調査と探索的臨床研究の計画に進む</a:t>
            </a:r>
            <a:endParaRPr lang="en-US" sz="1500" dirty="0"/>
          </a:p>
        </p:txBody>
      </p:sp>
      <p:sp>
        <p:nvSpPr>
          <p:cNvPr id="5" name="Shape 3"/>
          <p:cNvSpPr/>
          <p:nvPr/>
        </p:nvSpPr>
        <p:spPr>
          <a:xfrm>
            <a:off x="822960" y="5212080"/>
            <a:ext cx="10515600" cy="0"/>
          </a:xfrm>
          <a:prstGeom prst="line">
            <a:avLst/>
          </a:prstGeom>
          <a:noFill/>
          <a:ln w="12700">
            <a:solidFill>
              <a:srgbClr val="3D5173"/>
            </a:solidFill>
            <a:prstDash val="solid"/>
          </a:ln>
        </p:spPr>
      </p:sp>
      <p:sp>
        <p:nvSpPr>
          <p:cNvPr id="6" name="Text 4"/>
          <p:cNvSpPr txBox="1"/>
          <p:nvPr/>
        </p:nvSpPr>
        <p:spPr>
          <a:xfrm>
            <a:off x="822960" y="5440680"/>
            <a:ext cx="10515600" cy="1097280"/>
          </a:xfrm>
          <a:prstGeom prst="rect">
            <a:avLst/>
          </a:prstGeom>
          <a:noFill/>
          <a:ln/>
        </p:spPr>
        <p:txBody>
          <a:bodyPr wrap="square" lIns="0" tIns="0" rIns="0" bIns="0" rtlCol="0" anchor="t"/>
          <a:lstStyle/>
          <a:p>
            <a:pPr indent="0" marL="0">
              <a:lnSpc>
                <a:spcPct val="135000"/>
              </a:lnSpc>
              <a:buNone/>
            </a:pPr>
            <a:r>
              <a:rPr lang="en-US" sz="1100" b="1" dirty="0">
                <a:solidFill>
                  <a:srgbClr val="9DB8DA"/>
                </a:solidFill>
                <a:latin typeface="Yu Gothic" pitchFamily="34" charset="0"/>
                <a:ea typeface="Yu Gothic" pitchFamily="34" charset="-122"/>
                <a:cs typeface="Yu Gothic" pitchFamily="34" charset="-120"/>
              </a:rPr>
              <a:t>出典・関連資料
</a:t>
            </a:r>
            <a:pPr indent="0" marL="0">
              <a:lnSpc>
                <a:spcPct val="135000"/>
              </a:lnSpc>
              <a:buNone/>
            </a:pPr>
            <a:r>
              <a:rPr lang="en-US" sz="1050" dirty="0">
                <a:solidFill>
                  <a:srgbClr val="AAB6C9"/>
                </a:solidFill>
                <a:latin typeface="Yu Gothic" pitchFamily="34" charset="0"/>
                <a:ea typeface="Yu Gothic" pitchFamily="34" charset="-122"/>
                <a:cs typeface="Yu Gothic" pitchFamily="34" charset="-120"/>
              </a:rPr>
              <a:t>医薬機審発0615第1号（令和8年6月15日）／ docs/regulatory/08_優先審査指定制度.md ／ 07_先行事例.md（ENDEAVORRIDE・EndeavorRx）／ 01_製品情報.md</a:t>
            </a:r>
            <a:endParaRPr lang="en-US" sz="1100" dirty="0"/>
          </a:p>
          <a:p>
            <a:pPr indent="0" marL="0">
              <a:lnSpc>
                <a:spcPct val="135000"/>
              </a:lnSpc>
              <a:buNone/>
            </a:pPr>
            <a:r>
              <a:rPr lang="en-US" sz="1050" dirty="0">
                <a:solidFill>
                  <a:srgbClr val="AAB6C9"/>
                </a:solidFill>
                <a:latin typeface="Yu Gothic" pitchFamily="34" charset="0"/>
                <a:ea typeface="Yu Gothic" pitchFamily="34" charset="-122"/>
                <a:cs typeface="Yu Gothic" pitchFamily="34" charset="-120"/>
              </a:rPr>
              <a:t>本資料の制度解釈は通知の読解に基づく整理です。指定申請前に厚労省医療機器審査管理課・PMDAへの確認を推奨します。</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2026-09-12T08:57:42Z</dcterms:created>
  <dcterms:modified xsi:type="dcterms:W3CDTF">2026-09-12T08:57:42Z</dcterms:modified>
</cp:coreProperties>
</file>