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04E"/>
        </a:solidFill>
      </p:bgPr>
    </p:bg>
    <p:spTree>
      <p:nvGrpSpPr>
        <p:cNvPr id="1" name=""/>
        <p:cNvGrpSpPr/>
        <p:nvPr/>
      </p:nvGrpSpPr>
      <p:grpSpPr>
        <a:xfrm>
          <a:off x="0" y="0"/>
          <a:ext cx="0" cy="0"/>
          <a:chOff x="0" y="0"/>
          <a:chExt cx="0" cy="0"/>
        </a:xfrm>
      </p:grpSpPr>
      <p:sp>
        <p:nvSpPr>
          <p:cNvPr id="2" name="Text 0"/>
          <p:cNvSpPr txBox="1"/>
          <p:nvPr/>
        </p:nvSpPr>
        <p:spPr>
          <a:xfrm>
            <a:off x="822960" y="1371600"/>
            <a:ext cx="10515600" cy="365760"/>
          </a:xfrm>
          <a:prstGeom prst="rect">
            <a:avLst/>
          </a:prstGeom>
          <a:noFill/>
          <a:ln/>
        </p:spPr>
        <p:txBody>
          <a:bodyPr wrap="square" lIns="0" tIns="0" rIns="0" bIns="0" rtlCol="0" anchor="ctr"/>
          <a:lstStyle/>
          <a:p>
            <a:pPr indent="0" marL="0">
              <a:buNone/>
            </a:pPr>
            <a:r>
              <a:rPr lang="en-US" sz="1400" b="1" spc="400" kern="0" dirty="0">
                <a:solidFill>
                  <a:srgbClr val="9DB8DA"/>
                </a:solidFill>
                <a:latin typeface="Yu Gothic" pitchFamily="34" charset="0"/>
                <a:ea typeface="Yu Gothic" pitchFamily="34" charset="-122"/>
                <a:cs typeface="Yu Gothic" pitchFamily="34" charset="-120"/>
              </a:rPr>
              <a:t>PaTaKaRUSH Pro 薬事戦略プロジェクト</a:t>
            </a:r>
            <a:endParaRPr lang="en-US" sz="1400" dirty="0"/>
          </a:p>
        </p:txBody>
      </p:sp>
      <p:sp>
        <p:nvSpPr>
          <p:cNvPr id="3" name="Text 1"/>
          <p:cNvSpPr txBox="1"/>
          <p:nvPr/>
        </p:nvSpPr>
        <p:spPr>
          <a:xfrm>
            <a:off x="822960" y="1874520"/>
            <a:ext cx="10515600" cy="1005840"/>
          </a:xfrm>
          <a:prstGeom prst="rect">
            <a:avLst/>
          </a:prstGeom>
          <a:noFill/>
          <a:ln/>
        </p:spPr>
        <p:txBody>
          <a:bodyPr wrap="square" lIns="0" tIns="0" rIns="0" bIns="0" rtlCol="0" anchor="ctr"/>
          <a:lstStyle/>
          <a:p>
            <a:pPr indent="0" marL="0">
              <a:buNone/>
            </a:pPr>
            <a:r>
              <a:rPr lang="en-US" sz="4000" b="1" dirty="0">
                <a:solidFill>
                  <a:srgbClr val="FFFFFF"/>
                </a:solidFill>
                <a:latin typeface="Yu Mincho" pitchFamily="34" charset="0"/>
                <a:ea typeface="Yu Mincho" pitchFamily="34" charset="-122"/>
                <a:cs typeface="Yu Mincho" pitchFamily="34" charset="-120"/>
              </a:rPr>
              <a:t>優先審査指定 第2回検討会議</a:t>
            </a:r>
            <a:endParaRPr lang="en-US" sz="4000" dirty="0"/>
          </a:p>
        </p:txBody>
      </p:sp>
      <p:sp>
        <p:nvSpPr>
          <p:cNvPr id="4" name="Text 2"/>
          <p:cNvSpPr txBox="1"/>
          <p:nvPr/>
        </p:nvSpPr>
        <p:spPr>
          <a:xfrm>
            <a:off x="822960" y="3017520"/>
            <a:ext cx="10515600" cy="457200"/>
          </a:xfrm>
          <a:prstGeom prst="rect">
            <a:avLst/>
          </a:prstGeom>
          <a:noFill/>
          <a:ln/>
        </p:spPr>
        <p:txBody>
          <a:bodyPr wrap="square" lIns="0" tIns="0" rIns="0" bIns="0" rtlCol="0" anchor="ctr"/>
          <a:lstStyle/>
          <a:p>
            <a:pPr indent="0" marL="0">
              <a:buNone/>
            </a:pPr>
            <a:r>
              <a:rPr lang="en-US" sz="1600" dirty="0">
                <a:solidFill>
                  <a:srgbClr val="CADCFC"/>
                </a:solidFill>
                <a:latin typeface="Yu Gothic" pitchFamily="34" charset="0"/>
                <a:ea typeface="Yu Gothic" pitchFamily="34" charset="-122"/>
                <a:cs typeface="Yu Gothic" pitchFamily="34" charset="-120"/>
              </a:rPr>
              <a:t>前回（9/1）決定事項の確認と、重点カテゴリ（スタートライン）の決定</a:t>
            </a:r>
            <a:endParaRPr lang="en-US" sz="1600" dirty="0"/>
          </a:p>
        </p:txBody>
      </p:sp>
      <p:sp>
        <p:nvSpPr>
          <p:cNvPr id="5" name="Shape 3"/>
          <p:cNvSpPr/>
          <p:nvPr/>
        </p:nvSpPr>
        <p:spPr>
          <a:xfrm>
            <a:off x="822960" y="4023360"/>
            <a:ext cx="10515600" cy="0"/>
          </a:xfrm>
          <a:prstGeom prst="line">
            <a:avLst/>
          </a:prstGeom>
          <a:noFill/>
          <a:ln w="12700">
            <a:solidFill>
              <a:srgbClr val="3D5173"/>
            </a:solidFill>
            <a:prstDash val="solid"/>
          </a:ln>
        </p:spPr>
      </p:sp>
      <p:sp>
        <p:nvSpPr>
          <p:cNvPr id="6" name="Text 4"/>
          <p:cNvSpPr txBox="1"/>
          <p:nvPr/>
        </p:nvSpPr>
        <p:spPr>
          <a:xfrm>
            <a:off x="822960" y="4297680"/>
            <a:ext cx="192024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前回会議</a:t>
            </a:r>
            <a:endParaRPr lang="en-US" sz="1100" dirty="0"/>
          </a:p>
        </p:txBody>
      </p:sp>
      <p:sp>
        <p:nvSpPr>
          <p:cNvPr id="7" name="Text 5"/>
          <p:cNvSpPr txBox="1"/>
          <p:nvPr/>
        </p:nvSpPr>
        <p:spPr>
          <a:xfrm>
            <a:off x="2834640" y="4297680"/>
            <a:ext cx="850392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2026年9月1日（出席: 西願・十河・辻野）議事録: docs/regulatory/12</a:t>
            </a:r>
            <a:endParaRPr lang="en-US" sz="1200" dirty="0"/>
          </a:p>
        </p:txBody>
      </p:sp>
      <p:sp>
        <p:nvSpPr>
          <p:cNvPr id="8" name="Text 6"/>
          <p:cNvSpPr txBox="1"/>
          <p:nvPr/>
        </p:nvSpPr>
        <p:spPr>
          <a:xfrm>
            <a:off x="822960" y="4681728"/>
            <a:ext cx="192024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本資料作成日</a:t>
            </a:r>
            <a:endParaRPr lang="en-US" sz="1100" dirty="0"/>
          </a:p>
        </p:txBody>
      </p:sp>
      <p:sp>
        <p:nvSpPr>
          <p:cNvPr id="9" name="Text 7"/>
          <p:cNvSpPr txBox="1"/>
          <p:nvPr/>
        </p:nvSpPr>
        <p:spPr>
          <a:xfrm>
            <a:off x="2834640" y="4681728"/>
            <a:ext cx="850392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2026年9月12日</a:t>
            </a:r>
            <a:endParaRPr lang="en-US" sz="1200" dirty="0"/>
          </a:p>
        </p:txBody>
      </p:sp>
      <p:sp>
        <p:nvSpPr>
          <p:cNvPr id="10" name="Text 8"/>
          <p:cNvSpPr txBox="1"/>
          <p:nvPr/>
        </p:nvSpPr>
        <p:spPr>
          <a:xfrm>
            <a:off x="822960" y="5065776"/>
            <a:ext cx="1920240" cy="320040"/>
          </a:xfrm>
          <a:prstGeom prst="rect">
            <a:avLst/>
          </a:prstGeom>
          <a:noFill/>
          <a:ln/>
        </p:spPr>
        <p:txBody>
          <a:bodyPr wrap="square" lIns="0" tIns="0" rIns="0" bIns="0" rtlCol="0" anchor="ctr"/>
          <a:lstStyle/>
          <a:p>
            <a:pPr indent="0" marL="0">
              <a:buNone/>
            </a:pPr>
            <a:r>
              <a:rPr lang="en-US" sz="1100" dirty="0">
                <a:solidFill>
                  <a:srgbClr val="8FA9CC"/>
                </a:solidFill>
                <a:latin typeface="Yu Gothic" pitchFamily="34" charset="0"/>
                <a:ea typeface="Yu Gothic" pitchFamily="34" charset="-122"/>
                <a:cs typeface="Yu Gothic" pitchFamily="34" charset="-120"/>
              </a:rPr>
              <a:t>販売名（決定）</a:t>
            </a:r>
            <a:endParaRPr lang="en-US" sz="1100" dirty="0"/>
          </a:p>
        </p:txBody>
      </p:sp>
      <p:sp>
        <p:nvSpPr>
          <p:cNvPr id="11" name="Text 9"/>
          <p:cNvSpPr txBox="1"/>
          <p:nvPr/>
        </p:nvSpPr>
        <p:spPr>
          <a:xfrm>
            <a:off x="2834640" y="5065776"/>
            <a:ext cx="8503920" cy="320040"/>
          </a:xfrm>
          <a:prstGeom prst="rect">
            <a:avLst/>
          </a:prstGeom>
          <a:noFill/>
          <a:ln/>
        </p:spPr>
        <p:txBody>
          <a:bodyPr wrap="square" lIns="0" tIns="0" rIns="0" bIns="0" rtlCol="0" anchor="ctr"/>
          <a:lstStyle/>
          <a:p>
            <a:pPr indent="0" marL="0">
              <a:buNone/>
            </a:pPr>
            <a:r>
              <a:rPr lang="en-US" sz="1200" dirty="0">
                <a:solidFill>
                  <a:srgbClr val="E8ECF4"/>
                </a:solidFill>
                <a:latin typeface="Yu Gothic" pitchFamily="34" charset="0"/>
                <a:ea typeface="Yu Gothic" pitchFamily="34" charset="-122"/>
                <a:cs typeface="Yu Gothic" pitchFamily="34" charset="-120"/>
              </a:rPr>
              <a:t>PaTaKaRUSH Pro（医療機器版として一般製品と区別）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1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前回（9/1）の決定事項</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Pro 薬事戦略プロジェクト｜優先審査指定 第2回検討会議</a:t>
            </a:r>
            <a:endParaRPr lang="en-US" sz="900" dirty="0"/>
          </a:p>
        </p:txBody>
      </p:sp>
      <p:sp>
        <p:nvSpPr>
          <p:cNvPr id="5" name="Shape 3"/>
          <p:cNvSpPr/>
          <p:nvPr/>
        </p:nvSpPr>
        <p:spPr>
          <a:xfrm>
            <a:off x="548640" y="1645920"/>
            <a:ext cx="5440680" cy="1426464"/>
          </a:xfrm>
          <a:prstGeom prst="roundRect">
            <a:avLst>
              <a:gd name="adj" fmla="val 4487"/>
            </a:avLst>
          </a:prstGeom>
          <a:solidFill>
            <a:srgbClr val="EAF0F7"/>
          </a:solidFill>
          <a:ln w="12700">
            <a:solidFill>
              <a:srgbClr val="B9C9DE"/>
            </a:solidFill>
            <a:prstDash val="solid"/>
          </a:ln>
        </p:spPr>
      </p:sp>
      <p:sp>
        <p:nvSpPr>
          <p:cNvPr id="6" name="Text 4"/>
          <p:cNvSpPr txBox="1"/>
          <p:nvPr/>
        </p:nvSpPr>
        <p:spPr>
          <a:xfrm>
            <a:off x="804672" y="1773936"/>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画期性の軸</a:t>
            </a:r>
            <a:endParaRPr lang="en-US" sz="1450" dirty="0"/>
          </a:p>
        </p:txBody>
      </p:sp>
      <p:sp>
        <p:nvSpPr>
          <p:cNvPr id="7" name="Text 5"/>
          <p:cNvSpPr txBox="1"/>
          <p:nvPr/>
        </p:nvSpPr>
        <p:spPr>
          <a:xfrm>
            <a:off x="804672" y="2148840"/>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検査・治療（予防を含む）の一体的提供で申請を進める。「予防」単独の効能主張は長期エビデンスが必要なため、表現は「治療（予防を含む）」に留める</a:t>
            </a:r>
            <a:endParaRPr lang="en-US" sz="1050" dirty="0"/>
          </a:p>
        </p:txBody>
      </p:sp>
      <p:sp>
        <p:nvSpPr>
          <p:cNvPr id="8" name="Shape 6"/>
          <p:cNvSpPr/>
          <p:nvPr/>
        </p:nvSpPr>
        <p:spPr>
          <a:xfrm>
            <a:off x="6263640" y="1645920"/>
            <a:ext cx="5440680" cy="1426464"/>
          </a:xfrm>
          <a:prstGeom prst="roundRect">
            <a:avLst>
              <a:gd name="adj" fmla="val 4487"/>
            </a:avLst>
          </a:prstGeom>
          <a:solidFill>
            <a:srgbClr val="EAF0F7"/>
          </a:solidFill>
          <a:ln w="12700">
            <a:solidFill>
              <a:srgbClr val="B9C9DE"/>
            </a:solidFill>
            <a:prstDash val="solid"/>
          </a:ln>
        </p:spPr>
      </p:sp>
      <p:sp>
        <p:nvSpPr>
          <p:cNvPr id="9" name="Text 7"/>
          <p:cNvSpPr txBox="1"/>
          <p:nvPr/>
        </p:nvSpPr>
        <p:spPr>
          <a:xfrm>
            <a:off x="6519672" y="1773936"/>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販売名</a:t>
            </a:r>
            <a:endParaRPr lang="en-US" sz="1450" dirty="0"/>
          </a:p>
        </p:txBody>
      </p:sp>
      <p:sp>
        <p:nvSpPr>
          <p:cNvPr id="10" name="Text 8"/>
          <p:cNvSpPr txBox="1"/>
          <p:nvPr/>
        </p:nvSpPr>
        <p:spPr>
          <a:xfrm>
            <a:off x="6519672" y="2148840"/>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医療機器版は「PaTaKaRUSH Pro」。一般向けアプリと明確に区別する</a:t>
            </a:r>
            <a:endParaRPr lang="en-US" sz="1050" dirty="0"/>
          </a:p>
        </p:txBody>
      </p:sp>
      <p:sp>
        <p:nvSpPr>
          <p:cNvPr id="11" name="Shape 9"/>
          <p:cNvSpPr/>
          <p:nvPr/>
        </p:nvSpPr>
        <p:spPr>
          <a:xfrm>
            <a:off x="548640" y="3218688"/>
            <a:ext cx="5440680" cy="1426464"/>
          </a:xfrm>
          <a:prstGeom prst="roundRect">
            <a:avLst>
              <a:gd name="adj" fmla="val 4487"/>
            </a:avLst>
          </a:prstGeom>
          <a:solidFill>
            <a:srgbClr val="EAF0F7"/>
          </a:solidFill>
          <a:ln w="12700">
            <a:solidFill>
              <a:srgbClr val="B9C9DE"/>
            </a:solidFill>
            <a:prstDash val="solid"/>
          </a:ln>
        </p:spPr>
      </p:sp>
      <p:sp>
        <p:nvSpPr>
          <p:cNvPr id="12" name="Text 10"/>
          <p:cNvSpPr txBox="1"/>
          <p:nvPr/>
        </p:nvSpPr>
        <p:spPr>
          <a:xfrm>
            <a:off x="804672" y="3346704"/>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様式記載方針</a:t>
            </a:r>
            <a:endParaRPr lang="en-US" sz="1450" dirty="0"/>
          </a:p>
        </p:txBody>
      </p:sp>
      <p:sp>
        <p:nvSpPr>
          <p:cNvPr id="13" name="Text 11"/>
          <p:cNvSpPr txBox="1"/>
          <p:nvPr/>
        </p:nvSpPr>
        <p:spPr>
          <a:xfrm>
            <a:off x="804672" y="3721608"/>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構造・形状・原理・使用目的又は効果を明確に定義。特に「原理」でAI画像認識技術を核とした革新性を記述</a:t>
            </a:r>
            <a:endParaRPr lang="en-US" sz="1050" dirty="0"/>
          </a:p>
        </p:txBody>
      </p:sp>
      <p:sp>
        <p:nvSpPr>
          <p:cNvPr id="14" name="Shape 12"/>
          <p:cNvSpPr/>
          <p:nvPr/>
        </p:nvSpPr>
        <p:spPr>
          <a:xfrm>
            <a:off x="6263640" y="3218688"/>
            <a:ext cx="5440680" cy="1426464"/>
          </a:xfrm>
          <a:prstGeom prst="roundRect">
            <a:avLst>
              <a:gd name="adj" fmla="val 4487"/>
            </a:avLst>
          </a:prstGeom>
          <a:solidFill>
            <a:srgbClr val="EAF0F7"/>
          </a:solidFill>
          <a:ln w="12700">
            <a:solidFill>
              <a:srgbClr val="B9C9DE"/>
            </a:solidFill>
            <a:prstDash val="solid"/>
          </a:ln>
        </p:spPr>
      </p:sp>
      <p:sp>
        <p:nvSpPr>
          <p:cNvPr id="15" name="Text 13"/>
          <p:cNvSpPr txBox="1"/>
          <p:nvPr/>
        </p:nvSpPr>
        <p:spPr>
          <a:xfrm>
            <a:off x="6519672" y="3346704"/>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要件2の方針</a:t>
            </a:r>
            <a:endParaRPr lang="en-US" sz="1450" dirty="0"/>
          </a:p>
        </p:txBody>
      </p:sp>
      <p:sp>
        <p:nvSpPr>
          <p:cNvPr id="16" name="Text 14"/>
          <p:cNvSpPr txBox="1"/>
          <p:nvPr/>
        </p:nvSpPr>
        <p:spPr>
          <a:xfrm>
            <a:off x="6519672" y="3721608"/>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これまでのユーザーデータを元に臨床的意義を訴求する</a:t>
            </a:r>
            <a:endParaRPr lang="en-US" sz="1050" dirty="0"/>
          </a:p>
        </p:txBody>
      </p:sp>
      <p:sp>
        <p:nvSpPr>
          <p:cNvPr id="17" name="Shape 15"/>
          <p:cNvSpPr/>
          <p:nvPr/>
        </p:nvSpPr>
        <p:spPr>
          <a:xfrm>
            <a:off x="548640" y="4791456"/>
            <a:ext cx="5440680" cy="1426464"/>
          </a:xfrm>
          <a:prstGeom prst="roundRect">
            <a:avLst>
              <a:gd name="adj" fmla="val 4487"/>
            </a:avLst>
          </a:prstGeom>
          <a:solidFill>
            <a:srgbClr val="EAF0F7"/>
          </a:solidFill>
          <a:ln w="12700">
            <a:solidFill>
              <a:srgbClr val="B9C9DE"/>
            </a:solidFill>
            <a:prstDash val="solid"/>
          </a:ln>
        </p:spPr>
      </p:sp>
      <p:sp>
        <p:nvSpPr>
          <p:cNvPr id="18" name="Text 16"/>
          <p:cNvSpPr txBox="1"/>
          <p:nvPr/>
        </p:nvSpPr>
        <p:spPr>
          <a:xfrm>
            <a:off x="804672" y="4919472"/>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参考用語</a:t>
            </a:r>
            <a:endParaRPr lang="en-US" sz="1450" dirty="0"/>
          </a:p>
        </p:txBody>
      </p:sp>
      <p:sp>
        <p:nvSpPr>
          <p:cNvPr id="19" name="Text 17"/>
          <p:cNvSpPr txBox="1"/>
          <p:nvPr/>
        </p:nvSpPr>
        <p:spPr>
          <a:xfrm>
            <a:off x="804672" y="5294376"/>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既存承認事例の「口腔機能発達不全症における口腔機能リハビリテーション」を参考に適用範囲・目的を明確化</a:t>
            </a:r>
            <a:endParaRPr lang="en-US" sz="1050" dirty="0"/>
          </a:p>
        </p:txBody>
      </p:sp>
      <p:sp>
        <p:nvSpPr>
          <p:cNvPr id="20" name="Shape 18"/>
          <p:cNvSpPr/>
          <p:nvPr/>
        </p:nvSpPr>
        <p:spPr>
          <a:xfrm>
            <a:off x="6263640" y="4791456"/>
            <a:ext cx="5440680" cy="1426464"/>
          </a:xfrm>
          <a:prstGeom prst="roundRect">
            <a:avLst>
              <a:gd name="adj" fmla="val 4487"/>
            </a:avLst>
          </a:prstGeom>
          <a:solidFill>
            <a:srgbClr val="EAF0F7"/>
          </a:solidFill>
          <a:ln w="12700">
            <a:solidFill>
              <a:srgbClr val="B9C9DE"/>
            </a:solidFill>
            <a:prstDash val="solid"/>
          </a:ln>
        </p:spPr>
      </p:sp>
      <p:sp>
        <p:nvSpPr>
          <p:cNvPr id="21" name="Text 19"/>
          <p:cNvSpPr txBox="1"/>
          <p:nvPr/>
        </p:nvSpPr>
        <p:spPr>
          <a:xfrm>
            <a:off x="6519672" y="4919472"/>
            <a:ext cx="4937760" cy="347472"/>
          </a:xfrm>
          <a:prstGeom prst="rect">
            <a:avLst/>
          </a:prstGeom>
          <a:noFill/>
          <a:ln/>
        </p:spPr>
        <p:txBody>
          <a:bodyPr wrap="square" lIns="0" tIns="0" rIns="0" bIns="0" rtlCol="0" anchor="ctr"/>
          <a:lstStyle/>
          <a:p>
            <a:pPr indent="0" marL="0">
              <a:buNone/>
            </a:pPr>
            <a:r>
              <a:rPr lang="en-US" sz="1450" b="1" dirty="0">
                <a:solidFill>
                  <a:srgbClr val="22456E"/>
                </a:solidFill>
                <a:latin typeface="Yu Mincho" pitchFamily="34" charset="0"/>
                <a:ea typeface="Yu Mincho" pitchFamily="34" charset="-122"/>
                <a:cs typeface="Yu Mincho" pitchFamily="34" charset="-120"/>
              </a:rPr>
              <a:t>反映状況</a:t>
            </a:r>
            <a:endParaRPr lang="en-US" sz="1450" dirty="0"/>
          </a:p>
        </p:txBody>
      </p:sp>
      <p:sp>
        <p:nvSpPr>
          <p:cNvPr id="22" name="Text 20"/>
          <p:cNvSpPr txBox="1"/>
          <p:nvPr/>
        </p:nvSpPr>
        <p:spPr>
          <a:xfrm>
            <a:off x="6519672" y="5294376"/>
            <a:ext cx="4937760" cy="868680"/>
          </a:xfrm>
          <a:prstGeom prst="rect">
            <a:avLst/>
          </a:prstGeom>
          <a:noFill/>
          <a:ln/>
        </p:spPr>
        <p:txBody>
          <a:bodyPr wrap="square" lIns="0" tIns="0" rIns="0" bIns="0" rtlCol="0" anchor="t"/>
          <a:lstStyle/>
          <a:p>
            <a:pPr indent="0" marL="0">
              <a:lnSpc>
                <a:spcPct val="122000"/>
              </a:lnSpc>
              <a:buNone/>
            </a:pPr>
            <a:r>
              <a:rPr lang="en-US" sz="1050" dirty="0">
                <a:solidFill>
                  <a:srgbClr val="22252B"/>
                </a:solidFill>
                <a:latin typeface="Yu Gothic" pitchFamily="34" charset="0"/>
                <a:ea typeface="Yu Gothic" pitchFamily="34" charset="-122"/>
                <a:cs typeface="Yu Gothic" pitchFamily="34" charset="-120"/>
              </a:rPr>
              <a:t>上記は様式1記入版（本紙＋別紙）と docs/regulatory/10・11 に反映済み。舌口唇運動検査の管理項目対応は調査中</a:t>
            </a:r>
            <a:endParaRPr lang="en-US" sz="1050" dirty="0"/>
          </a:p>
        </p:txBody>
      </p:sp>
      <p:sp>
        <p:nvSpPr>
          <p:cNvPr id="23" name="Text 21"/>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2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要件1「画期性」— 訴求の5本柱（9/1決定）</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Pro 薬事戦略プロジェクト｜優先審査指定 第2回検討会議</a:t>
            </a:r>
            <a:endParaRPr lang="en-US" sz="900" dirty="0"/>
          </a:p>
        </p:txBody>
      </p:sp>
      <p:sp>
        <p:nvSpPr>
          <p:cNvPr id="5" name="Text 3"/>
          <p:cNvSpPr txBox="1"/>
          <p:nvPr/>
        </p:nvSpPr>
        <p:spPr>
          <a:xfrm>
            <a:off x="548640" y="1572768"/>
            <a:ext cx="11064240" cy="365760"/>
          </a:xfrm>
          <a:prstGeom prst="rect">
            <a:avLst/>
          </a:prstGeom>
          <a:noFill/>
          <a:ln/>
        </p:spPr>
        <p:txBody>
          <a:bodyPr wrap="square" lIns="0" tIns="0" rIns="0" bIns="0" rtlCol="0" anchor="ctr"/>
          <a:lstStyle/>
          <a:p>
            <a:pPr indent="0" marL="0">
              <a:buNone/>
            </a:pPr>
            <a:r>
              <a:rPr lang="en-US" sz="1350" dirty="0">
                <a:solidFill>
                  <a:srgbClr val="22252B"/>
                </a:solidFill>
                <a:latin typeface="Yu Gothic" pitchFamily="34" charset="0"/>
                <a:ea typeface="Yu Gothic" pitchFamily="34" charset="-122"/>
                <a:cs typeface="Yu Gothic" pitchFamily="34" charset="-120"/>
              </a:rPr>
              <a:t>検査と治療（予防を含む）の一体的提供を軸に、以下を強調して画期性を訴求する。</a:t>
            </a:r>
            <a:endParaRPr lang="en-US" sz="1350" dirty="0"/>
          </a:p>
        </p:txBody>
      </p:sp>
      <p:sp>
        <p:nvSpPr>
          <p:cNvPr id="6" name="Shape 4"/>
          <p:cNvSpPr/>
          <p:nvPr/>
        </p:nvSpPr>
        <p:spPr>
          <a:xfrm>
            <a:off x="640080" y="2139696"/>
            <a:ext cx="384048" cy="384048"/>
          </a:xfrm>
          <a:prstGeom prst="ellipse">
            <a:avLst/>
          </a:prstGeom>
          <a:solidFill>
            <a:srgbClr val="22456E"/>
          </a:solidFill>
          <a:ln/>
        </p:spPr>
      </p:sp>
      <p:sp>
        <p:nvSpPr>
          <p:cNvPr id="7" name="Text 5"/>
          <p:cNvSpPr txBox="1"/>
          <p:nvPr/>
        </p:nvSpPr>
        <p:spPr>
          <a:xfrm>
            <a:off x="640080" y="2130552"/>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8" name="Shape 6"/>
          <p:cNvSpPr/>
          <p:nvPr/>
        </p:nvSpPr>
        <p:spPr>
          <a:xfrm>
            <a:off x="1234440" y="2029968"/>
            <a:ext cx="10378440" cy="658368"/>
          </a:xfrm>
          <a:prstGeom prst="roundRect">
            <a:avLst>
              <a:gd name="adj" fmla="val 8333"/>
            </a:avLst>
          </a:prstGeom>
          <a:solidFill>
            <a:srgbClr val="FFFFFF"/>
          </a:solidFill>
          <a:ln w="12700">
            <a:solidFill>
              <a:srgbClr val="D9DCE3"/>
            </a:solidFill>
            <a:prstDash val="solid"/>
          </a:ln>
        </p:spPr>
      </p:sp>
      <p:sp>
        <p:nvSpPr>
          <p:cNvPr id="9" name="Text 7"/>
          <p:cNvSpPr txBox="1"/>
          <p:nvPr/>
        </p:nvSpPr>
        <p:spPr>
          <a:xfrm>
            <a:off x="1481328" y="2103120"/>
            <a:ext cx="9966960" cy="530352"/>
          </a:xfrm>
          <a:prstGeom prst="rect">
            <a:avLst/>
          </a:prstGeom>
          <a:noFill/>
          <a:ln/>
        </p:spPr>
        <p:txBody>
          <a:bodyPr wrap="square" lIns="0" tIns="0" rIns="0" bIns="0" rtlCol="0" anchor="ctr"/>
          <a:lstStyle/>
          <a:p>
            <a:pPr indent="0" marL="0">
              <a:lnSpc>
                <a:spcPct val="115000"/>
              </a:lnSpc>
              <a:buNone/>
            </a:pPr>
            <a:r>
              <a:rPr lang="en-US" sz="1300" b="1" dirty="0">
                <a:solidFill>
                  <a:srgbClr val="22456E"/>
                </a:solidFill>
                <a:latin typeface="Yu Gothic" pitchFamily="34" charset="0"/>
                <a:ea typeface="Yu Gothic" pitchFamily="34" charset="-122"/>
                <a:cs typeface="Yu Gothic" pitchFamily="34" charset="-120"/>
              </a:rPr>
              <a:t>AI音声認識 × 言語モデル　</a:t>
            </a:r>
            <a:pPr indent="0" marL="0">
              <a:lnSpc>
                <a:spcPct val="115000"/>
              </a:lnSpc>
              <a:buNone/>
            </a:pPr>
            <a:r>
              <a:rPr lang="en-US" sz="1100" dirty="0">
                <a:solidFill>
                  <a:srgbClr val="5A5F6A"/>
                </a:solidFill>
                <a:latin typeface="Yu Gothic" pitchFamily="34" charset="0"/>
                <a:ea typeface="Yu Gothic" pitchFamily="34" charset="-122"/>
                <a:cs typeface="Yu Gothic" pitchFamily="34" charset="-120"/>
              </a:rPr>
              <a:t>独自の言語モデルを用いた精緻な検査・トレーニング機能（連続単音節の1発声単位認識）</a:t>
            </a:r>
            <a:endParaRPr lang="en-US" sz="1300" dirty="0"/>
          </a:p>
        </p:txBody>
      </p:sp>
      <p:sp>
        <p:nvSpPr>
          <p:cNvPr id="10" name="Shape 8"/>
          <p:cNvSpPr/>
          <p:nvPr/>
        </p:nvSpPr>
        <p:spPr>
          <a:xfrm>
            <a:off x="640080" y="2907792"/>
            <a:ext cx="384048" cy="384048"/>
          </a:xfrm>
          <a:prstGeom prst="ellipse">
            <a:avLst/>
          </a:prstGeom>
          <a:solidFill>
            <a:srgbClr val="22456E"/>
          </a:solidFill>
          <a:ln/>
        </p:spPr>
      </p:sp>
      <p:sp>
        <p:nvSpPr>
          <p:cNvPr id="11" name="Text 9"/>
          <p:cNvSpPr txBox="1"/>
          <p:nvPr/>
        </p:nvSpPr>
        <p:spPr>
          <a:xfrm>
            <a:off x="640080" y="2898648"/>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2" name="Shape 10"/>
          <p:cNvSpPr/>
          <p:nvPr/>
        </p:nvSpPr>
        <p:spPr>
          <a:xfrm>
            <a:off x="1234440" y="2798064"/>
            <a:ext cx="10378440" cy="658368"/>
          </a:xfrm>
          <a:prstGeom prst="roundRect">
            <a:avLst>
              <a:gd name="adj" fmla="val 8333"/>
            </a:avLst>
          </a:prstGeom>
          <a:solidFill>
            <a:srgbClr val="FFFFFF"/>
          </a:solidFill>
          <a:ln w="12700">
            <a:solidFill>
              <a:srgbClr val="D9DCE3"/>
            </a:solidFill>
            <a:prstDash val="solid"/>
          </a:ln>
        </p:spPr>
      </p:sp>
      <p:sp>
        <p:nvSpPr>
          <p:cNvPr id="13" name="Text 11"/>
          <p:cNvSpPr txBox="1"/>
          <p:nvPr/>
        </p:nvSpPr>
        <p:spPr>
          <a:xfrm>
            <a:off x="1481328" y="2871216"/>
            <a:ext cx="9966960" cy="530352"/>
          </a:xfrm>
          <a:prstGeom prst="rect">
            <a:avLst/>
          </a:prstGeom>
          <a:noFill/>
          <a:ln/>
        </p:spPr>
        <p:txBody>
          <a:bodyPr wrap="square" lIns="0" tIns="0" rIns="0" bIns="0" rtlCol="0" anchor="ctr"/>
          <a:lstStyle/>
          <a:p>
            <a:pPr indent="0" marL="0">
              <a:lnSpc>
                <a:spcPct val="115000"/>
              </a:lnSpc>
              <a:buNone/>
            </a:pPr>
            <a:r>
              <a:rPr lang="en-US" sz="1300" b="1" dirty="0">
                <a:solidFill>
                  <a:srgbClr val="22456E"/>
                </a:solidFill>
                <a:latin typeface="Yu Gothic" pitchFamily="34" charset="0"/>
                <a:ea typeface="Yu Gothic" pitchFamily="34" charset="-122"/>
                <a:cs typeface="Yu Gothic" pitchFamily="34" charset="-120"/>
              </a:rPr>
              <a:t>ゲームコンテンツ化　</a:t>
            </a:r>
            <a:pPr indent="0" marL="0">
              <a:lnSpc>
                <a:spcPct val="115000"/>
              </a:lnSpc>
              <a:buNone/>
            </a:pPr>
            <a:r>
              <a:rPr lang="en-US" sz="1100" dirty="0">
                <a:solidFill>
                  <a:srgbClr val="5A5F6A"/>
                </a:solidFill>
                <a:latin typeface="Yu Gothic" pitchFamily="34" charset="0"/>
                <a:ea typeface="Yu Gothic" pitchFamily="34" charset="-122"/>
                <a:cs typeface="Yu Gothic" pitchFamily="34" charset="-120"/>
              </a:rPr>
              <a:t>継続的な行動変容支援。単調な訓練を熱中できる体験に変え、継続率を高める</a:t>
            </a:r>
            <a:endParaRPr lang="en-US" sz="1300" dirty="0"/>
          </a:p>
        </p:txBody>
      </p:sp>
      <p:sp>
        <p:nvSpPr>
          <p:cNvPr id="14" name="Shape 12"/>
          <p:cNvSpPr/>
          <p:nvPr/>
        </p:nvSpPr>
        <p:spPr>
          <a:xfrm>
            <a:off x="640080" y="3675888"/>
            <a:ext cx="384048" cy="384048"/>
          </a:xfrm>
          <a:prstGeom prst="ellipse">
            <a:avLst/>
          </a:prstGeom>
          <a:solidFill>
            <a:srgbClr val="22456E"/>
          </a:solidFill>
          <a:ln/>
        </p:spPr>
      </p:sp>
      <p:sp>
        <p:nvSpPr>
          <p:cNvPr id="15" name="Text 13"/>
          <p:cNvSpPr txBox="1"/>
          <p:nvPr/>
        </p:nvSpPr>
        <p:spPr>
          <a:xfrm>
            <a:off x="640080" y="3666744"/>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16" name="Shape 14"/>
          <p:cNvSpPr/>
          <p:nvPr/>
        </p:nvSpPr>
        <p:spPr>
          <a:xfrm>
            <a:off x="1234440" y="3566160"/>
            <a:ext cx="10378440" cy="658368"/>
          </a:xfrm>
          <a:prstGeom prst="roundRect">
            <a:avLst>
              <a:gd name="adj" fmla="val 8333"/>
            </a:avLst>
          </a:prstGeom>
          <a:solidFill>
            <a:srgbClr val="FFFFFF"/>
          </a:solidFill>
          <a:ln w="12700">
            <a:solidFill>
              <a:srgbClr val="D9DCE3"/>
            </a:solidFill>
            <a:prstDash val="solid"/>
          </a:ln>
        </p:spPr>
      </p:sp>
      <p:sp>
        <p:nvSpPr>
          <p:cNvPr id="17" name="Text 15"/>
          <p:cNvSpPr txBox="1"/>
          <p:nvPr/>
        </p:nvSpPr>
        <p:spPr>
          <a:xfrm>
            <a:off x="1481328" y="3639312"/>
            <a:ext cx="9966960" cy="530352"/>
          </a:xfrm>
          <a:prstGeom prst="rect">
            <a:avLst/>
          </a:prstGeom>
          <a:noFill/>
          <a:ln/>
        </p:spPr>
        <p:txBody>
          <a:bodyPr wrap="square" lIns="0" tIns="0" rIns="0" bIns="0" rtlCol="0" anchor="ctr"/>
          <a:lstStyle/>
          <a:p>
            <a:pPr indent="0" marL="0">
              <a:lnSpc>
                <a:spcPct val="115000"/>
              </a:lnSpc>
              <a:buNone/>
            </a:pPr>
            <a:r>
              <a:rPr lang="en-US" sz="1300" b="1" dirty="0">
                <a:solidFill>
                  <a:srgbClr val="22456E"/>
                </a:solidFill>
                <a:latin typeface="Yu Gothic" pitchFamily="34" charset="0"/>
                <a:ea typeface="Yu Gothic" pitchFamily="34" charset="-122"/>
                <a:cs typeface="Yu Gothic" pitchFamily="34" charset="-120"/>
              </a:rPr>
              <a:t>遠隔での治療効果管理　</a:t>
            </a:r>
            <a:pPr indent="0" marL="0">
              <a:lnSpc>
                <a:spcPct val="115000"/>
              </a:lnSpc>
              <a:buNone/>
            </a:pPr>
            <a:r>
              <a:rPr lang="en-US" sz="1100" dirty="0">
                <a:solidFill>
                  <a:srgbClr val="5A5F6A"/>
                </a:solidFill>
                <a:latin typeface="Yu Gothic" pitchFamily="34" charset="0"/>
                <a:ea typeface="Yu Gothic" pitchFamily="34" charset="-122"/>
                <a:cs typeface="Yu Gothic" pitchFamily="34" charset="-120"/>
              </a:rPr>
              <a:t>遠隔地から検査値・訓練実施状況を管理し、医療アクセスを向上させる</a:t>
            </a:r>
            <a:endParaRPr lang="en-US" sz="1300" dirty="0"/>
          </a:p>
        </p:txBody>
      </p:sp>
      <p:sp>
        <p:nvSpPr>
          <p:cNvPr id="18" name="Shape 16"/>
          <p:cNvSpPr/>
          <p:nvPr/>
        </p:nvSpPr>
        <p:spPr>
          <a:xfrm>
            <a:off x="640080" y="4443984"/>
            <a:ext cx="384048" cy="384048"/>
          </a:xfrm>
          <a:prstGeom prst="ellipse">
            <a:avLst/>
          </a:prstGeom>
          <a:solidFill>
            <a:srgbClr val="22456E"/>
          </a:solidFill>
          <a:ln/>
        </p:spPr>
      </p:sp>
      <p:sp>
        <p:nvSpPr>
          <p:cNvPr id="19" name="Text 17"/>
          <p:cNvSpPr txBox="1"/>
          <p:nvPr/>
        </p:nvSpPr>
        <p:spPr>
          <a:xfrm>
            <a:off x="640080" y="4434840"/>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4</a:t>
            </a:r>
            <a:endParaRPr lang="en-US" sz="1600" dirty="0"/>
          </a:p>
        </p:txBody>
      </p:sp>
      <p:sp>
        <p:nvSpPr>
          <p:cNvPr id="20" name="Shape 18"/>
          <p:cNvSpPr/>
          <p:nvPr/>
        </p:nvSpPr>
        <p:spPr>
          <a:xfrm>
            <a:off x="1234440" y="4334256"/>
            <a:ext cx="10378440" cy="658368"/>
          </a:xfrm>
          <a:prstGeom prst="roundRect">
            <a:avLst>
              <a:gd name="adj" fmla="val 8333"/>
            </a:avLst>
          </a:prstGeom>
          <a:solidFill>
            <a:srgbClr val="FFFFFF"/>
          </a:solidFill>
          <a:ln w="12700">
            <a:solidFill>
              <a:srgbClr val="D9DCE3"/>
            </a:solidFill>
            <a:prstDash val="solid"/>
          </a:ln>
        </p:spPr>
      </p:sp>
      <p:sp>
        <p:nvSpPr>
          <p:cNvPr id="21" name="Text 19"/>
          <p:cNvSpPr txBox="1"/>
          <p:nvPr/>
        </p:nvSpPr>
        <p:spPr>
          <a:xfrm>
            <a:off x="1481328" y="4407408"/>
            <a:ext cx="9966960" cy="530352"/>
          </a:xfrm>
          <a:prstGeom prst="rect">
            <a:avLst/>
          </a:prstGeom>
          <a:noFill/>
          <a:ln/>
        </p:spPr>
        <p:txBody>
          <a:bodyPr wrap="square" lIns="0" tIns="0" rIns="0" bIns="0" rtlCol="0" anchor="ctr"/>
          <a:lstStyle/>
          <a:p>
            <a:pPr indent="0" marL="0">
              <a:lnSpc>
                <a:spcPct val="115000"/>
              </a:lnSpc>
              <a:buNone/>
            </a:pPr>
            <a:r>
              <a:rPr lang="en-US" sz="1300" b="1" dirty="0">
                <a:solidFill>
                  <a:srgbClr val="22456E"/>
                </a:solidFill>
                <a:latin typeface="Yu Gothic" pitchFamily="34" charset="0"/>
                <a:ea typeface="Yu Gothic" pitchFamily="34" charset="-122"/>
                <a:cs typeface="Yu Gothic" pitchFamily="34" charset="-120"/>
              </a:rPr>
              <a:t>口腔筋群全体への包括アプローチ　</a:t>
            </a:r>
            <a:pPr indent="0" marL="0">
              <a:lnSpc>
                <a:spcPct val="115000"/>
              </a:lnSpc>
              <a:buNone/>
            </a:pPr>
            <a:r>
              <a:rPr lang="en-US" sz="1100" dirty="0">
                <a:solidFill>
                  <a:srgbClr val="5A5F6A"/>
                </a:solidFill>
                <a:latin typeface="Yu Gothic" pitchFamily="34" charset="0"/>
                <a:ea typeface="Yu Gothic" pitchFamily="34" charset="-122"/>
                <a:cs typeface="Yu Gothic" pitchFamily="34" charset="-120"/>
              </a:rPr>
              <a:t>口唇・舌・咀嚼筋など口腔機能全体の評価とトレーニングを網羅（特定部位に限定した既存機器との差別化）</a:t>
            </a:r>
            <a:endParaRPr lang="en-US" sz="1300" dirty="0"/>
          </a:p>
        </p:txBody>
      </p:sp>
      <p:sp>
        <p:nvSpPr>
          <p:cNvPr id="22" name="Shape 20"/>
          <p:cNvSpPr/>
          <p:nvPr/>
        </p:nvSpPr>
        <p:spPr>
          <a:xfrm>
            <a:off x="640080" y="5212080"/>
            <a:ext cx="384048" cy="384048"/>
          </a:xfrm>
          <a:prstGeom prst="ellipse">
            <a:avLst/>
          </a:prstGeom>
          <a:solidFill>
            <a:srgbClr val="22456E"/>
          </a:solidFill>
          <a:ln/>
        </p:spPr>
      </p:sp>
      <p:sp>
        <p:nvSpPr>
          <p:cNvPr id="23" name="Text 21"/>
          <p:cNvSpPr txBox="1"/>
          <p:nvPr/>
        </p:nvSpPr>
        <p:spPr>
          <a:xfrm>
            <a:off x="640080" y="5202936"/>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5</a:t>
            </a:r>
            <a:endParaRPr lang="en-US" sz="1600" dirty="0"/>
          </a:p>
        </p:txBody>
      </p:sp>
      <p:sp>
        <p:nvSpPr>
          <p:cNvPr id="24" name="Shape 22"/>
          <p:cNvSpPr/>
          <p:nvPr/>
        </p:nvSpPr>
        <p:spPr>
          <a:xfrm>
            <a:off x="1234440" y="5102352"/>
            <a:ext cx="10378440" cy="658368"/>
          </a:xfrm>
          <a:prstGeom prst="roundRect">
            <a:avLst>
              <a:gd name="adj" fmla="val 8333"/>
            </a:avLst>
          </a:prstGeom>
          <a:solidFill>
            <a:srgbClr val="FFFFFF"/>
          </a:solidFill>
          <a:ln w="12700">
            <a:solidFill>
              <a:srgbClr val="D9DCE3"/>
            </a:solidFill>
            <a:prstDash val="solid"/>
          </a:ln>
        </p:spPr>
      </p:sp>
      <p:sp>
        <p:nvSpPr>
          <p:cNvPr id="25" name="Text 23"/>
          <p:cNvSpPr txBox="1"/>
          <p:nvPr/>
        </p:nvSpPr>
        <p:spPr>
          <a:xfrm>
            <a:off x="1481328" y="5175504"/>
            <a:ext cx="9966960" cy="530352"/>
          </a:xfrm>
          <a:prstGeom prst="rect">
            <a:avLst/>
          </a:prstGeom>
          <a:noFill/>
          <a:ln/>
        </p:spPr>
        <p:txBody>
          <a:bodyPr wrap="square" lIns="0" tIns="0" rIns="0" bIns="0" rtlCol="0" anchor="ctr"/>
          <a:lstStyle/>
          <a:p>
            <a:pPr indent="0" marL="0">
              <a:lnSpc>
                <a:spcPct val="115000"/>
              </a:lnSpc>
              <a:buNone/>
            </a:pPr>
            <a:r>
              <a:rPr lang="en-US" sz="1300" b="1" dirty="0">
                <a:solidFill>
                  <a:srgbClr val="22456E"/>
                </a:solidFill>
                <a:latin typeface="Yu Gothic" pitchFamily="34" charset="0"/>
                <a:ea typeface="Yu Gothic" pitchFamily="34" charset="-122"/>
                <a:cs typeface="Yu Gothic" pitchFamily="34" charset="-120"/>
              </a:rPr>
              <a:t>ビッグデータ解析（将来）　</a:t>
            </a:r>
            <a:pPr indent="0" marL="0">
              <a:lnSpc>
                <a:spcPct val="115000"/>
              </a:lnSpc>
              <a:buNone/>
            </a:pPr>
            <a:r>
              <a:rPr lang="en-US" sz="1100" dirty="0">
                <a:solidFill>
                  <a:srgbClr val="5A5F6A"/>
                </a:solidFill>
                <a:latin typeface="Yu Gothic" pitchFamily="34" charset="0"/>
                <a:ea typeface="Yu Gothic" pitchFamily="34" charset="-122"/>
                <a:cs typeface="Yu Gothic" pitchFamily="34" charset="-120"/>
              </a:rPr>
              <a:t>蓄積データの解析による機能改善・エビデンス構築の可能性</a:t>
            </a:r>
            <a:endParaRPr lang="en-US" sz="1300" dirty="0"/>
          </a:p>
        </p:txBody>
      </p:sp>
      <p:sp>
        <p:nvSpPr>
          <p:cNvPr id="26" name="Shape 24"/>
          <p:cNvSpPr/>
          <p:nvPr/>
        </p:nvSpPr>
        <p:spPr>
          <a:xfrm>
            <a:off x="548640" y="5925312"/>
            <a:ext cx="11064240" cy="502920"/>
          </a:xfrm>
          <a:prstGeom prst="roundRect">
            <a:avLst>
              <a:gd name="adj" fmla="val 10909"/>
            </a:avLst>
          </a:prstGeom>
          <a:solidFill>
            <a:srgbClr val="F7F0DC"/>
          </a:solidFill>
          <a:ln w="12700">
            <a:solidFill>
              <a:srgbClr val="9A6B00"/>
            </a:solidFill>
            <a:prstDash val="solid"/>
          </a:ln>
        </p:spPr>
      </p:sp>
      <p:sp>
        <p:nvSpPr>
          <p:cNvPr id="27" name="Text 25"/>
          <p:cNvSpPr txBox="1"/>
          <p:nvPr/>
        </p:nvSpPr>
        <p:spPr>
          <a:xfrm>
            <a:off x="822960" y="5971032"/>
            <a:ext cx="10515600" cy="411480"/>
          </a:xfrm>
          <a:prstGeom prst="rect">
            <a:avLst/>
          </a:prstGeom>
          <a:noFill/>
          <a:ln/>
        </p:spPr>
        <p:txBody>
          <a:bodyPr wrap="square" lIns="0" tIns="0" rIns="0" bIns="0" rtlCol="0" anchor="ctr"/>
          <a:lstStyle/>
          <a:p>
            <a:pPr indent="0" marL="0">
              <a:buNone/>
            </a:pPr>
            <a:r>
              <a:rPr lang="en-US" sz="1050" b="1" dirty="0">
                <a:solidFill>
                  <a:srgbClr val="9A6B00"/>
                </a:solidFill>
                <a:latin typeface="Yu Gothic" pitchFamily="34" charset="0"/>
                <a:ea typeface="Yu Gothic" pitchFamily="34" charset="-122"/>
                <a:cs typeface="Yu Gothic" pitchFamily="34" charset="-120"/>
              </a:rPr>
              <a:t>位置づけ： </a:t>
            </a:r>
            <a:pPr indent="0" marL="0">
              <a:buNone/>
            </a:pPr>
            <a:r>
              <a:rPr lang="en-US" sz="1050" dirty="0">
                <a:solidFill>
                  <a:srgbClr val="22252B"/>
                </a:solidFill>
                <a:latin typeface="Yu Gothic" pitchFamily="34" charset="0"/>
                <a:ea typeface="Yu Gothic" pitchFamily="34" charset="-122"/>
                <a:cs typeface="Yu Gothic" pitchFamily="34" charset="-120"/>
              </a:rPr>
              <a:t>従来整理の三本柱（測る・揃える・合わせる）は柱1・4を支える技術基盤。EndeavorRx等の適応型制御の前例は参考情報であり直接的な証明にはならない（9/1会議で確認）。</a:t>
            </a:r>
            <a:endParaRPr lang="en-US" sz="1050" dirty="0"/>
          </a:p>
        </p:txBody>
      </p:sp>
      <p:sp>
        <p:nvSpPr>
          <p:cNvPr id="28" name="Text 26"/>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3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本日の論点 — 前回からの持ち越し5点</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Pro 薬事戦略プロジェクト｜優先審査指定 第2回検討会議</a:t>
            </a:r>
            <a:endParaRPr lang="en-US" sz="900" dirty="0"/>
          </a:p>
        </p:txBody>
      </p:sp>
      <p:sp>
        <p:nvSpPr>
          <p:cNvPr id="5" name="Shape 3"/>
          <p:cNvSpPr/>
          <p:nvPr/>
        </p:nvSpPr>
        <p:spPr>
          <a:xfrm>
            <a:off x="640080" y="1755648"/>
            <a:ext cx="384048" cy="384048"/>
          </a:xfrm>
          <a:prstGeom prst="ellipse">
            <a:avLst/>
          </a:prstGeom>
          <a:solidFill>
            <a:srgbClr val="22456E"/>
          </a:solidFill>
          <a:ln/>
        </p:spPr>
      </p:sp>
      <p:sp>
        <p:nvSpPr>
          <p:cNvPr id="6" name="Text 4"/>
          <p:cNvSpPr txBox="1"/>
          <p:nvPr/>
        </p:nvSpPr>
        <p:spPr>
          <a:xfrm>
            <a:off x="640080" y="1746504"/>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1</a:t>
            </a:r>
            <a:endParaRPr lang="en-US" sz="1600" dirty="0"/>
          </a:p>
        </p:txBody>
      </p:sp>
      <p:sp>
        <p:nvSpPr>
          <p:cNvPr id="7" name="Text 5"/>
          <p:cNvSpPr txBox="1"/>
          <p:nvPr/>
        </p:nvSpPr>
        <p:spPr>
          <a:xfrm>
            <a:off x="1234440" y="1664208"/>
            <a:ext cx="10332720" cy="868680"/>
          </a:xfrm>
          <a:prstGeom prst="rect">
            <a:avLst/>
          </a:prstGeom>
          <a:noFill/>
          <a:ln/>
        </p:spPr>
        <p:txBody>
          <a:bodyPr wrap="square" lIns="0" tIns="0" rIns="0" bIns="0" rtlCol="0" anchor="t"/>
          <a:lstStyle/>
          <a:p>
            <a:pPr indent="0" marL="0">
              <a:lnSpc>
                <a:spcPct val="120000"/>
              </a:lnSpc>
              <a:buNone/>
            </a:pPr>
            <a:r>
              <a:rPr lang="en-US" sz="1350" b="1" dirty="0">
                <a:solidFill>
                  <a:srgbClr val="22252B"/>
                </a:solidFill>
                <a:latin typeface="Yu Gothic" pitchFamily="34" charset="0"/>
                <a:ea typeface="Yu Gothic" pitchFamily="34" charset="-122"/>
                <a:cs typeface="Yu Gothic" pitchFamily="34" charset="-120"/>
              </a:rPr>
              <a:t>「予防」の定義とエビデンス　</a:t>
            </a:r>
            <a:endParaRPr lang="en-US" sz="1350" dirty="0"/>
          </a:p>
          <a:p>
            <a:pPr indent="0" marL="0">
              <a:lnSpc>
                <a:spcPct val="120000"/>
              </a:lnSpc>
              <a:buNone/>
            </a:pPr>
            <a:r>
              <a:rPr lang="en-US" sz="1100" dirty="0">
                <a:solidFill>
                  <a:srgbClr val="5A5F6A"/>
                </a:solidFill>
                <a:latin typeface="Yu Gothic" pitchFamily="34" charset="0"/>
                <a:ea typeface="Yu Gothic" pitchFamily="34" charset="-122"/>
                <a:cs typeface="Yu Gothic" pitchFamily="34" charset="-120"/>
              </a:rPr>
              <a:t>既存ガイドラインとどう整合させるか。「治療（予防を含む）」の表現で確定するか</a:t>
            </a:r>
            <a:endParaRPr lang="en-US" sz="1350" dirty="0"/>
          </a:p>
        </p:txBody>
      </p:sp>
      <p:sp>
        <p:nvSpPr>
          <p:cNvPr id="8" name="Shape 6"/>
          <p:cNvSpPr/>
          <p:nvPr/>
        </p:nvSpPr>
        <p:spPr>
          <a:xfrm>
            <a:off x="640080" y="2688336"/>
            <a:ext cx="384048" cy="384048"/>
          </a:xfrm>
          <a:prstGeom prst="ellipse">
            <a:avLst/>
          </a:prstGeom>
          <a:solidFill>
            <a:srgbClr val="22456E"/>
          </a:solidFill>
          <a:ln/>
        </p:spPr>
      </p:sp>
      <p:sp>
        <p:nvSpPr>
          <p:cNvPr id="9" name="Text 7"/>
          <p:cNvSpPr txBox="1"/>
          <p:nvPr/>
        </p:nvSpPr>
        <p:spPr>
          <a:xfrm>
            <a:off x="640080" y="2679192"/>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2</a:t>
            </a:r>
            <a:endParaRPr lang="en-US" sz="1600" dirty="0"/>
          </a:p>
        </p:txBody>
      </p:sp>
      <p:sp>
        <p:nvSpPr>
          <p:cNvPr id="10" name="Text 8"/>
          <p:cNvSpPr txBox="1"/>
          <p:nvPr/>
        </p:nvSpPr>
        <p:spPr>
          <a:xfrm>
            <a:off x="1234440" y="2596896"/>
            <a:ext cx="10332720" cy="868680"/>
          </a:xfrm>
          <a:prstGeom prst="rect">
            <a:avLst/>
          </a:prstGeom>
          <a:noFill/>
          <a:ln/>
        </p:spPr>
        <p:txBody>
          <a:bodyPr wrap="square" lIns="0" tIns="0" rIns="0" bIns="0" rtlCol="0" anchor="t"/>
          <a:lstStyle/>
          <a:p>
            <a:pPr indent="0" marL="0">
              <a:lnSpc>
                <a:spcPct val="120000"/>
              </a:lnSpc>
              <a:buNone/>
            </a:pPr>
            <a:r>
              <a:rPr lang="en-US" sz="1350" b="1" dirty="0">
                <a:solidFill>
                  <a:srgbClr val="22252B"/>
                </a:solidFill>
                <a:latin typeface="Yu Gothic" pitchFamily="34" charset="0"/>
                <a:ea typeface="Yu Gothic" pitchFamily="34" charset="-122"/>
                <a:cs typeface="Yu Gothic" pitchFamily="34" charset="-120"/>
              </a:rPr>
              <a:t>舌口唇運動検査の管理項目対応　</a:t>
            </a:r>
            <a:endParaRPr lang="en-US" sz="1350" dirty="0"/>
          </a:p>
          <a:p>
            <a:pPr indent="0" marL="0">
              <a:lnSpc>
                <a:spcPct val="120000"/>
              </a:lnSpc>
              <a:buNone/>
            </a:pPr>
            <a:r>
              <a:rPr lang="en-US" sz="1100" dirty="0">
                <a:solidFill>
                  <a:srgbClr val="5A5F6A"/>
                </a:solidFill>
                <a:latin typeface="Yu Gothic" pitchFamily="34" charset="0"/>
                <a:ea typeface="Yu Gothic" pitchFamily="34" charset="-122"/>
                <a:cs typeface="Yu Gothic" pitchFamily="34" charset="-120"/>
              </a:rPr>
              <a:t>既存7検査項目（プロセス系＝原因／結果系＝結果）とPaTaKaRUSH Proの機能対応、統合管理の形。グミゼリー等のツールの位置づけ</a:t>
            </a:r>
            <a:endParaRPr lang="en-US" sz="1350" dirty="0"/>
          </a:p>
        </p:txBody>
      </p:sp>
      <p:sp>
        <p:nvSpPr>
          <p:cNvPr id="11" name="Shape 9"/>
          <p:cNvSpPr/>
          <p:nvPr/>
        </p:nvSpPr>
        <p:spPr>
          <a:xfrm>
            <a:off x="640080" y="3621024"/>
            <a:ext cx="384048" cy="384048"/>
          </a:xfrm>
          <a:prstGeom prst="ellipse">
            <a:avLst/>
          </a:prstGeom>
          <a:solidFill>
            <a:srgbClr val="22456E"/>
          </a:solidFill>
          <a:ln/>
        </p:spPr>
      </p:sp>
      <p:sp>
        <p:nvSpPr>
          <p:cNvPr id="12" name="Text 10"/>
          <p:cNvSpPr txBox="1"/>
          <p:nvPr/>
        </p:nvSpPr>
        <p:spPr>
          <a:xfrm>
            <a:off x="640080" y="3611880"/>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3</a:t>
            </a:r>
            <a:endParaRPr lang="en-US" sz="1600" dirty="0"/>
          </a:p>
        </p:txBody>
      </p:sp>
      <p:sp>
        <p:nvSpPr>
          <p:cNvPr id="13" name="Text 11"/>
          <p:cNvSpPr txBox="1"/>
          <p:nvPr/>
        </p:nvSpPr>
        <p:spPr>
          <a:xfrm>
            <a:off x="1234440" y="3529584"/>
            <a:ext cx="10332720" cy="868680"/>
          </a:xfrm>
          <a:prstGeom prst="rect">
            <a:avLst/>
          </a:prstGeom>
          <a:noFill/>
          <a:ln/>
        </p:spPr>
        <p:txBody>
          <a:bodyPr wrap="square" lIns="0" tIns="0" rIns="0" bIns="0" rtlCol="0" anchor="t"/>
          <a:lstStyle/>
          <a:p>
            <a:pPr indent="0" marL="0">
              <a:lnSpc>
                <a:spcPct val="120000"/>
              </a:lnSpc>
              <a:buNone/>
            </a:pPr>
            <a:r>
              <a:rPr lang="en-US" sz="1350" b="1" dirty="0">
                <a:solidFill>
                  <a:srgbClr val="22252B"/>
                </a:solidFill>
                <a:latin typeface="Yu Gothic" pitchFamily="34" charset="0"/>
                <a:ea typeface="Yu Gothic" pitchFamily="34" charset="-122"/>
                <a:cs typeface="Yu Gothic" pitchFamily="34" charset="-120"/>
              </a:rPr>
              <a:t>二段階承認とのトレードオフ　</a:t>
            </a:r>
            <a:endParaRPr lang="en-US" sz="1350" dirty="0"/>
          </a:p>
          <a:p>
            <a:pPr indent="0" marL="0">
              <a:lnSpc>
                <a:spcPct val="120000"/>
              </a:lnSpc>
              <a:buNone/>
            </a:pPr>
            <a:r>
              <a:rPr lang="en-US" sz="1100" dirty="0">
                <a:solidFill>
                  <a:srgbClr val="5A5F6A"/>
                </a:solidFill>
                <a:latin typeface="Yu Gothic" pitchFamily="34" charset="0"/>
                <a:ea typeface="Yu Gothic" pitchFamily="34" charset="-122"/>
                <a:cs typeface="Yu Gothic" pitchFamily="34" charset="-120"/>
              </a:rPr>
              <a:t>「1段階で大きな承認」方針の裏にある機能変更柔軟性の喪失等を再評価し、方針を最終確認</a:t>
            </a:r>
            <a:endParaRPr lang="en-US" sz="1350" dirty="0"/>
          </a:p>
        </p:txBody>
      </p:sp>
      <p:sp>
        <p:nvSpPr>
          <p:cNvPr id="14" name="Shape 12"/>
          <p:cNvSpPr/>
          <p:nvPr/>
        </p:nvSpPr>
        <p:spPr>
          <a:xfrm>
            <a:off x="640080" y="4553712"/>
            <a:ext cx="384048" cy="384048"/>
          </a:xfrm>
          <a:prstGeom prst="ellipse">
            <a:avLst/>
          </a:prstGeom>
          <a:solidFill>
            <a:srgbClr val="22456E"/>
          </a:solidFill>
          <a:ln/>
        </p:spPr>
      </p:sp>
      <p:sp>
        <p:nvSpPr>
          <p:cNvPr id="15" name="Text 13"/>
          <p:cNvSpPr txBox="1"/>
          <p:nvPr/>
        </p:nvSpPr>
        <p:spPr>
          <a:xfrm>
            <a:off x="640080" y="4544568"/>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4</a:t>
            </a:r>
            <a:endParaRPr lang="en-US" sz="1600" dirty="0"/>
          </a:p>
        </p:txBody>
      </p:sp>
      <p:sp>
        <p:nvSpPr>
          <p:cNvPr id="16" name="Text 14"/>
          <p:cNvSpPr txBox="1"/>
          <p:nvPr/>
        </p:nvSpPr>
        <p:spPr>
          <a:xfrm>
            <a:off x="1234440" y="4462272"/>
            <a:ext cx="10332720" cy="868680"/>
          </a:xfrm>
          <a:prstGeom prst="rect">
            <a:avLst/>
          </a:prstGeom>
          <a:noFill/>
          <a:ln/>
        </p:spPr>
        <p:txBody>
          <a:bodyPr wrap="square" lIns="0" tIns="0" rIns="0" bIns="0" rtlCol="0" anchor="t"/>
          <a:lstStyle/>
          <a:p>
            <a:pPr indent="0" marL="0">
              <a:lnSpc>
                <a:spcPct val="120000"/>
              </a:lnSpc>
              <a:buNone/>
            </a:pPr>
            <a:r>
              <a:rPr lang="en-US" sz="1350" b="1" dirty="0">
                <a:solidFill>
                  <a:srgbClr val="22252B"/>
                </a:solidFill>
                <a:latin typeface="Yu Gothic" pitchFamily="34" charset="0"/>
                <a:ea typeface="Yu Gothic" pitchFamily="34" charset="-122"/>
                <a:cs typeface="Yu Gothic" pitchFamily="34" charset="-120"/>
              </a:rPr>
              <a:t>重点カテゴリの絞り込み　</a:t>
            </a:r>
            <a:endParaRPr lang="en-US" sz="1350" dirty="0"/>
          </a:p>
          <a:p>
            <a:pPr indent="0" marL="0">
              <a:lnSpc>
                <a:spcPct val="120000"/>
              </a:lnSpc>
              <a:buNone/>
            </a:pPr>
            <a:r>
              <a:rPr lang="en-US" sz="1100" dirty="0">
                <a:solidFill>
                  <a:srgbClr val="5A5F6A"/>
                </a:solidFill>
                <a:latin typeface="Yu Gothic" pitchFamily="34" charset="0"/>
                <a:ea typeface="Yu Gothic" pitchFamily="34" charset="-122"/>
                <a:cs typeface="Yu Gothic" pitchFamily="34" charset="-120"/>
              </a:rPr>
              <a:t>検査・治療・予防を全部載せると訴求がぼやける。画期性の強さとエビデンス難易度で重点を決める（＝スタートラインの決定）</a:t>
            </a:r>
            <a:endParaRPr lang="en-US" sz="1350" dirty="0"/>
          </a:p>
        </p:txBody>
      </p:sp>
      <p:sp>
        <p:nvSpPr>
          <p:cNvPr id="17" name="Shape 15"/>
          <p:cNvSpPr/>
          <p:nvPr/>
        </p:nvSpPr>
        <p:spPr>
          <a:xfrm>
            <a:off x="640080" y="5486400"/>
            <a:ext cx="384048" cy="384048"/>
          </a:xfrm>
          <a:prstGeom prst="ellipse">
            <a:avLst/>
          </a:prstGeom>
          <a:solidFill>
            <a:srgbClr val="22456E"/>
          </a:solidFill>
          <a:ln/>
        </p:spPr>
      </p:sp>
      <p:sp>
        <p:nvSpPr>
          <p:cNvPr id="18" name="Text 16"/>
          <p:cNvSpPr txBox="1"/>
          <p:nvPr/>
        </p:nvSpPr>
        <p:spPr>
          <a:xfrm>
            <a:off x="640080" y="5477256"/>
            <a:ext cx="384048"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Yu Mincho" pitchFamily="34" charset="0"/>
                <a:ea typeface="Yu Mincho" pitchFamily="34" charset="-122"/>
                <a:cs typeface="Yu Mincho" pitchFamily="34" charset="-120"/>
              </a:rPr>
              <a:t>5</a:t>
            </a:r>
            <a:endParaRPr lang="en-US" sz="1600" dirty="0"/>
          </a:p>
        </p:txBody>
      </p:sp>
      <p:sp>
        <p:nvSpPr>
          <p:cNvPr id="19" name="Text 17"/>
          <p:cNvSpPr txBox="1"/>
          <p:nvPr/>
        </p:nvSpPr>
        <p:spPr>
          <a:xfrm>
            <a:off x="1234440" y="5394960"/>
            <a:ext cx="10332720" cy="868680"/>
          </a:xfrm>
          <a:prstGeom prst="rect">
            <a:avLst/>
          </a:prstGeom>
          <a:noFill/>
          <a:ln/>
        </p:spPr>
        <p:txBody>
          <a:bodyPr wrap="square" lIns="0" tIns="0" rIns="0" bIns="0" rtlCol="0" anchor="t"/>
          <a:lstStyle/>
          <a:p>
            <a:pPr indent="0" marL="0">
              <a:lnSpc>
                <a:spcPct val="120000"/>
              </a:lnSpc>
              <a:buNone/>
            </a:pPr>
            <a:r>
              <a:rPr lang="en-US" sz="1350" b="1" dirty="0">
                <a:solidFill>
                  <a:srgbClr val="22252B"/>
                </a:solidFill>
                <a:latin typeface="Yu Gothic" pitchFamily="34" charset="0"/>
                <a:ea typeface="Yu Gothic" pitchFamily="34" charset="-122"/>
                <a:cs typeface="Yu Gothic" pitchFamily="34" charset="-120"/>
              </a:rPr>
              <a:t>販売名とポジショニング　</a:t>
            </a:r>
            <a:endParaRPr lang="en-US" sz="1350" dirty="0"/>
          </a:p>
          <a:p>
            <a:pPr indent="0" marL="0">
              <a:lnSpc>
                <a:spcPct val="120000"/>
              </a:lnSpc>
              <a:buNone/>
            </a:pPr>
            <a:r>
              <a:rPr lang="en-US" sz="1100" dirty="0">
                <a:solidFill>
                  <a:srgbClr val="5A5F6A"/>
                </a:solidFill>
                <a:latin typeface="Yu Gothic" pitchFamily="34" charset="0"/>
                <a:ea typeface="Yu Gothic" pitchFamily="34" charset="-122"/>
                <a:cs typeface="Yu Gothic" pitchFamily="34" charset="-120"/>
              </a:rPr>
              <a:t>医療機器としての区別を示す名称・表記の最終確認とブランド戦略（審査での誤解回避）</a:t>
            </a:r>
            <a:endParaRPr lang="en-US" sz="1350" dirty="0"/>
          </a:p>
        </p:txBody>
      </p:sp>
      <p:sp>
        <p:nvSpPr>
          <p:cNvPr id="20" name="Text 18"/>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828800" cy="365760"/>
          </a:xfrm>
          <a:prstGeom prst="rect">
            <a:avLst/>
          </a:prstGeom>
          <a:noFill/>
          <a:ln/>
        </p:spPr>
        <p:txBody>
          <a:bodyPr wrap="square" lIns="0" tIns="0" rIns="0" bIns="0" rtlCol="0" anchor="ctr"/>
          <a:lstStyle/>
          <a:p>
            <a:pPr indent="0" marL="0">
              <a:buNone/>
            </a:pPr>
            <a:r>
              <a:rPr lang="en-US" sz="1300" b="1" spc="300" kern="0" dirty="0">
                <a:solidFill>
                  <a:srgbClr val="22456E"/>
                </a:solidFill>
                <a:latin typeface="Yu Gothic" pitchFamily="34" charset="0"/>
                <a:ea typeface="Yu Gothic" pitchFamily="34" charset="-122"/>
                <a:cs typeface="Yu Gothic" pitchFamily="34" charset="-120"/>
              </a:rPr>
              <a:t>第 4 部</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22252B"/>
                </a:solidFill>
                <a:latin typeface="Yu Mincho" pitchFamily="34" charset="0"/>
                <a:ea typeface="Yu Mincho" pitchFamily="34" charset="-122"/>
                <a:cs typeface="Yu Mincho" pitchFamily="34" charset="-120"/>
              </a:rPr>
              <a:t>アクションプランの進捗と担当割当</a:t>
            </a:r>
            <a:endParaRPr lang="en-US" sz="300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5A5F6A"/>
                </a:solidFill>
                <a:latin typeface="Yu Gothic" pitchFamily="34" charset="0"/>
                <a:ea typeface="Yu Gothic" pitchFamily="34" charset="-122"/>
                <a:cs typeface="Yu Gothic" pitchFamily="34" charset="-120"/>
              </a:rPr>
              <a:t>PaTaKaRUSH Pro 薬事戦略プロジェクト｜優先審査指定 第2回検討会議</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6400800"/>
                <a:gridCol w="1737360"/>
                <a:gridCol w="1188720"/>
                <a:gridCol w="1737360"/>
              </a:tblGrid>
              <a:tr h="384048">
                <a:tc>
                  <a:txBody>
                    <a:bodyPr/>
                    <a:lstStyle/>
                    <a:p>
                      <a:pPr indent="0" marL="0">
                        <a:buNone/>
                      </a:pPr>
                      <a:r>
                        <a:rPr lang="en-US" sz="1150" b="1" dirty="0">
                          <a:solidFill>
                            <a:srgbClr val="22252B"/>
                          </a:solidFill>
                          <a:latin typeface="Yu Gothic" pitchFamily="34" charset="0"/>
                          <a:ea typeface="Yu Gothic" pitchFamily="34" charset="-122"/>
                          <a:cs typeface="Yu Gothic" pitchFamily="34" charset="-120"/>
                        </a:rPr>
                        <a:t>アクション</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b="1" dirty="0">
                          <a:solidFill>
                            <a:srgbClr val="22252B"/>
                          </a:solidFill>
                          <a:latin typeface="Yu Gothic" pitchFamily="34" charset="0"/>
                          <a:ea typeface="Yu Gothic" pitchFamily="34" charset="-122"/>
                          <a:cs typeface="Yu Gothic" pitchFamily="34" charset="-120"/>
                        </a:rPr>
                        <a:t>担当</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b="1" dirty="0">
                          <a:solidFill>
                            <a:srgbClr val="22252B"/>
                          </a:solidFill>
                          <a:latin typeface="Yu Gothic" pitchFamily="34" charset="0"/>
                          <a:ea typeface="Yu Gothic" pitchFamily="34" charset="-122"/>
                          <a:cs typeface="Yu Gothic" pitchFamily="34" charset="-120"/>
                        </a:rPr>
                        <a:t>期限</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b="1" dirty="0">
                          <a:solidFill>
                            <a:srgbClr val="22252B"/>
                          </a:solidFill>
                          <a:latin typeface="Yu Gothic" pitchFamily="34" charset="0"/>
                          <a:ea typeface="Yu Gothic" pitchFamily="34" charset="-122"/>
                          <a:cs typeface="Yu Gothic" pitchFamily="34" charset="-120"/>
                        </a:rPr>
                        <a:t>状況</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777240">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「スタートライン」の明確化（重点カテゴリの決定。診断と予防・治療の両面から画期性を訴求できる出発点の整理）</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全員</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本会議</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本日決定</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640080">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要件1資料の準備（AI音声認識・ゲームコンテンツ・遠隔管理等の詳細技術情報）</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未定→本日割当</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未着手</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640080">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「口腔機能発達不全症における舌口唇運動検査」の要件・具体例の追加調査</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未定→本日割当</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未着手</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申請製品名の検討</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済（PaTaKaRUSH Pro）</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r h="640080">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様式1ドラフトの更新（会議決定の反映・A4 1枚への圧縮調整）</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辻野</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150" dirty="0">
                          <a:solidFill>
                            <a:srgbClr val="22252B"/>
                          </a:solidFill>
                          <a:latin typeface="Yu Gothic" pitchFamily="34" charset="0"/>
                          <a:ea typeface="Yu Gothic" pitchFamily="34" charset="-122"/>
                          <a:cs typeface="Yu Gothic" pitchFamily="34" charset="-120"/>
                        </a:rPr>
                        <a:t>記入版作成済み</a:t>
                      </a:r>
                      <a:endParaRPr lang="en-US" sz="1150" dirty="0">
                        <a:latin typeface="Yu Gothic" charset="0"/>
                        <a:ea typeface="Yu Gothic" charset="0"/>
                        <a:cs typeface="Yu Gothic" charset="0"/>
                      </a:endParaRPr>
                    </a:p>
                  </a:txBody>
                  <a:tcPr marL="82296" marR="82296" marT="45720" marB="45720"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100" dirty="0">
                <a:solidFill>
                  <a:srgbClr val="5A5F6A"/>
                </a:solidFill>
                <a:latin typeface="Yu Gothic" pitchFamily="34" charset="0"/>
                <a:ea typeface="Yu Gothic" pitchFamily="34" charset="-122"/>
                <a:cs typeface="Yu Gothic" pitchFamily="34" charset="-120"/>
              </a:rPr>
              <a:t>空欄（担当・期限）は会議中にこの表へ直接記入してください。</a:t>
            </a:r>
            <a:endParaRPr lang="en-US" sz="1100" dirty="0"/>
          </a:p>
        </p:txBody>
      </p:sp>
      <p:sp>
        <p:nvSpPr>
          <p:cNvPr id="7" name="Text 4"/>
          <p:cNvSpPr txBox="1"/>
          <p:nvPr/>
        </p:nvSpPr>
        <p:spPr>
          <a:xfrm>
            <a:off x="11430000" y="6473952"/>
            <a:ext cx="457200" cy="274320"/>
          </a:xfrm>
          <a:prstGeom prst="rect">
            <a:avLst/>
          </a:prstGeom>
          <a:noFill/>
          <a:ln/>
        </p:spPr>
        <p:txBody>
          <a:bodyPr wrap="square" lIns="0" tIns="0" rIns="0" bIns="0" rtlCol="0" anchor="ctr"/>
          <a:lstStyle/>
          <a:p>
            <a:pPr algn="r" indent="0" marL="0">
              <a:buNone/>
            </a:pPr>
            <a:r>
              <a:rPr lang="en-US" sz="1000" dirty="0">
                <a:solidFill>
                  <a:srgbClr val="5A5F6A"/>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304E"/>
        </a:solidFill>
      </p:bgPr>
    </p:bg>
    <p:spTree>
      <p:nvGrpSpPr>
        <p:cNvPr id="1" name=""/>
        <p:cNvGrpSpPr/>
        <p:nvPr/>
      </p:nvGrpSpPr>
      <p:grpSpPr>
        <a:xfrm>
          <a:off x="0" y="0"/>
          <a:ext cx="0" cy="0"/>
          <a:chOff x="0" y="0"/>
          <a:chExt cx="0" cy="0"/>
        </a:xfrm>
      </p:grpSpPr>
      <p:sp>
        <p:nvSpPr>
          <p:cNvPr id="2" name="Text 0"/>
          <p:cNvSpPr txBox="1"/>
          <p:nvPr/>
        </p:nvSpPr>
        <p:spPr>
          <a:xfrm>
            <a:off x="822960" y="1051560"/>
            <a:ext cx="10515600" cy="365760"/>
          </a:xfrm>
          <a:prstGeom prst="rect">
            <a:avLst/>
          </a:prstGeom>
          <a:noFill/>
          <a:ln/>
        </p:spPr>
        <p:txBody>
          <a:bodyPr wrap="square" lIns="0" tIns="0" rIns="0" bIns="0" rtlCol="0" anchor="ctr"/>
          <a:lstStyle/>
          <a:p>
            <a:pPr indent="0" marL="0">
              <a:buNone/>
            </a:pPr>
            <a:r>
              <a:rPr lang="en-US" sz="1400" b="1" spc="400" kern="0" dirty="0">
                <a:solidFill>
                  <a:srgbClr val="9DB8DA"/>
                </a:solidFill>
                <a:latin typeface="Yu Gothic" pitchFamily="34" charset="0"/>
                <a:ea typeface="Yu Gothic" pitchFamily="34" charset="-122"/>
                <a:cs typeface="Yu Gothic" pitchFamily="34" charset="-120"/>
              </a:rPr>
              <a:t>本日のゴール</a:t>
            </a:r>
            <a:endParaRPr lang="en-US" sz="1400" dirty="0"/>
          </a:p>
        </p:txBody>
      </p:sp>
      <p:sp>
        <p:nvSpPr>
          <p:cNvPr id="3" name="Text 1"/>
          <p:cNvSpPr txBox="1"/>
          <p:nvPr/>
        </p:nvSpPr>
        <p:spPr>
          <a:xfrm>
            <a:off x="822960" y="1554480"/>
            <a:ext cx="10515600" cy="1554480"/>
          </a:xfrm>
          <a:prstGeom prst="rect">
            <a:avLst/>
          </a:prstGeom>
          <a:noFill/>
          <a:ln/>
        </p:spPr>
        <p:txBody>
          <a:bodyPr wrap="square" lIns="0" tIns="0" rIns="0" bIns="0" rtlCol="0" anchor="ctr"/>
          <a:lstStyle/>
          <a:p>
            <a:pPr indent="0" marL="0">
              <a:lnSpc>
                <a:spcPct val="135000"/>
              </a:lnSpc>
              <a:buNone/>
            </a:pPr>
            <a:r>
              <a:rPr lang="en-US" sz="3000" b="1" dirty="0">
                <a:solidFill>
                  <a:srgbClr val="FFFFFF"/>
                </a:solidFill>
                <a:latin typeface="Yu Mincho" pitchFamily="34" charset="0"/>
                <a:ea typeface="Yu Mincho" pitchFamily="34" charset="-122"/>
                <a:cs typeface="Yu Mincho" pitchFamily="34" charset="-120"/>
              </a:rPr>
              <a:t>スタートラインを決めて、</a:t>
            </a:r>
            <a:endParaRPr lang="en-US" sz="3000" dirty="0"/>
          </a:p>
          <a:p>
            <a:pPr indent="0" marL="0">
              <a:lnSpc>
                <a:spcPct val="135000"/>
              </a:lnSpc>
              <a:buNone/>
            </a:pPr>
            <a:r>
              <a:rPr lang="en-US" sz="3000" b="1" dirty="0">
                <a:solidFill>
                  <a:srgbClr val="FFFFFF"/>
                </a:solidFill>
                <a:latin typeface="Yu Mincho" pitchFamily="34" charset="0"/>
                <a:ea typeface="Yu Mincho" pitchFamily="34" charset="-122"/>
                <a:cs typeface="Yu Mincho" pitchFamily="34" charset="-120"/>
              </a:rPr>
              <a:t>様式1を提出できる状態に近づける。</a:t>
            </a:r>
            <a:endParaRPr lang="en-US" sz="3000" dirty="0"/>
          </a:p>
        </p:txBody>
      </p:sp>
      <p:sp>
        <p:nvSpPr>
          <p:cNvPr id="4" name="Text 2"/>
          <p:cNvSpPr txBox="1"/>
          <p:nvPr/>
        </p:nvSpPr>
        <p:spPr>
          <a:xfrm>
            <a:off x="822960" y="3383280"/>
            <a:ext cx="10515600" cy="1463040"/>
          </a:xfrm>
          <a:prstGeom prst="rect">
            <a:avLst/>
          </a:prstGeom>
          <a:noFill/>
          <a:ln/>
        </p:spPr>
        <p:txBody>
          <a:bodyPr wrap="square" lIns="0" tIns="0" rIns="0" bIns="0" rtlCol="0" anchor="ctr"/>
          <a:lstStyle/>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重点カテゴリ（スタートライン）を決定し、様式1の使用目的・原理の表現を確定する</a:t>
            </a:r>
            <a:endParaRPr lang="en-US" sz="1500" dirty="0"/>
          </a:p>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要件1資料準備・舌口唇運動検査調査の担当と期限を割り当てる</a:t>
            </a:r>
            <a:endParaRPr lang="en-US" sz="1500" dirty="0"/>
          </a:p>
          <a:p>
            <a:pPr marL="152400" indent="-152400">
              <a:lnSpc>
                <a:spcPct val="130000"/>
              </a:lnSpc>
              <a:spcAft>
                <a:spcPts val="1000"/>
              </a:spcAft>
              <a:buSzPct val="100000"/>
              <a:buChar char="•"/>
            </a:pPr>
            <a:r>
              <a:rPr lang="en-US" sz="1500" dirty="0">
                <a:solidFill>
                  <a:srgbClr val="E8ECF4"/>
                </a:solidFill>
                <a:latin typeface="Yu Gothic" pitchFamily="34" charset="0"/>
                <a:ea typeface="Yu Gothic" pitchFamily="34" charset="-122"/>
                <a:cs typeface="Yu Gothic" pitchFamily="34" charset="-120"/>
              </a:rPr>
              <a:t>「予防」の表現（治療〔予防を含む〕）と二段階承認見送りの方針を最終確認する</a:t>
            </a:r>
            <a:endParaRPr lang="en-US" sz="1500" dirty="0"/>
          </a:p>
        </p:txBody>
      </p:sp>
      <p:sp>
        <p:nvSpPr>
          <p:cNvPr id="5" name="Shape 3"/>
          <p:cNvSpPr/>
          <p:nvPr/>
        </p:nvSpPr>
        <p:spPr>
          <a:xfrm>
            <a:off x="822960" y="5212080"/>
            <a:ext cx="10515600" cy="0"/>
          </a:xfrm>
          <a:prstGeom prst="line">
            <a:avLst/>
          </a:prstGeom>
          <a:noFill/>
          <a:ln w="12700">
            <a:solidFill>
              <a:srgbClr val="3D5173"/>
            </a:solidFill>
            <a:prstDash val="solid"/>
          </a:ln>
        </p:spPr>
      </p:sp>
      <p:sp>
        <p:nvSpPr>
          <p:cNvPr id="6" name="Text 4"/>
          <p:cNvSpPr txBox="1"/>
          <p:nvPr/>
        </p:nvSpPr>
        <p:spPr>
          <a:xfrm>
            <a:off x="822960" y="5440680"/>
            <a:ext cx="10515600" cy="1005840"/>
          </a:xfrm>
          <a:prstGeom prst="rect">
            <a:avLst/>
          </a:prstGeom>
          <a:noFill/>
          <a:ln/>
        </p:spPr>
        <p:txBody>
          <a:bodyPr wrap="square" lIns="0" tIns="0" rIns="0" bIns="0" rtlCol="0" anchor="t"/>
          <a:lstStyle/>
          <a:p>
            <a:pPr indent="0" marL="0">
              <a:lnSpc>
                <a:spcPct val="135000"/>
              </a:lnSpc>
              <a:buNone/>
            </a:pPr>
            <a:r>
              <a:rPr lang="en-US" sz="1100" b="1" dirty="0">
                <a:solidFill>
                  <a:srgbClr val="9DB8DA"/>
                </a:solidFill>
                <a:latin typeface="Yu Gothic" pitchFamily="34" charset="0"/>
                <a:ea typeface="Yu Gothic" pitchFamily="34" charset="-122"/>
                <a:cs typeface="Yu Gothic" pitchFamily="34" charset="-120"/>
              </a:rPr>
              <a:t>関連資料
</a:t>
            </a:r>
            <a:pPr indent="0" marL="0">
              <a:lnSpc>
                <a:spcPct val="135000"/>
              </a:lnSpc>
              <a:buNone/>
            </a:pPr>
            <a:r>
              <a:rPr lang="en-US" sz="1050" dirty="0">
                <a:solidFill>
                  <a:srgbClr val="AAB6C9"/>
                </a:solidFill>
                <a:latin typeface="Yu Gothic" pitchFamily="34" charset="0"/>
                <a:ea typeface="Yu Gothic" pitchFamily="34" charset="-122"/>
                <a:cs typeface="Yu Gothic" pitchFamily="34" charset="-120"/>
              </a:rPr>
              <a:t>議事録: docs/regulatory/12_会議記録_20260901.md ／ 様式1記入版: 様式1_指定希望品目登録申込書_記入版.docx ／ 画期性検討: 10_要件1画期性検討.md ／ 制度資料: 09_キックオフ資料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2026-09-12T08:23:16Z</dcterms:created>
  <dcterms:modified xsi:type="dcterms:W3CDTF">2026-09-12T08:23:16Z</dcterms:modified>
</cp:coreProperties>
</file>